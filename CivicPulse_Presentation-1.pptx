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68" r:id="rId10"/>
    <p:sldId id="262" r:id="rId11"/>
    <p:sldId id="263" r:id="rId12"/>
    <p:sldId id="264" r:id="rId13"/>
    <p:sldId id="265" r:id="rId14"/>
    <p:sldId id="266" r:id="rId15"/>
    <p:sldId id="271" r:id="rId22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B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906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2" Type="http://schemas.openxmlformats.org/officeDocument/2006/relationships/slide" Target="slides/slide16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2D7B4-791B-0BF0-C6C4-B6BD05322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3804C-0629-3F23-4CBB-6B28CADEB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1FAC3-BB62-6ABB-490D-624D94140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23031-4C23-2304-5403-3DCA1393F2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948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5AA9C-EA9B-7724-33B1-DEDC7A538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FB635-54C9-B44B-BC8E-596C5B81A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4788F-2152-E2B6-DA90-D2D93A769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A8AC4-3151-34C0-4CBF-CEEA7C4063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05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F9409-D110-1171-9FCD-ACD61A847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0CC346-E399-AD51-1794-26FD59535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7D214A-7508-0051-4742-8CD21AFE0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CBD92-F00F-C8D0-BAC2-7E0563452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949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5" Type="http://schemas.openxmlformats.org/officeDocument/2006/relationships/image" Target="../media/image16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7.png"/><Relationship Id="rId1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065A82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22960" y="914400"/>
            <a:ext cx="1005840" cy="10058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5" name="Image 0" descr="/home/claude/civicpulse/icons/build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74" y="114071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4884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CivicPulse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975359" y="3294126"/>
            <a:ext cx="753046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Governance Management Platform for Administrative Operations with Citizen Service Assistance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4066794"/>
            <a:ext cx="502920" cy="96012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10" name="Text 7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393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Project Presentation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6309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Computer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Civic complaint redressal in most cities is slow, opaque, and disconnected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6" name="Image 0" descr="/home/claude/civicpulse/icons/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1259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6596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 Central Platform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4800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Citizens rely on phone calls, in-person visits, or scattered portals for different departments.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</p:spPr>
      </p:sp>
      <p:sp>
        <p:nvSpPr>
          <p:cNvPr id="10" name="Shape 7"/>
          <p:cNvSpPr/>
          <p:nvPr/>
        </p:nvSpPr>
        <p:spPr>
          <a:xfrm>
            <a:off x="6446520" y="1965960"/>
            <a:ext cx="640080" cy="6400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1" name="Image 1" descr="/home/claude/civicpulse/icons/histor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21259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6596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 Status Visibility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46520" y="2743200"/>
            <a:ext cx="4800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Once filed, complaints vanish into a black box with no tracking or expected timeline.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2519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</p:spPr>
      </p:sp>
      <p:sp>
        <p:nvSpPr>
          <p:cNvPr id="15" name="Shape 11"/>
          <p:cNvSpPr/>
          <p:nvPr/>
        </p:nvSpPr>
        <p:spPr>
          <a:xfrm>
            <a:off x="822960" y="4526280"/>
            <a:ext cx="640080" cy="6400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6" name="Image 2" descr="/home/claude/civicpulse/icons/build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6863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52628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Manual Routing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2960" y="5303520"/>
            <a:ext cx="4800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 manually forward complaints to the correct department, causing delays and errors.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42519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</p:spPr>
      </p:sp>
      <p:sp>
        <p:nvSpPr>
          <p:cNvPr id="20" name="Shape 15"/>
          <p:cNvSpPr/>
          <p:nvPr/>
        </p:nvSpPr>
        <p:spPr>
          <a:xfrm>
            <a:off x="6446520" y="4526280"/>
            <a:ext cx="640080" cy="6400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21" name="Image 3" descr="/home/claude/civicpulse/icons/chartLin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540" y="46863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52628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 Accountability Data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446520" y="5303520"/>
            <a:ext cx="4800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Governments lack analytics to identify recurring issues or measure department performance.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CivicPulse sets out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A2B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0" y="1856232"/>
            <a:ext cx="685800" cy="6858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/home/claude/civicpulse/icons/mobi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130" y="2027682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974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Unified Citizen Access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20040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portal for citizens to file, track, and rate complaints.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A2B3C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52160" y="1856232"/>
            <a:ext cx="685800" cy="6858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1" name="Image 1" descr="/home/claude/civicpulse/icons/cog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610" y="2027682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974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Automated Routing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320040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 complaints to the right government body by category &amp; location.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A2B3C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92640" y="1856232"/>
            <a:ext cx="685800" cy="6858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6" name="Image 2" descr="/home/claude/civicpulse/icons/tachomet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4090" y="2027682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6974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SLA-Based Tracking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58200" y="320040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resolution timelines and flag overdue complaints automatically.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A2B3C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011680" y="4416552"/>
            <a:ext cx="685800" cy="6858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1" name="Image 3" descr="/home/claude/civicpulse/icons/userShiel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3130" y="4588002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52578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 Oversight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576072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department admins tools to review, act on, and close complaints.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89120" y="41605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A2B3C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852160" y="4416552"/>
            <a:ext cx="685800" cy="6858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6" name="Image 4" descr="/home/claude/civicpulse/icons/chartLin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3610" y="4588002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52578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Data-Driven Insight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17720" y="576072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Dashboards revealing hotspots, response times, and satisfaction.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229600" y="41605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A2B3C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692640" y="4416552"/>
            <a:ext cx="685800" cy="6858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1" name="Image 5" descr="/home/claude/civicpulse/icons/loc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4090" y="4588002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0" y="52578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Secure Access Control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58200" y="576072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login separating citizen and government access.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Existing vs. Proposed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EDEFF2"/>
          </a:solidFill>
        </p:spPr>
      </p:sp>
      <p:sp>
        <p:nvSpPr>
          <p:cNvPr id="4" name="Text 2"/>
          <p:cNvSpPr/>
          <p:nvPr/>
        </p:nvSpPr>
        <p:spPr>
          <a:xfrm>
            <a:off x="548640" y="1645920"/>
            <a:ext cx="5349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5C708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Existing System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14400" y="2404872"/>
            <a:ext cx="128016" cy="128016"/>
          </a:xfrm>
          <a:prstGeom prst="ellipse">
            <a:avLst/>
          </a:prstGeom>
          <a:solidFill>
            <a:srgbClr val="5C7080"/>
          </a:solidFill>
        </p:spPr>
      </p:sp>
      <p:sp>
        <p:nvSpPr>
          <p:cNvPr id="6" name="Text 4"/>
          <p:cNvSpPr/>
          <p:nvPr/>
        </p:nvSpPr>
        <p:spPr>
          <a:xfrm>
            <a:off x="1188720" y="225856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Complaints filed via phone calls, paper forms, or in-person visits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182112"/>
            <a:ext cx="128016" cy="128016"/>
          </a:xfrm>
          <a:prstGeom prst="ellipse">
            <a:avLst/>
          </a:prstGeom>
          <a:solidFill>
            <a:srgbClr val="5C7080"/>
          </a:solidFill>
        </p:spPr>
      </p:sp>
      <p:sp>
        <p:nvSpPr>
          <p:cNvPr id="8" name="Text 6"/>
          <p:cNvSpPr/>
          <p:nvPr/>
        </p:nvSpPr>
        <p:spPr>
          <a:xfrm>
            <a:off x="1188720" y="303580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forwarding between departments — slow &amp; error-prone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959352"/>
            <a:ext cx="128016" cy="128016"/>
          </a:xfrm>
          <a:prstGeom prst="ellipse">
            <a:avLst/>
          </a:prstGeom>
          <a:solidFill>
            <a:srgbClr val="5C7080"/>
          </a:solidFill>
        </p:spPr>
      </p:sp>
      <p:sp>
        <p:nvSpPr>
          <p:cNvPr id="10" name="Text 8"/>
          <p:cNvSpPr/>
          <p:nvPr/>
        </p:nvSpPr>
        <p:spPr>
          <a:xfrm>
            <a:off x="1188720" y="381304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tracking ID or status updates for citizens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736592"/>
            <a:ext cx="128016" cy="128016"/>
          </a:xfrm>
          <a:prstGeom prst="ellipse">
            <a:avLst/>
          </a:prstGeom>
          <a:solidFill>
            <a:srgbClr val="5C7080"/>
          </a:solidFill>
        </p:spPr>
      </p:sp>
      <p:sp>
        <p:nvSpPr>
          <p:cNvPr id="12" name="Text 10"/>
          <p:cNvSpPr/>
          <p:nvPr/>
        </p:nvSpPr>
        <p:spPr>
          <a:xfrm>
            <a:off x="1188720" y="459028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unified record across departments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5513832"/>
            <a:ext cx="128016" cy="128016"/>
          </a:xfrm>
          <a:prstGeom prst="ellipse">
            <a:avLst/>
          </a:prstGeom>
          <a:solidFill>
            <a:srgbClr val="5C7080"/>
          </a:solidFill>
        </p:spPr>
      </p:sp>
      <p:sp>
        <p:nvSpPr>
          <p:cNvPr id="14" name="Text 12"/>
          <p:cNvSpPr/>
          <p:nvPr/>
        </p:nvSpPr>
        <p:spPr>
          <a:xfrm>
            <a:off x="1188720" y="536752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performance data on resolution speed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37160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065A82"/>
          </a:solidFill>
        </p:spPr>
      </p:sp>
      <p:sp>
        <p:nvSpPr>
          <p:cNvPr id="16" name="Text 14"/>
          <p:cNvSpPr/>
          <p:nvPr/>
        </p:nvSpPr>
        <p:spPr>
          <a:xfrm>
            <a:off x="6172200" y="1645920"/>
            <a:ext cx="5349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CivicPulse (Proposed)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537960" y="2404872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18" name="Text 16"/>
          <p:cNvSpPr/>
          <p:nvPr/>
        </p:nvSpPr>
        <p:spPr>
          <a:xfrm>
            <a:off x="6812280" y="225856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portal — file a complaint in minutes, anytime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7960" y="3182112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0" name="Text 18"/>
          <p:cNvSpPr/>
          <p:nvPr/>
        </p:nvSpPr>
        <p:spPr>
          <a:xfrm>
            <a:off x="6812280" y="303580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category &amp; location-based routing to the right body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3959352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2" name="Text 20"/>
          <p:cNvSpPr/>
          <p:nvPr/>
        </p:nvSpPr>
        <p:spPr>
          <a:xfrm>
            <a:off x="6812280" y="381304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status tracking with a unique complaint ID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37960" y="4736592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4" name="Text 22"/>
          <p:cNvSpPr/>
          <p:nvPr/>
        </p:nvSpPr>
        <p:spPr>
          <a:xfrm>
            <a:off x="6812280" y="459028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Centralized database across all government departments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37960" y="5513832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6" name="Text 24"/>
          <p:cNvSpPr/>
          <p:nvPr/>
        </p:nvSpPr>
        <p:spPr>
          <a:xfrm>
            <a:off x="6812280" y="536752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dashboard for accountability &amp; SLA compliance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Layered architecture connecting citizens, platform services, and government bodies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</p:spPr>
      </p:sp>
      <p:sp>
        <p:nvSpPr>
          <p:cNvPr id="5" name="Text 3"/>
          <p:cNvSpPr/>
          <p:nvPr/>
        </p:nvSpPr>
        <p:spPr>
          <a:xfrm>
            <a:off x="822960" y="150876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LAYER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046220" y="169164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7" name="Image 0" descr="/home/claude/civicpulse/icons/mobile_1C7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377" y="180479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94860" y="1508760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Citizen Web 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343900" y="169164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0" name="Image 1" descr="/home/claude/civicpulse/icons/userShield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057" y="180479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892540" y="1508760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Portal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256032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</p:spPr>
      </p:sp>
      <p:sp>
        <p:nvSpPr>
          <p:cNvPr id="13" name="Text 9"/>
          <p:cNvSpPr/>
          <p:nvPr/>
        </p:nvSpPr>
        <p:spPr>
          <a:xfrm>
            <a:off x="822960" y="256032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LAYER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329940" y="269748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5" name="Image 2" descr="/home/claude/civicpulse/icons/lock_065A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3097" y="281063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78580" y="2560320"/>
            <a:ext cx="2453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&amp; Role Management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195060" y="269748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8" name="Image 3" descr="/home/claude/civicpulse/icons/clipboard_065A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8217" y="2810637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43700" y="2560320"/>
            <a:ext cx="2453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Complaint Service API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9060180" y="269748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1" name="Image 4" descr="/home/claude/civicpulse/icons/bell_065A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3337" y="2810637"/>
            <a:ext cx="276606" cy="27660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08820" y="2560320"/>
            <a:ext cx="2453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 Service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 rot="10800000">
            <a:off x="5989320" y="2441448"/>
            <a:ext cx="182880" cy="118872"/>
          </a:xfrm>
          <a:prstGeom prst="triangle">
            <a:avLst/>
          </a:prstGeom>
          <a:solidFill>
            <a:srgbClr val="5C7080"/>
          </a:solidFill>
        </p:spPr>
      </p:sp>
      <p:sp>
        <p:nvSpPr>
          <p:cNvPr id="24" name="Shape 17"/>
          <p:cNvSpPr/>
          <p:nvPr/>
        </p:nvSpPr>
        <p:spPr>
          <a:xfrm>
            <a:off x="640080" y="35204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21295C"/>
          </a:solidFill>
        </p:spPr>
      </p:sp>
      <p:sp>
        <p:nvSpPr>
          <p:cNvPr id="25" name="Text 18"/>
          <p:cNvSpPr/>
          <p:nvPr/>
        </p:nvSpPr>
        <p:spPr>
          <a:xfrm>
            <a:off x="822960" y="352044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ROUTING ENGINE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046220" y="365760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7" name="Image 5" descr="/home/claude/civicpulse/icons/cogs_2129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9377" y="3770757"/>
            <a:ext cx="276606" cy="27660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594860" y="3520440"/>
            <a:ext cx="3886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&amp; Location-Based Auto-Routing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8343900" y="365760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0" name="Image 6" descr="/home/claude/civicpulse/icons/tachometer_2129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7057" y="3770757"/>
            <a:ext cx="276606" cy="27660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892540" y="3520440"/>
            <a:ext cx="3886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 Monitor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 rot="10800000">
            <a:off x="5989320" y="3401568"/>
            <a:ext cx="182880" cy="118872"/>
          </a:xfrm>
          <a:prstGeom prst="triangle">
            <a:avLst/>
          </a:prstGeom>
          <a:solidFill>
            <a:srgbClr val="5C7080"/>
          </a:solidFill>
        </p:spPr>
      </p:sp>
      <p:sp>
        <p:nvSpPr>
          <p:cNvPr id="33" name="Shape 24"/>
          <p:cNvSpPr/>
          <p:nvPr/>
        </p:nvSpPr>
        <p:spPr>
          <a:xfrm>
            <a:off x="640080" y="448056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</p:spPr>
      </p:sp>
      <p:sp>
        <p:nvSpPr>
          <p:cNvPr id="34" name="Text 25"/>
          <p:cNvSpPr/>
          <p:nvPr/>
        </p:nvSpPr>
        <p:spPr>
          <a:xfrm>
            <a:off x="822960" y="448056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MODULES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2756916" y="466344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6" name="Image 7" descr="/home/claude/civicpulse/icons/tint_065A8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0073" y="4776597"/>
            <a:ext cx="276606" cy="27660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3305556" y="4480560"/>
            <a:ext cx="13075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</a:t>
            </a:r>
            <a:endParaRPr 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4475988" y="466344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9" name="Image 8" descr="/home/claude/civicpulse/icons/bolt_065A8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89145" y="4776597"/>
            <a:ext cx="276606" cy="276606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024628" y="4480560"/>
            <a:ext cx="13075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Electricity</a:t>
            </a:r>
            <a:endParaRPr lang="en-US" sz="1050" dirty="0"/>
          </a:p>
        </p:txBody>
      </p:sp>
      <p:sp>
        <p:nvSpPr>
          <p:cNvPr id="41" name="Shape 30"/>
          <p:cNvSpPr/>
          <p:nvPr/>
        </p:nvSpPr>
        <p:spPr>
          <a:xfrm>
            <a:off x="6195060" y="466344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42" name="Image 9" descr="/home/claude/civicpulse/icons/road_065A8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8217" y="4776597"/>
            <a:ext cx="276606" cy="27660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743700" y="4480560"/>
            <a:ext cx="13075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Roads</a:t>
            </a:r>
            <a:endParaRPr lang="en-US" sz="1050" dirty="0"/>
          </a:p>
        </p:txBody>
      </p:sp>
      <p:sp>
        <p:nvSpPr>
          <p:cNvPr id="44" name="Shape 32"/>
          <p:cNvSpPr/>
          <p:nvPr/>
        </p:nvSpPr>
        <p:spPr>
          <a:xfrm>
            <a:off x="7914132" y="466344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45" name="Image 10" descr="/home/claude/civicpulse/icons/trash_065A8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27289" y="4776597"/>
            <a:ext cx="276606" cy="276606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8462772" y="4480560"/>
            <a:ext cx="13075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Sanitation</a:t>
            </a:r>
            <a:endParaRPr lang="en-US" sz="1050" dirty="0"/>
          </a:p>
        </p:txBody>
      </p:sp>
      <p:sp>
        <p:nvSpPr>
          <p:cNvPr id="47" name="Shape 34"/>
          <p:cNvSpPr/>
          <p:nvPr/>
        </p:nvSpPr>
        <p:spPr>
          <a:xfrm>
            <a:off x="9633204" y="466344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48" name="Image 11" descr="/home/claude/civicpulse/icons/building_065A8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46361" y="4776597"/>
            <a:ext cx="276606" cy="276606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10181844" y="4480560"/>
            <a:ext cx="13075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Others</a:t>
            </a:r>
            <a:endParaRPr lang="en-US" sz="1050" dirty="0"/>
          </a:p>
        </p:txBody>
      </p:sp>
      <p:sp>
        <p:nvSpPr>
          <p:cNvPr id="50" name="Shape 36"/>
          <p:cNvSpPr/>
          <p:nvPr/>
        </p:nvSpPr>
        <p:spPr>
          <a:xfrm rot="10800000">
            <a:off x="5989320" y="4361688"/>
            <a:ext cx="182880" cy="118872"/>
          </a:xfrm>
          <a:prstGeom prst="triangle">
            <a:avLst/>
          </a:prstGeom>
          <a:solidFill>
            <a:srgbClr val="5C7080"/>
          </a:solidFill>
        </p:spPr>
      </p:sp>
      <p:sp>
        <p:nvSpPr>
          <p:cNvPr id="51" name="Shape 37"/>
          <p:cNvSpPr/>
          <p:nvPr/>
        </p:nvSpPr>
        <p:spPr>
          <a:xfrm>
            <a:off x="640080" y="553212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</p:spPr>
      </p:sp>
      <p:sp>
        <p:nvSpPr>
          <p:cNvPr id="52" name="Text 38"/>
          <p:cNvSpPr/>
          <p:nvPr/>
        </p:nvSpPr>
        <p:spPr>
          <a:xfrm>
            <a:off x="822960" y="5532120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LAYER</a:t>
            </a:r>
            <a:endParaRPr lang="en-US" sz="1050" dirty="0"/>
          </a:p>
        </p:txBody>
      </p:sp>
      <p:sp>
        <p:nvSpPr>
          <p:cNvPr id="53" name="Shape 39"/>
          <p:cNvSpPr/>
          <p:nvPr/>
        </p:nvSpPr>
        <p:spPr>
          <a:xfrm>
            <a:off x="4069080" y="5646420"/>
            <a:ext cx="457200" cy="4572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54" name="Image 12" descr="/home/claude/civicpulse/icons/database_1C729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71950" y="5749290"/>
            <a:ext cx="251460" cy="251460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4572000" y="5532120"/>
            <a:ext cx="39319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Centralized Database</a:t>
            </a:r>
            <a:endParaRPr lang="en-US" sz="1050" dirty="0"/>
          </a:p>
        </p:txBody>
      </p:sp>
      <p:sp>
        <p:nvSpPr>
          <p:cNvPr id="56" name="Shape 41"/>
          <p:cNvSpPr/>
          <p:nvPr/>
        </p:nvSpPr>
        <p:spPr>
          <a:xfrm>
            <a:off x="8366760" y="5646420"/>
            <a:ext cx="457200" cy="4572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57" name="Image 13" descr="/home/claude/civicpulse/icons/cloud_1C729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69630" y="5749290"/>
            <a:ext cx="251460" cy="251460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8869680" y="5532120"/>
            <a:ext cx="39319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Storage</a:t>
            </a:r>
            <a:endParaRPr lang="en-US" sz="1050" dirty="0"/>
          </a:p>
        </p:txBody>
      </p:sp>
      <p:sp>
        <p:nvSpPr>
          <p:cNvPr id="59" name="Shape 43"/>
          <p:cNvSpPr/>
          <p:nvPr/>
        </p:nvSpPr>
        <p:spPr>
          <a:xfrm rot="10800000">
            <a:off x="5989320" y="5413248"/>
            <a:ext cx="182880" cy="118872"/>
          </a:xfrm>
          <a:prstGeom prst="triangle">
            <a:avLst/>
          </a:prstGeom>
          <a:solidFill>
            <a:srgbClr val="5C7080"/>
          </a:solid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Unique Features</a:t>
            </a:r>
            <a:r>
              <a:rPr lang="en-IN" sz="3600" dirty="0"/>
              <a:t> 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>
                    <a:lumMod val="50000"/>
                  </a:schemeClr>
                </a:solidFill>
              </a:rPr>
              <a:t>emphasizes what makes your project different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4F7F9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6" name="Image 0" descr="/home/claude/civicpulse/icons/us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9431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Module</a:t>
            </a:r>
            <a:endParaRPr lang="en-US" sz="2000" dirty="0"/>
          </a:p>
        </p:txBody>
      </p:sp>
      <p:pic>
        <p:nvPicPr>
          <p:cNvPr id="8" name="Image 1" descr="/home/claude/civicpulse/icons/checkCircle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5176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56946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/ login with secure credentials</a:t>
            </a:r>
            <a:endParaRPr lang="en-US" sz="1300" dirty="0"/>
          </a:p>
        </p:txBody>
      </p:sp>
      <p:pic>
        <p:nvPicPr>
          <p:cNvPr id="10" name="Image 2" descr="/home/claude/civicpulse/icons/checkCircle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7355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191256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complaints with category, location &amp; photo evidence</a:t>
            </a:r>
            <a:endParaRPr lang="en-US" sz="1300" dirty="0"/>
          </a:p>
        </p:txBody>
      </p:sp>
      <p:pic>
        <p:nvPicPr>
          <p:cNvPr id="12" name="Image 3" descr="/home/claude/civicpulse/icons/checkCircle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9534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813048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real-time status with a unique complaint ID</a:t>
            </a:r>
            <a:endParaRPr lang="en-US" sz="1300" dirty="0"/>
          </a:p>
        </p:txBody>
      </p:sp>
      <p:pic>
        <p:nvPicPr>
          <p:cNvPr id="14" name="Image 4" descr="/home/claude/civicpulse/icons/checkCircle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17136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44348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 SMS / email notifications on updates</a:t>
            </a:r>
            <a:endParaRPr lang="en-US" sz="1300" dirty="0"/>
          </a:p>
        </p:txBody>
      </p:sp>
      <p:pic>
        <p:nvPicPr>
          <p:cNvPr id="16" name="Image 5" descr="/home/claude/civicpulse/icons/checkCircle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38928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34440" y="505663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 resolution &amp; give feedback</a:t>
            </a:r>
            <a:endParaRPr lang="en-US" sz="1300" dirty="0"/>
          </a:p>
        </p:txBody>
      </p:sp>
      <p:pic>
        <p:nvPicPr>
          <p:cNvPr id="18" name="Image 6" descr="/home/claude/civicpulse/icons/checkCircle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760720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234440" y="567842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complaint history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548640" y="1600200"/>
            <a:ext cx="11094720" cy="4626864"/>
          </a:xfrm>
          <a:prstGeom prst="roundRect">
            <a:avLst>
              <a:gd name="adj" fmla="val 1538"/>
            </a:avLst>
          </a:prstGeom>
          <a:solidFill>
            <a:srgbClr val="21295C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21" name="Shape 12"/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rgbClr val="F2A65A"/>
          </a:solidFill>
        </p:spPr>
      </p:sp>
      <p:pic>
        <p:nvPicPr>
          <p:cNvPr id="22" name="Image 7" descr="/home/claude/civicpulse/icons/userShield_2129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260" y="1943100"/>
            <a:ext cx="320040" cy="32004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26948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 Module</a:t>
            </a:r>
            <a:endParaRPr lang="en-US" sz="2000" dirty="0"/>
          </a:p>
        </p:txBody>
      </p:sp>
      <p:pic>
        <p:nvPicPr>
          <p:cNvPr id="24" name="Image 8" descr="/home/claude/civicpulse/icons/checkCircle_F2A6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651760"/>
            <a:ext cx="256032" cy="25603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858000" y="256946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Department-wise login (Water, Roads, Electricity, etc.)</a:t>
            </a:r>
            <a:endParaRPr lang="en-US" sz="1300" dirty="0"/>
          </a:p>
        </p:txBody>
      </p:sp>
      <p:pic>
        <p:nvPicPr>
          <p:cNvPr id="26" name="Image 9" descr="/home/claude/civicpulse/icons/checkCircle_F2A6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73552"/>
            <a:ext cx="256032" cy="256032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858000" y="3191256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&amp; filter complaints assigned to their department</a:t>
            </a:r>
            <a:endParaRPr lang="en-US" sz="1300" dirty="0"/>
          </a:p>
        </p:txBody>
      </p:sp>
      <p:pic>
        <p:nvPicPr>
          <p:cNvPr id="28" name="Image 10" descr="/home/claude/civicpulse/icons/checkCircle_F2A6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895344"/>
            <a:ext cx="256032" cy="256032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858000" y="3813048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status: Assigned → In Progress → Resolved</a:t>
            </a:r>
            <a:endParaRPr lang="en-US" sz="1300" dirty="0"/>
          </a:p>
        </p:txBody>
      </p:sp>
      <p:pic>
        <p:nvPicPr>
          <p:cNvPr id="30" name="Image 11" descr="/home/claude/civicpulse/icons/checkCircle_F2A6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517136"/>
            <a:ext cx="256032" cy="256032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858000" y="44348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Escalate overdue complaints breaching SLA</a:t>
            </a:r>
            <a:endParaRPr lang="en-US" sz="1300" dirty="0"/>
          </a:p>
        </p:txBody>
      </p:sp>
      <p:pic>
        <p:nvPicPr>
          <p:cNvPr id="32" name="Image 12" descr="/home/claude/civicpulse/icons/checkCircle_F2A6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138928"/>
            <a:ext cx="256032" cy="256032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858000" y="505663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analytics on department performance</a:t>
            </a:r>
            <a:endParaRPr lang="en-US" sz="1300" dirty="0"/>
          </a:p>
        </p:txBody>
      </p:sp>
      <p:pic>
        <p:nvPicPr>
          <p:cNvPr id="34" name="Image 13" descr="/home/claude/civicpulse/icons/checkCircle_F2A6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760720"/>
            <a:ext cx="256032" cy="256032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6858000" y="567842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Super-admin view across all departments</a:t>
            </a:r>
            <a:endParaRPr lang="en-US" sz="1300" dirty="0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D140A46A-B513-C164-0760-7BB280E33A96}"/>
              </a:ext>
            </a:extLst>
          </p:cNvPr>
          <p:cNvSpPr/>
          <p:nvPr/>
        </p:nvSpPr>
        <p:spPr>
          <a:xfrm>
            <a:off x="548640" y="1530608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4F7F9"/>
          </a:solidFill>
        </p:spPr>
        <p:txBody>
          <a:bodyPr/>
          <a:lstStyle/>
          <a:p>
            <a:r>
              <a:rPr lang="en-US"/>
              <a:t>*1. Auto-Forward if No Action If an officer doesn't respond within 2 days, the complaint automatically escalates to their senior. Keeps complaints from getting silently ignored.*</a:t>
            </a:r>
          </a:p>
          <a:p>
            <a:r>
              <a:rPr lang="en-US"/>
              <a:t>2. Reopen a "Fixed" Complaint Citizens can reopen a resolved complaint within 5 days if the issue reoccurs, instead of filing a new one. Prevents repeat problems from being treated as fresh, unrelated tickets.</a:t>
            </a:r>
          </a:p>
          <a:p>
            <a:endParaRPr lang="en-US"/>
          </a:p>
          <a:p>
            <a:r>
              <a:rPr lang="en-US"/>
              <a:t>3. Group Officer Actions*Officers can select multiple similar complaints in the same area and mark them all resolved in one action. Saves time on repetitive, one-by-one updates.</a:t>
            </a:r>
            <a:endParaRPr lang="en-IN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F926D580-097E-6B8D-8865-59360B496FC7}"/>
              </a:ext>
            </a:extLst>
          </p:cNvPr>
          <p:cNvSpPr/>
          <p:nvPr/>
        </p:nvSpPr>
        <p:spPr>
          <a:xfrm>
            <a:off x="548640" y="1600200"/>
            <a:ext cx="10982510" cy="4626864"/>
          </a:xfrm>
          <a:prstGeom prst="roundRect">
            <a:avLst>
              <a:gd name="adj" fmla="val 1538"/>
            </a:avLst>
          </a:prstGeom>
          <a:solidFill>
            <a:srgbClr val="21295C"/>
          </a:solidFill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361D5E-2C6F-00E8-E42A-E2106E08123D}"/>
              </a:ext>
            </a:extLst>
          </p:cNvPr>
          <p:cNvSpPr txBox="1"/>
          <p:nvPr/>
        </p:nvSpPr>
        <p:spPr>
          <a:xfrm>
            <a:off x="1124712" y="2098289"/>
            <a:ext cx="100385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1. Auto-Forward if No Action : If an officer doesn't respond within 2 days, the complaint automatically escalates to their senior. Keeps complaints from getting silently ignored.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2. Reopen a "Fixed" Complaint : Citizens can reopen a resolved complaint within 5 days if the issue reoccurs, instead of filing a new one. Prevents repeat problems from being treated as fresh, unrelated tickets.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3. Group Officer Actions : Officers can select multiple similar complaints in the same area and mark them all resolved in one action. Saves time on repetitive, one-by-one updates.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3A4C4-130A-D614-890F-D5C0DA5C9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9267FB-9353-8B7C-E605-88B55FB11647}"/>
              </a:ext>
            </a:extLst>
          </p:cNvPr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Unique Features</a:t>
            </a:r>
            <a:r>
              <a:rPr lang="en-IN" sz="3600" dirty="0"/>
              <a:t> 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C3EE89-4F7C-582D-6778-B3B9AE512166}"/>
              </a:ext>
            </a:extLst>
          </p:cNvPr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>
                    <a:lumMod val="50000"/>
                  </a:schemeClr>
                </a:solidFill>
              </a:rPr>
              <a:t>emphasizes what makes your project different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C1A8580-9D19-39B4-D15F-13F408A37B4F}"/>
              </a:ext>
            </a:extLst>
          </p:cNvPr>
          <p:cNvSpPr/>
          <p:nvPr/>
        </p:nvSpPr>
        <p:spPr>
          <a:xfrm>
            <a:off x="548640" y="150876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4F7F9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2D4FB70-5918-7EA6-0D13-04D69B1F96BD}"/>
              </a:ext>
            </a:extLst>
          </p:cNvPr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6" name="Image 0" descr="/home/claude/civicpulse/icons/user_FFFFFF.png">
            <a:extLst>
              <a:ext uri="{FF2B5EF4-FFF2-40B4-BE49-F238E27FC236}">
                <a16:creationId xmlns:a16="http://schemas.microsoft.com/office/drawing/2014/main" id="{D22A7809-9599-1F74-04CD-B32CE5D49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943100"/>
            <a:ext cx="320040" cy="32004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C3B2A650-0A03-BC47-72C6-6BD4B6A1C291}"/>
              </a:ext>
            </a:extLst>
          </p:cNvPr>
          <p:cNvSpPr/>
          <p:nvPr/>
        </p:nvSpPr>
        <p:spPr>
          <a:xfrm>
            <a:off x="164592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Module</a:t>
            </a:r>
            <a:endParaRPr lang="en-US" sz="2000" dirty="0"/>
          </a:p>
        </p:txBody>
      </p:sp>
      <p:pic>
        <p:nvPicPr>
          <p:cNvPr id="8" name="Image 1" descr="/home/claude/civicpulse/icons/checkCircle_1C7293.png">
            <a:extLst>
              <a:ext uri="{FF2B5EF4-FFF2-40B4-BE49-F238E27FC236}">
                <a16:creationId xmlns:a16="http://schemas.microsoft.com/office/drawing/2014/main" id="{D70D1859-1FC5-7F2C-6035-6DBD33BD2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51760"/>
            <a:ext cx="256032" cy="256032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05816BC2-1BAA-4F77-97D4-96FD393E8821}"/>
              </a:ext>
            </a:extLst>
          </p:cNvPr>
          <p:cNvSpPr/>
          <p:nvPr/>
        </p:nvSpPr>
        <p:spPr>
          <a:xfrm>
            <a:off x="1234440" y="256946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/ login with secure credentials</a:t>
            </a:r>
            <a:endParaRPr lang="en-US" sz="1300" dirty="0"/>
          </a:p>
        </p:txBody>
      </p:sp>
      <p:pic>
        <p:nvPicPr>
          <p:cNvPr id="10" name="Image 2" descr="/home/claude/civicpulse/icons/checkCircle_1C7293.png">
            <a:extLst>
              <a:ext uri="{FF2B5EF4-FFF2-40B4-BE49-F238E27FC236}">
                <a16:creationId xmlns:a16="http://schemas.microsoft.com/office/drawing/2014/main" id="{EB442A5E-25DB-0017-4E27-2D2D9273A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73552"/>
            <a:ext cx="256032" cy="256032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FE3BC6AB-FF25-C520-49FC-DFE90C840417}"/>
              </a:ext>
            </a:extLst>
          </p:cNvPr>
          <p:cNvSpPr/>
          <p:nvPr/>
        </p:nvSpPr>
        <p:spPr>
          <a:xfrm>
            <a:off x="1234440" y="3191256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complaints with category, location &amp; photo evidence</a:t>
            </a:r>
            <a:endParaRPr lang="en-US" sz="1300" dirty="0"/>
          </a:p>
        </p:txBody>
      </p:sp>
      <p:pic>
        <p:nvPicPr>
          <p:cNvPr id="12" name="Image 3" descr="/home/claude/civicpulse/icons/checkCircle_1C7293.png">
            <a:extLst>
              <a:ext uri="{FF2B5EF4-FFF2-40B4-BE49-F238E27FC236}">
                <a16:creationId xmlns:a16="http://schemas.microsoft.com/office/drawing/2014/main" id="{A212868C-D06E-30CE-6056-60AE94ADC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95344"/>
            <a:ext cx="256032" cy="256032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9BB5C9A4-A2AF-8039-DB46-703ADF573EE1}"/>
              </a:ext>
            </a:extLst>
          </p:cNvPr>
          <p:cNvSpPr/>
          <p:nvPr/>
        </p:nvSpPr>
        <p:spPr>
          <a:xfrm>
            <a:off x="1234440" y="3813048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real-time status with a unique complaint ID</a:t>
            </a:r>
            <a:endParaRPr lang="en-US" sz="1300" dirty="0"/>
          </a:p>
        </p:txBody>
      </p:sp>
      <p:pic>
        <p:nvPicPr>
          <p:cNvPr id="14" name="Image 4" descr="/home/claude/civicpulse/icons/checkCircle_1C7293.png">
            <a:extLst>
              <a:ext uri="{FF2B5EF4-FFF2-40B4-BE49-F238E27FC236}">
                <a16:creationId xmlns:a16="http://schemas.microsoft.com/office/drawing/2014/main" id="{09094E61-F826-6758-D123-3CA1D592D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17136"/>
            <a:ext cx="256032" cy="256032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5D264626-4648-A38B-9BA0-6F002A6F08AA}"/>
              </a:ext>
            </a:extLst>
          </p:cNvPr>
          <p:cNvSpPr/>
          <p:nvPr/>
        </p:nvSpPr>
        <p:spPr>
          <a:xfrm>
            <a:off x="1234440" y="44348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 SMS / email notifications on updates</a:t>
            </a:r>
            <a:endParaRPr lang="en-US" sz="1300" dirty="0"/>
          </a:p>
        </p:txBody>
      </p:sp>
      <p:pic>
        <p:nvPicPr>
          <p:cNvPr id="16" name="Image 5" descr="/home/claude/civicpulse/icons/checkCircle_1C7293.png">
            <a:extLst>
              <a:ext uri="{FF2B5EF4-FFF2-40B4-BE49-F238E27FC236}">
                <a16:creationId xmlns:a16="http://schemas.microsoft.com/office/drawing/2014/main" id="{1431CBD3-0721-E255-07E0-EC5433765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38928"/>
            <a:ext cx="256032" cy="256032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D074B379-7722-2771-B565-B3DE1BAB8DB2}"/>
              </a:ext>
            </a:extLst>
          </p:cNvPr>
          <p:cNvSpPr/>
          <p:nvPr/>
        </p:nvSpPr>
        <p:spPr>
          <a:xfrm>
            <a:off x="1234440" y="505663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 resolution &amp; give feedback</a:t>
            </a:r>
            <a:endParaRPr lang="en-US" sz="1300" dirty="0"/>
          </a:p>
        </p:txBody>
      </p:sp>
      <p:pic>
        <p:nvPicPr>
          <p:cNvPr id="18" name="Image 6" descr="/home/claude/civicpulse/icons/checkCircle_1C7293.png">
            <a:extLst>
              <a:ext uri="{FF2B5EF4-FFF2-40B4-BE49-F238E27FC236}">
                <a16:creationId xmlns:a16="http://schemas.microsoft.com/office/drawing/2014/main" id="{60069256-2000-503B-0A99-E4EB51A69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760720"/>
            <a:ext cx="256032" cy="256032"/>
          </a:xfrm>
          <a:prstGeom prst="rect">
            <a:avLst/>
          </a:prstGeom>
        </p:spPr>
      </p:pic>
      <p:sp>
        <p:nvSpPr>
          <p:cNvPr id="19" name="Text 10">
            <a:extLst>
              <a:ext uri="{FF2B5EF4-FFF2-40B4-BE49-F238E27FC236}">
                <a16:creationId xmlns:a16="http://schemas.microsoft.com/office/drawing/2014/main" id="{27FA1A4C-22E9-61D9-A00E-6971A14BDC02}"/>
              </a:ext>
            </a:extLst>
          </p:cNvPr>
          <p:cNvSpPr/>
          <p:nvPr/>
        </p:nvSpPr>
        <p:spPr>
          <a:xfrm>
            <a:off x="1234440" y="567842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complaint history</a:t>
            </a:r>
            <a:endParaRPr lang="en-US" sz="13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9168BA50-88F5-8093-E844-D9F97D70374E}"/>
              </a:ext>
            </a:extLst>
          </p:cNvPr>
          <p:cNvSpPr/>
          <p:nvPr/>
        </p:nvSpPr>
        <p:spPr>
          <a:xfrm>
            <a:off x="548640" y="1600200"/>
            <a:ext cx="11094720" cy="4626864"/>
          </a:xfrm>
          <a:prstGeom prst="roundRect">
            <a:avLst>
              <a:gd name="adj" fmla="val 1538"/>
            </a:avLst>
          </a:prstGeom>
          <a:solidFill>
            <a:srgbClr val="21295C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94DD6B4A-9E57-A64F-059D-4E987CADE980}"/>
              </a:ext>
            </a:extLst>
          </p:cNvPr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rgbClr val="F2A65A"/>
          </a:solidFill>
        </p:spPr>
      </p:sp>
      <p:pic>
        <p:nvPicPr>
          <p:cNvPr id="22" name="Image 7" descr="/home/claude/civicpulse/icons/userShield_21295C.png">
            <a:extLst>
              <a:ext uri="{FF2B5EF4-FFF2-40B4-BE49-F238E27FC236}">
                <a16:creationId xmlns:a16="http://schemas.microsoft.com/office/drawing/2014/main" id="{00864A6E-3EEA-91A9-D007-4DE85A6AF9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260" y="1943100"/>
            <a:ext cx="320040" cy="320040"/>
          </a:xfrm>
          <a:prstGeom prst="rect">
            <a:avLst/>
          </a:prstGeom>
        </p:spPr>
      </p:pic>
      <p:sp>
        <p:nvSpPr>
          <p:cNvPr id="23" name="Text 13">
            <a:extLst>
              <a:ext uri="{FF2B5EF4-FFF2-40B4-BE49-F238E27FC236}">
                <a16:creationId xmlns:a16="http://schemas.microsoft.com/office/drawing/2014/main" id="{7BF5FBDA-4E03-7964-3D0F-0D5704B02F51}"/>
              </a:ext>
            </a:extLst>
          </p:cNvPr>
          <p:cNvSpPr/>
          <p:nvPr/>
        </p:nvSpPr>
        <p:spPr>
          <a:xfrm>
            <a:off x="726948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 Module</a:t>
            </a:r>
            <a:endParaRPr lang="en-US" sz="2000" dirty="0"/>
          </a:p>
        </p:txBody>
      </p:sp>
      <p:pic>
        <p:nvPicPr>
          <p:cNvPr id="24" name="Image 8" descr="/home/claude/civicpulse/icons/checkCircle_F2A65A.png">
            <a:extLst>
              <a:ext uri="{FF2B5EF4-FFF2-40B4-BE49-F238E27FC236}">
                <a16:creationId xmlns:a16="http://schemas.microsoft.com/office/drawing/2014/main" id="{EB570805-A818-F469-A0B9-E3E550741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651760"/>
            <a:ext cx="256032" cy="256032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FB8367A3-E387-D679-CF22-F1DC4A85CEF5}"/>
              </a:ext>
            </a:extLst>
          </p:cNvPr>
          <p:cNvSpPr/>
          <p:nvPr/>
        </p:nvSpPr>
        <p:spPr>
          <a:xfrm>
            <a:off x="6858000" y="256946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Department-wise login (Water, Roads, Electricity, etc.)</a:t>
            </a:r>
            <a:endParaRPr lang="en-US" sz="1300" dirty="0"/>
          </a:p>
        </p:txBody>
      </p:sp>
      <p:pic>
        <p:nvPicPr>
          <p:cNvPr id="26" name="Image 9" descr="/home/claude/civicpulse/icons/checkCircle_F2A65A.png">
            <a:extLst>
              <a:ext uri="{FF2B5EF4-FFF2-40B4-BE49-F238E27FC236}">
                <a16:creationId xmlns:a16="http://schemas.microsoft.com/office/drawing/2014/main" id="{8D0CBE47-6E7E-3444-C544-944FD1509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73552"/>
            <a:ext cx="256032" cy="256032"/>
          </a:xfrm>
          <a:prstGeom prst="rect">
            <a:avLst/>
          </a:prstGeom>
        </p:spPr>
      </p:pic>
      <p:sp>
        <p:nvSpPr>
          <p:cNvPr id="27" name="Text 15">
            <a:extLst>
              <a:ext uri="{FF2B5EF4-FFF2-40B4-BE49-F238E27FC236}">
                <a16:creationId xmlns:a16="http://schemas.microsoft.com/office/drawing/2014/main" id="{714A6716-3DCF-2746-F5EC-261B1CBFE545}"/>
              </a:ext>
            </a:extLst>
          </p:cNvPr>
          <p:cNvSpPr/>
          <p:nvPr/>
        </p:nvSpPr>
        <p:spPr>
          <a:xfrm>
            <a:off x="6858000" y="3191256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&amp; filter complaints assigned to their department</a:t>
            </a:r>
            <a:endParaRPr lang="en-US" sz="1300" dirty="0"/>
          </a:p>
        </p:txBody>
      </p:sp>
      <p:pic>
        <p:nvPicPr>
          <p:cNvPr id="28" name="Image 10" descr="/home/claude/civicpulse/icons/checkCircle_F2A65A.png">
            <a:extLst>
              <a:ext uri="{FF2B5EF4-FFF2-40B4-BE49-F238E27FC236}">
                <a16:creationId xmlns:a16="http://schemas.microsoft.com/office/drawing/2014/main" id="{DB81936D-4090-8334-48BD-8F4151896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895344"/>
            <a:ext cx="256032" cy="256032"/>
          </a:xfrm>
          <a:prstGeom prst="rect">
            <a:avLst/>
          </a:prstGeom>
        </p:spPr>
      </p:pic>
      <p:sp>
        <p:nvSpPr>
          <p:cNvPr id="29" name="Text 16">
            <a:extLst>
              <a:ext uri="{FF2B5EF4-FFF2-40B4-BE49-F238E27FC236}">
                <a16:creationId xmlns:a16="http://schemas.microsoft.com/office/drawing/2014/main" id="{4D9EAC62-5D04-3264-0E9B-732E09BB05E0}"/>
              </a:ext>
            </a:extLst>
          </p:cNvPr>
          <p:cNvSpPr/>
          <p:nvPr/>
        </p:nvSpPr>
        <p:spPr>
          <a:xfrm>
            <a:off x="6858000" y="3813048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status: Assigned → In Progress → Resolved</a:t>
            </a:r>
            <a:endParaRPr lang="en-US" sz="1300" dirty="0"/>
          </a:p>
        </p:txBody>
      </p:sp>
      <p:pic>
        <p:nvPicPr>
          <p:cNvPr id="30" name="Image 11" descr="/home/claude/civicpulse/icons/checkCircle_F2A65A.png">
            <a:extLst>
              <a:ext uri="{FF2B5EF4-FFF2-40B4-BE49-F238E27FC236}">
                <a16:creationId xmlns:a16="http://schemas.microsoft.com/office/drawing/2014/main" id="{7595C2DE-73CA-3C62-90F3-FADAA3A90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517136"/>
            <a:ext cx="256032" cy="256032"/>
          </a:xfrm>
          <a:prstGeom prst="rect">
            <a:avLst/>
          </a:prstGeom>
        </p:spPr>
      </p:pic>
      <p:sp>
        <p:nvSpPr>
          <p:cNvPr id="31" name="Text 17">
            <a:extLst>
              <a:ext uri="{FF2B5EF4-FFF2-40B4-BE49-F238E27FC236}">
                <a16:creationId xmlns:a16="http://schemas.microsoft.com/office/drawing/2014/main" id="{4D0572F5-E9DB-901D-3839-01E59BFF2628}"/>
              </a:ext>
            </a:extLst>
          </p:cNvPr>
          <p:cNvSpPr/>
          <p:nvPr/>
        </p:nvSpPr>
        <p:spPr>
          <a:xfrm>
            <a:off x="6858000" y="44348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Escalate overdue complaints breaching SLA</a:t>
            </a:r>
            <a:endParaRPr lang="en-US" sz="1300" dirty="0"/>
          </a:p>
        </p:txBody>
      </p:sp>
      <p:pic>
        <p:nvPicPr>
          <p:cNvPr id="32" name="Image 12" descr="/home/claude/civicpulse/icons/checkCircle_F2A65A.png">
            <a:extLst>
              <a:ext uri="{FF2B5EF4-FFF2-40B4-BE49-F238E27FC236}">
                <a16:creationId xmlns:a16="http://schemas.microsoft.com/office/drawing/2014/main" id="{F2DDF64C-5FC3-CA99-1100-D5F37F8E2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138928"/>
            <a:ext cx="256032" cy="256032"/>
          </a:xfrm>
          <a:prstGeom prst="rect">
            <a:avLst/>
          </a:prstGeom>
        </p:spPr>
      </p:pic>
      <p:sp>
        <p:nvSpPr>
          <p:cNvPr id="33" name="Text 18">
            <a:extLst>
              <a:ext uri="{FF2B5EF4-FFF2-40B4-BE49-F238E27FC236}">
                <a16:creationId xmlns:a16="http://schemas.microsoft.com/office/drawing/2014/main" id="{C25FC92B-98C5-152A-EA7D-6FE25B3B6108}"/>
              </a:ext>
            </a:extLst>
          </p:cNvPr>
          <p:cNvSpPr/>
          <p:nvPr/>
        </p:nvSpPr>
        <p:spPr>
          <a:xfrm>
            <a:off x="6858000" y="505663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analytics on department performance</a:t>
            </a:r>
            <a:endParaRPr lang="en-US" sz="1300" dirty="0"/>
          </a:p>
        </p:txBody>
      </p:sp>
      <p:pic>
        <p:nvPicPr>
          <p:cNvPr id="34" name="Image 13" descr="/home/claude/civicpulse/icons/checkCircle_F2A65A.png">
            <a:extLst>
              <a:ext uri="{FF2B5EF4-FFF2-40B4-BE49-F238E27FC236}">
                <a16:creationId xmlns:a16="http://schemas.microsoft.com/office/drawing/2014/main" id="{F26ED205-5603-4B68-37C0-55F83B689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760720"/>
            <a:ext cx="256032" cy="256032"/>
          </a:xfrm>
          <a:prstGeom prst="rect">
            <a:avLst/>
          </a:prstGeom>
        </p:spPr>
      </p:pic>
      <p:sp>
        <p:nvSpPr>
          <p:cNvPr id="35" name="Text 19">
            <a:extLst>
              <a:ext uri="{FF2B5EF4-FFF2-40B4-BE49-F238E27FC236}">
                <a16:creationId xmlns:a16="http://schemas.microsoft.com/office/drawing/2014/main" id="{947863F9-ABAE-925F-1924-FE6B6FE9BEBE}"/>
              </a:ext>
            </a:extLst>
          </p:cNvPr>
          <p:cNvSpPr/>
          <p:nvPr/>
        </p:nvSpPr>
        <p:spPr>
          <a:xfrm>
            <a:off x="6858000" y="567842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Super-admin view across all departments</a:t>
            </a:r>
            <a:endParaRPr lang="en-US" sz="1300" dirty="0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5041A076-92EE-B61E-DCDC-E046AD39A0EB}"/>
              </a:ext>
            </a:extLst>
          </p:cNvPr>
          <p:cNvSpPr/>
          <p:nvPr/>
        </p:nvSpPr>
        <p:spPr>
          <a:xfrm>
            <a:off x="548640" y="1530608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4F7F9"/>
          </a:solidFill>
        </p:spPr>
        <p:txBody>
          <a:bodyPr/>
          <a:lstStyle/>
          <a:p>
            <a:r>
              <a:rPr lang="en-US"/>
              <a:t>*1. Auto-Forward if No Action If an officer doesn't respond within 2 days, the complaint automatically escalates to their senior. Keeps complaints from getting silently ignored.*</a:t>
            </a:r>
          </a:p>
          <a:p>
            <a:r>
              <a:rPr lang="en-US"/>
              <a:t>2. Reopen a "Fixed" Complaint Citizens can reopen a resolved complaint within 5 days if the issue reoccurs, instead of filing a new one. Prevents repeat problems from being treated as fresh, unrelated tickets.</a:t>
            </a:r>
          </a:p>
          <a:p>
            <a:endParaRPr lang="en-US"/>
          </a:p>
          <a:p>
            <a:r>
              <a:rPr lang="en-US"/>
              <a:t>3. Group Officer Actions*Officers can select multiple similar complaints in the same area and mark them all resolved in one action. Saves time on repetitive, one-by-one updates.</a:t>
            </a:r>
            <a:endParaRPr lang="en-IN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0E8D5AB1-D8D7-41A7-F150-56F2B9DACB80}"/>
              </a:ext>
            </a:extLst>
          </p:cNvPr>
          <p:cNvSpPr/>
          <p:nvPr/>
        </p:nvSpPr>
        <p:spPr>
          <a:xfrm>
            <a:off x="548640" y="1600200"/>
            <a:ext cx="10982510" cy="4626864"/>
          </a:xfrm>
          <a:prstGeom prst="roundRect">
            <a:avLst>
              <a:gd name="adj" fmla="val 1538"/>
            </a:avLst>
          </a:prstGeom>
          <a:solidFill>
            <a:srgbClr val="21295C"/>
          </a:solidFill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BA64BB9-B7AA-36FE-2141-6B24421CD78B}"/>
              </a:ext>
            </a:extLst>
          </p:cNvPr>
          <p:cNvSpPr txBox="1"/>
          <p:nvPr/>
        </p:nvSpPr>
        <p:spPr>
          <a:xfrm>
            <a:off x="1124712" y="2098289"/>
            <a:ext cx="1003858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AI-Powered Complaint Analysis</a:t>
            </a: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endParaRPr lang="en-IN" sz="2000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BBA3ACCA-BAAE-902E-D2D4-17B497A2CD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2907788"/>
            <a:ext cx="9108440" cy="23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54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5831BC-ECE8-49DA-3E74-ABE814455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3C27C4-F09A-F0BC-89A4-D1C0915408AA}"/>
              </a:ext>
            </a:extLst>
          </p:cNvPr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Unique Features</a:t>
            </a:r>
            <a:r>
              <a:rPr lang="en-IN" sz="3600" dirty="0"/>
              <a:t> 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CFA95F-5C65-28A3-C274-8926624239BC}"/>
              </a:ext>
            </a:extLst>
          </p:cNvPr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>
                    <a:lumMod val="50000"/>
                  </a:schemeClr>
                </a:solidFill>
              </a:rPr>
              <a:t>emphasizes what makes your project different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9D3D3D2-EA3D-ADBF-5EBE-8F8A1C40770C}"/>
              </a:ext>
            </a:extLst>
          </p:cNvPr>
          <p:cNvSpPr/>
          <p:nvPr/>
        </p:nvSpPr>
        <p:spPr>
          <a:xfrm>
            <a:off x="548640" y="150876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4F7F9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BBC8BE4-22A7-D5CE-8E0F-D7E30AD2A667}"/>
              </a:ext>
            </a:extLst>
          </p:cNvPr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6" name="Image 0" descr="/home/claude/civicpulse/icons/user_FFFFFF.png">
            <a:extLst>
              <a:ext uri="{FF2B5EF4-FFF2-40B4-BE49-F238E27FC236}">
                <a16:creationId xmlns:a16="http://schemas.microsoft.com/office/drawing/2014/main" id="{6A212307-9F3D-BB85-BA69-C96CB6A32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943100"/>
            <a:ext cx="320040" cy="32004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0923A94C-2F9A-439A-6966-5A85B22C559D}"/>
              </a:ext>
            </a:extLst>
          </p:cNvPr>
          <p:cNvSpPr/>
          <p:nvPr/>
        </p:nvSpPr>
        <p:spPr>
          <a:xfrm>
            <a:off x="164592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Module</a:t>
            </a:r>
            <a:endParaRPr lang="en-US" sz="2000" dirty="0"/>
          </a:p>
        </p:txBody>
      </p:sp>
      <p:pic>
        <p:nvPicPr>
          <p:cNvPr id="8" name="Image 1" descr="/home/claude/civicpulse/icons/checkCircle_1C7293.png">
            <a:extLst>
              <a:ext uri="{FF2B5EF4-FFF2-40B4-BE49-F238E27FC236}">
                <a16:creationId xmlns:a16="http://schemas.microsoft.com/office/drawing/2014/main" id="{B111C2D2-540E-E36D-AE8D-757EB5E7B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51760"/>
            <a:ext cx="256032" cy="256032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E9896DB1-182C-08FC-1101-B9BC32F6CECB}"/>
              </a:ext>
            </a:extLst>
          </p:cNvPr>
          <p:cNvSpPr/>
          <p:nvPr/>
        </p:nvSpPr>
        <p:spPr>
          <a:xfrm>
            <a:off x="1234440" y="256946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/ login with secure credentials</a:t>
            </a:r>
            <a:endParaRPr lang="en-US" sz="1300" dirty="0"/>
          </a:p>
        </p:txBody>
      </p:sp>
      <p:pic>
        <p:nvPicPr>
          <p:cNvPr id="10" name="Image 2" descr="/home/claude/civicpulse/icons/checkCircle_1C7293.png">
            <a:extLst>
              <a:ext uri="{FF2B5EF4-FFF2-40B4-BE49-F238E27FC236}">
                <a16:creationId xmlns:a16="http://schemas.microsoft.com/office/drawing/2014/main" id="{1FF09C00-8F41-E4FA-8AAC-8EA9D93FE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73552"/>
            <a:ext cx="256032" cy="256032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6D063EB9-4D8E-E90F-CBF4-AD793CF05C8F}"/>
              </a:ext>
            </a:extLst>
          </p:cNvPr>
          <p:cNvSpPr/>
          <p:nvPr/>
        </p:nvSpPr>
        <p:spPr>
          <a:xfrm>
            <a:off x="1234440" y="3191256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complaints with category, location &amp; photo evidence</a:t>
            </a:r>
            <a:endParaRPr lang="en-US" sz="1300" dirty="0"/>
          </a:p>
        </p:txBody>
      </p:sp>
      <p:pic>
        <p:nvPicPr>
          <p:cNvPr id="12" name="Image 3" descr="/home/claude/civicpulse/icons/checkCircle_1C7293.png">
            <a:extLst>
              <a:ext uri="{FF2B5EF4-FFF2-40B4-BE49-F238E27FC236}">
                <a16:creationId xmlns:a16="http://schemas.microsoft.com/office/drawing/2014/main" id="{1284905A-BF1D-272F-099C-B05E2F2A0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95344"/>
            <a:ext cx="256032" cy="256032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DD9FBDF4-61F3-9F3B-0DA8-73363525BB2E}"/>
              </a:ext>
            </a:extLst>
          </p:cNvPr>
          <p:cNvSpPr/>
          <p:nvPr/>
        </p:nvSpPr>
        <p:spPr>
          <a:xfrm>
            <a:off x="1234440" y="3813048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real-time status with a unique complaint ID</a:t>
            </a:r>
            <a:endParaRPr lang="en-US" sz="1300" dirty="0"/>
          </a:p>
        </p:txBody>
      </p:sp>
      <p:pic>
        <p:nvPicPr>
          <p:cNvPr id="14" name="Image 4" descr="/home/claude/civicpulse/icons/checkCircle_1C7293.png">
            <a:extLst>
              <a:ext uri="{FF2B5EF4-FFF2-40B4-BE49-F238E27FC236}">
                <a16:creationId xmlns:a16="http://schemas.microsoft.com/office/drawing/2014/main" id="{09F4FFF7-0D98-0507-7AC9-AAF95C11A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17136"/>
            <a:ext cx="256032" cy="256032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FCF8F6FF-0E3C-58CC-D467-91787EED84E2}"/>
              </a:ext>
            </a:extLst>
          </p:cNvPr>
          <p:cNvSpPr/>
          <p:nvPr/>
        </p:nvSpPr>
        <p:spPr>
          <a:xfrm>
            <a:off x="1234440" y="44348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 SMS / email notifications on updates</a:t>
            </a:r>
            <a:endParaRPr lang="en-US" sz="1300" dirty="0"/>
          </a:p>
        </p:txBody>
      </p:sp>
      <p:pic>
        <p:nvPicPr>
          <p:cNvPr id="16" name="Image 5" descr="/home/claude/civicpulse/icons/checkCircle_1C7293.png">
            <a:extLst>
              <a:ext uri="{FF2B5EF4-FFF2-40B4-BE49-F238E27FC236}">
                <a16:creationId xmlns:a16="http://schemas.microsoft.com/office/drawing/2014/main" id="{4EE740B2-2841-4F6A-7F2D-A48C32BF8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38928"/>
            <a:ext cx="256032" cy="256032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255415FE-C8CE-468B-39A8-817D6ED1A700}"/>
              </a:ext>
            </a:extLst>
          </p:cNvPr>
          <p:cNvSpPr/>
          <p:nvPr/>
        </p:nvSpPr>
        <p:spPr>
          <a:xfrm>
            <a:off x="1234440" y="505663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 resolution &amp; give feedback</a:t>
            </a:r>
            <a:endParaRPr lang="en-US" sz="1300" dirty="0"/>
          </a:p>
        </p:txBody>
      </p:sp>
      <p:pic>
        <p:nvPicPr>
          <p:cNvPr id="18" name="Image 6" descr="/home/claude/civicpulse/icons/checkCircle_1C7293.png">
            <a:extLst>
              <a:ext uri="{FF2B5EF4-FFF2-40B4-BE49-F238E27FC236}">
                <a16:creationId xmlns:a16="http://schemas.microsoft.com/office/drawing/2014/main" id="{44DC6465-57EC-D01C-A9FC-C1D9A9C2A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760720"/>
            <a:ext cx="256032" cy="256032"/>
          </a:xfrm>
          <a:prstGeom prst="rect">
            <a:avLst/>
          </a:prstGeom>
        </p:spPr>
      </p:pic>
      <p:sp>
        <p:nvSpPr>
          <p:cNvPr id="19" name="Text 10">
            <a:extLst>
              <a:ext uri="{FF2B5EF4-FFF2-40B4-BE49-F238E27FC236}">
                <a16:creationId xmlns:a16="http://schemas.microsoft.com/office/drawing/2014/main" id="{D7C8986F-1EC8-EF4C-D549-59F65BF4FCF1}"/>
              </a:ext>
            </a:extLst>
          </p:cNvPr>
          <p:cNvSpPr/>
          <p:nvPr/>
        </p:nvSpPr>
        <p:spPr>
          <a:xfrm>
            <a:off x="1234440" y="567842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complaint history</a:t>
            </a:r>
            <a:endParaRPr lang="en-US" sz="130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873772BD-C9E4-1A40-1B84-8D694D668598}"/>
              </a:ext>
            </a:extLst>
          </p:cNvPr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rgbClr val="F2A65A"/>
          </a:solidFill>
        </p:spPr>
      </p:sp>
      <p:pic>
        <p:nvPicPr>
          <p:cNvPr id="22" name="Image 7" descr="/home/claude/civicpulse/icons/userShield_21295C.png">
            <a:extLst>
              <a:ext uri="{FF2B5EF4-FFF2-40B4-BE49-F238E27FC236}">
                <a16:creationId xmlns:a16="http://schemas.microsoft.com/office/drawing/2014/main" id="{9E5FA80F-720A-9A7B-1CC8-A94C28F3A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260" y="1943100"/>
            <a:ext cx="320040" cy="320040"/>
          </a:xfrm>
          <a:prstGeom prst="rect">
            <a:avLst/>
          </a:prstGeom>
        </p:spPr>
      </p:pic>
      <p:sp>
        <p:nvSpPr>
          <p:cNvPr id="23" name="Text 13">
            <a:extLst>
              <a:ext uri="{FF2B5EF4-FFF2-40B4-BE49-F238E27FC236}">
                <a16:creationId xmlns:a16="http://schemas.microsoft.com/office/drawing/2014/main" id="{751715D4-4BB5-F528-AACB-3A1142FE68B5}"/>
              </a:ext>
            </a:extLst>
          </p:cNvPr>
          <p:cNvSpPr/>
          <p:nvPr/>
        </p:nvSpPr>
        <p:spPr>
          <a:xfrm>
            <a:off x="726948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 Module</a:t>
            </a:r>
            <a:endParaRPr lang="en-US" sz="2000" dirty="0"/>
          </a:p>
        </p:txBody>
      </p:sp>
      <p:pic>
        <p:nvPicPr>
          <p:cNvPr id="24" name="Image 8" descr="/home/claude/civicpulse/icons/checkCircle_F2A65A.png">
            <a:extLst>
              <a:ext uri="{FF2B5EF4-FFF2-40B4-BE49-F238E27FC236}">
                <a16:creationId xmlns:a16="http://schemas.microsoft.com/office/drawing/2014/main" id="{CF1EF008-0447-3178-51AD-A4549982C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651760"/>
            <a:ext cx="256032" cy="256032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9D01A20D-76CB-8F53-94C7-ABBD4A633B67}"/>
              </a:ext>
            </a:extLst>
          </p:cNvPr>
          <p:cNvSpPr/>
          <p:nvPr/>
        </p:nvSpPr>
        <p:spPr>
          <a:xfrm>
            <a:off x="6858000" y="256946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Department-wise login (Water, Roads, Electricity, etc.)</a:t>
            </a:r>
            <a:endParaRPr lang="en-US" sz="1300" dirty="0"/>
          </a:p>
        </p:txBody>
      </p:sp>
      <p:pic>
        <p:nvPicPr>
          <p:cNvPr id="26" name="Image 9" descr="/home/claude/civicpulse/icons/checkCircle_F2A65A.png">
            <a:extLst>
              <a:ext uri="{FF2B5EF4-FFF2-40B4-BE49-F238E27FC236}">
                <a16:creationId xmlns:a16="http://schemas.microsoft.com/office/drawing/2014/main" id="{26DEAAE5-8BA2-E63D-A9CF-1D7E23A0D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73552"/>
            <a:ext cx="256032" cy="256032"/>
          </a:xfrm>
          <a:prstGeom prst="rect">
            <a:avLst/>
          </a:prstGeom>
        </p:spPr>
      </p:pic>
      <p:sp>
        <p:nvSpPr>
          <p:cNvPr id="27" name="Text 15">
            <a:extLst>
              <a:ext uri="{FF2B5EF4-FFF2-40B4-BE49-F238E27FC236}">
                <a16:creationId xmlns:a16="http://schemas.microsoft.com/office/drawing/2014/main" id="{C29D2CB6-0BAA-7D16-31A5-73F7A4B2D292}"/>
              </a:ext>
            </a:extLst>
          </p:cNvPr>
          <p:cNvSpPr/>
          <p:nvPr/>
        </p:nvSpPr>
        <p:spPr>
          <a:xfrm>
            <a:off x="6858000" y="3191256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&amp; filter complaints assigned to their department</a:t>
            </a:r>
            <a:endParaRPr lang="en-US" sz="1300" dirty="0"/>
          </a:p>
        </p:txBody>
      </p:sp>
      <p:pic>
        <p:nvPicPr>
          <p:cNvPr id="28" name="Image 10" descr="/home/claude/civicpulse/icons/checkCircle_F2A65A.png">
            <a:extLst>
              <a:ext uri="{FF2B5EF4-FFF2-40B4-BE49-F238E27FC236}">
                <a16:creationId xmlns:a16="http://schemas.microsoft.com/office/drawing/2014/main" id="{6E88DA03-33D5-18E8-2A73-5825946EE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895344"/>
            <a:ext cx="256032" cy="256032"/>
          </a:xfrm>
          <a:prstGeom prst="rect">
            <a:avLst/>
          </a:prstGeom>
        </p:spPr>
      </p:pic>
      <p:sp>
        <p:nvSpPr>
          <p:cNvPr id="29" name="Text 16">
            <a:extLst>
              <a:ext uri="{FF2B5EF4-FFF2-40B4-BE49-F238E27FC236}">
                <a16:creationId xmlns:a16="http://schemas.microsoft.com/office/drawing/2014/main" id="{2D3A7B22-8DB0-CCB0-0F3B-E017DDB4429D}"/>
              </a:ext>
            </a:extLst>
          </p:cNvPr>
          <p:cNvSpPr/>
          <p:nvPr/>
        </p:nvSpPr>
        <p:spPr>
          <a:xfrm>
            <a:off x="6858000" y="3813048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status: Assigned → In Progress → Resolved</a:t>
            </a:r>
            <a:endParaRPr lang="en-US" sz="1300" dirty="0"/>
          </a:p>
        </p:txBody>
      </p:sp>
      <p:pic>
        <p:nvPicPr>
          <p:cNvPr id="30" name="Image 11" descr="/home/claude/civicpulse/icons/checkCircle_F2A65A.png">
            <a:extLst>
              <a:ext uri="{FF2B5EF4-FFF2-40B4-BE49-F238E27FC236}">
                <a16:creationId xmlns:a16="http://schemas.microsoft.com/office/drawing/2014/main" id="{E6FD4219-2A5E-459B-1880-D78A96B6A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517136"/>
            <a:ext cx="256032" cy="256032"/>
          </a:xfrm>
          <a:prstGeom prst="rect">
            <a:avLst/>
          </a:prstGeom>
        </p:spPr>
      </p:pic>
      <p:sp>
        <p:nvSpPr>
          <p:cNvPr id="31" name="Text 17">
            <a:extLst>
              <a:ext uri="{FF2B5EF4-FFF2-40B4-BE49-F238E27FC236}">
                <a16:creationId xmlns:a16="http://schemas.microsoft.com/office/drawing/2014/main" id="{6AED1589-BFEC-EACA-5D4D-4C5CFBE1C318}"/>
              </a:ext>
            </a:extLst>
          </p:cNvPr>
          <p:cNvSpPr/>
          <p:nvPr/>
        </p:nvSpPr>
        <p:spPr>
          <a:xfrm>
            <a:off x="6858000" y="44348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Escalate overdue complaints breaching SLA</a:t>
            </a:r>
            <a:endParaRPr lang="en-US" sz="1300" dirty="0"/>
          </a:p>
        </p:txBody>
      </p:sp>
      <p:pic>
        <p:nvPicPr>
          <p:cNvPr id="32" name="Image 12" descr="/home/claude/civicpulse/icons/checkCircle_F2A65A.png">
            <a:extLst>
              <a:ext uri="{FF2B5EF4-FFF2-40B4-BE49-F238E27FC236}">
                <a16:creationId xmlns:a16="http://schemas.microsoft.com/office/drawing/2014/main" id="{0BE4A148-4DB6-DD57-3D7B-C4CC4CB04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138928"/>
            <a:ext cx="256032" cy="256032"/>
          </a:xfrm>
          <a:prstGeom prst="rect">
            <a:avLst/>
          </a:prstGeom>
        </p:spPr>
      </p:pic>
      <p:sp>
        <p:nvSpPr>
          <p:cNvPr id="33" name="Text 18">
            <a:extLst>
              <a:ext uri="{FF2B5EF4-FFF2-40B4-BE49-F238E27FC236}">
                <a16:creationId xmlns:a16="http://schemas.microsoft.com/office/drawing/2014/main" id="{048FEC35-0573-3433-CC09-36D5DEDABE25}"/>
              </a:ext>
            </a:extLst>
          </p:cNvPr>
          <p:cNvSpPr/>
          <p:nvPr/>
        </p:nvSpPr>
        <p:spPr>
          <a:xfrm>
            <a:off x="6858000" y="505663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analytics on department performance</a:t>
            </a:r>
            <a:endParaRPr lang="en-US" sz="1300" dirty="0"/>
          </a:p>
        </p:txBody>
      </p:sp>
      <p:pic>
        <p:nvPicPr>
          <p:cNvPr id="34" name="Image 13" descr="/home/claude/civicpulse/icons/checkCircle_F2A65A.png">
            <a:extLst>
              <a:ext uri="{FF2B5EF4-FFF2-40B4-BE49-F238E27FC236}">
                <a16:creationId xmlns:a16="http://schemas.microsoft.com/office/drawing/2014/main" id="{CFD0ECF9-2175-80A2-7257-D7A9F18B8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760720"/>
            <a:ext cx="256032" cy="256032"/>
          </a:xfrm>
          <a:prstGeom prst="rect">
            <a:avLst/>
          </a:prstGeom>
        </p:spPr>
      </p:pic>
      <p:sp>
        <p:nvSpPr>
          <p:cNvPr id="35" name="Text 19">
            <a:extLst>
              <a:ext uri="{FF2B5EF4-FFF2-40B4-BE49-F238E27FC236}">
                <a16:creationId xmlns:a16="http://schemas.microsoft.com/office/drawing/2014/main" id="{5D724E80-4631-2CEA-1531-38AC824918A1}"/>
              </a:ext>
            </a:extLst>
          </p:cNvPr>
          <p:cNvSpPr/>
          <p:nvPr/>
        </p:nvSpPr>
        <p:spPr>
          <a:xfrm>
            <a:off x="6858000" y="567842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Super-admin view across all departments</a:t>
            </a:r>
            <a:endParaRPr lang="en-US" sz="1300" dirty="0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59887B2E-D5AF-3646-8BFB-399BEBA957CE}"/>
              </a:ext>
            </a:extLst>
          </p:cNvPr>
          <p:cNvSpPr/>
          <p:nvPr/>
        </p:nvSpPr>
        <p:spPr>
          <a:xfrm>
            <a:off x="548640" y="1530608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4F7F9"/>
          </a:solidFill>
        </p:spPr>
        <p:txBody>
          <a:bodyPr/>
          <a:lstStyle/>
          <a:p>
            <a:r>
              <a:rPr lang="en-US"/>
              <a:t>*1. Auto-Forward if No Action If an officer doesn't respond within 2 days, the complaint automatically escalates to their senior. Keeps complaints from getting silently ignored.*</a:t>
            </a:r>
          </a:p>
          <a:p>
            <a:r>
              <a:rPr lang="en-US"/>
              <a:t>2. Reopen a "Fixed" Complaint Citizens can reopen a resolved complaint within 5 days if the issue reoccurs, instead of filing a new one. Prevents repeat problems from being treated as fresh, unrelated tickets.</a:t>
            </a:r>
          </a:p>
          <a:p>
            <a:endParaRPr lang="en-US"/>
          </a:p>
          <a:p>
            <a:r>
              <a:rPr lang="en-US"/>
              <a:t>3. Group Officer Actions*Officers can select multiple similar complaints in the same area and mark them all resolved in one action. Saves time on repetitive, one-by-one updates.</a:t>
            </a:r>
            <a:endParaRPr lang="en-IN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08185A20-1197-B325-5947-CC6C9ECB707E}"/>
              </a:ext>
            </a:extLst>
          </p:cNvPr>
          <p:cNvSpPr/>
          <p:nvPr/>
        </p:nvSpPr>
        <p:spPr>
          <a:xfrm>
            <a:off x="548640" y="1530608"/>
            <a:ext cx="10982510" cy="4626864"/>
          </a:xfrm>
          <a:prstGeom prst="roundRect">
            <a:avLst>
              <a:gd name="adj" fmla="val 1538"/>
            </a:avLst>
          </a:prstGeom>
          <a:solidFill>
            <a:srgbClr val="21295C"/>
          </a:solidFill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CCDE50-2563-B226-631E-68E5A6DB8FF1}"/>
              </a:ext>
            </a:extLst>
          </p:cNvPr>
          <p:cNvSpPr txBox="1"/>
          <p:nvPr/>
        </p:nvSpPr>
        <p:spPr>
          <a:xfrm>
            <a:off x="906639" y="1719072"/>
            <a:ext cx="1003858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Field Verification &amp; Resolution Proof</a:t>
            </a: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endParaRPr lang="en-IN" sz="2000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9306E6D-BDA7-A3DC-CFFE-14028795FB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166" y="2470637"/>
            <a:ext cx="3680779" cy="317781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6B88455-78F4-5F2C-72BD-3627761FBE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2279396"/>
            <a:ext cx="4434840" cy="309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6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23C21-FB46-F75E-41B1-EE1E8F19A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A4F40C-E809-D361-F6FA-FEC87EDF1630}"/>
              </a:ext>
            </a:extLst>
          </p:cNvPr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Modules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D0E504-9824-F295-EB00-A92AB3684CB3}"/>
              </a:ext>
            </a:extLst>
          </p:cNvPr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focused experiences on one platform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54A0059-696E-82BB-D1E4-380FBFAC1CA8}"/>
              </a:ext>
            </a:extLst>
          </p:cNvPr>
          <p:cNvSpPr/>
          <p:nvPr/>
        </p:nvSpPr>
        <p:spPr>
          <a:xfrm>
            <a:off x="548640" y="150876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4F7F9"/>
          </a:solidFill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44F4183-E604-FF29-0C22-875C303FB839}"/>
              </a:ext>
            </a:extLst>
          </p:cNvPr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6" name="Image 0" descr="/home/claude/civicpulse/icons/user_FFFFFF.png">
            <a:extLst>
              <a:ext uri="{FF2B5EF4-FFF2-40B4-BE49-F238E27FC236}">
                <a16:creationId xmlns:a16="http://schemas.microsoft.com/office/drawing/2014/main" id="{DA9A9551-CBF9-9184-0F42-915662675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943100"/>
            <a:ext cx="320040" cy="32004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230B84F5-F9DE-E5D0-BC6E-11AC194E5E3E}"/>
              </a:ext>
            </a:extLst>
          </p:cNvPr>
          <p:cNvSpPr/>
          <p:nvPr/>
        </p:nvSpPr>
        <p:spPr>
          <a:xfrm>
            <a:off x="164592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Module</a:t>
            </a:r>
            <a:endParaRPr lang="en-US" sz="2000" dirty="0"/>
          </a:p>
        </p:txBody>
      </p:sp>
      <p:pic>
        <p:nvPicPr>
          <p:cNvPr id="8" name="Image 1" descr="/home/claude/civicpulse/icons/checkCircle_1C7293.png">
            <a:extLst>
              <a:ext uri="{FF2B5EF4-FFF2-40B4-BE49-F238E27FC236}">
                <a16:creationId xmlns:a16="http://schemas.microsoft.com/office/drawing/2014/main" id="{79A1FA29-6F09-3326-968F-BFF012325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51760"/>
            <a:ext cx="256032" cy="256032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39CE5C3B-6E4B-5227-0216-FC7C600075B8}"/>
              </a:ext>
            </a:extLst>
          </p:cNvPr>
          <p:cNvSpPr/>
          <p:nvPr/>
        </p:nvSpPr>
        <p:spPr>
          <a:xfrm>
            <a:off x="1234440" y="256946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/ login with secure credentials</a:t>
            </a:r>
            <a:endParaRPr lang="en-US" sz="1300" dirty="0"/>
          </a:p>
        </p:txBody>
      </p:sp>
      <p:pic>
        <p:nvPicPr>
          <p:cNvPr id="10" name="Image 2" descr="/home/claude/civicpulse/icons/checkCircle_1C7293.png">
            <a:extLst>
              <a:ext uri="{FF2B5EF4-FFF2-40B4-BE49-F238E27FC236}">
                <a16:creationId xmlns:a16="http://schemas.microsoft.com/office/drawing/2014/main" id="{E08D26A3-323E-337F-4D52-67BD155F3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73552"/>
            <a:ext cx="256032" cy="256032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728272BA-253C-1EC9-C6D1-F57F2F76517F}"/>
              </a:ext>
            </a:extLst>
          </p:cNvPr>
          <p:cNvSpPr/>
          <p:nvPr/>
        </p:nvSpPr>
        <p:spPr>
          <a:xfrm>
            <a:off x="1234440" y="3191256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complaints with category, location &amp; photo evidence</a:t>
            </a:r>
            <a:endParaRPr lang="en-US" sz="1300" dirty="0"/>
          </a:p>
        </p:txBody>
      </p:sp>
      <p:pic>
        <p:nvPicPr>
          <p:cNvPr id="12" name="Image 3" descr="/home/claude/civicpulse/icons/checkCircle_1C7293.png">
            <a:extLst>
              <a:ext uri="{FF2B5EF4-FFF2-40B4-BE49-F238E27FC236}">
                <a16:creationId xmlns:a16="http://schemas.microsoft.com/office/drawing/2014/main" id="{43051257-9472-D66B-7264-177031011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95344"/>
            <a:ext cx="256032" cy="256032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E8C01888-E936-21F2-3475-584B4B9CAE12}"/>
              </a:ext>
            </a:extLst>
          </p:cNvPr>
          <p:cNvSpPr/>
          <p:nvPr/>
        </p:nvSpPr>
        <p:spPr>
          <a:xfrm>
            <a:off x="1234440" y="3813048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real-time status with a unique complaint ID</a:t>
            </a:r>
            <a:endParaRPr lang="en-US" sz="1300" dirty="0"/>
          </a:p>
        </p:txBody>
      </p:sp>
      <p:pic>
        <p:nvPicPr>
          <p:cNvPr id="14" name="Image 4" descr="/home/claude/civicpulse/icons/checkCircle_1C7293.png">
            <a:extLst>
              <a:ext uri="{FF2B5EF4-FFF2-40B4-BE49-F238E27FC236}">
                <a16:creationId xmlns:a16="http://schemas.microsoft.com/office/drawing/2014/main" id="{ABE127C7-70BA-E3A9-40AB-D291BF014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17136"/>
            <a:ext cx="256032" cy="256032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5710E992-B395-67B1-263B-AF07B39DE2C1}"/>
              </a:ext>
            </a:extLst>
          </p:cNvPr>
          <p:cNvSpPr/>
          <p:nvPr/>
        </p:nvSpPr>
        <p:spPr>
          <a:xfrm>
            <a:off x="1234440" y="44348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 SMS / email notifications on updates</a:t>
            </a:r>
            <a:endParaRPr lang="en-US" sz="1300" dirty="0"/>
          </a:p>
        </p:txBody>
      </p:sp>
      <p:pic>
        <p:nvPicPr>
          <p:cNvPr id="16" name="Image 5" descr="/home/claude/civicpulse/icons/checkCircle_1C7293.png">
            <a:extLst>
              <a:ext uri="{FF2B5EF4-FFF2-40B4-BE49-F238E27FC236}">
                <a16:creationId xmlns:a16="http://schemas.microsoft.com/office/drawing/2014/main" id="{ED915FE5-F8C3-DBBE-55FC-2F94380C9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38928"/>
            <a:ext cx="256032" cy="256032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415648BF-C37C-FF93-A764-A6517C950DCB}"/>
              </a:ext>
            </a:extLst>
          </p:cNvPr>
          <p:cNvSpPr/>
          <p:nvPr/>
        </p:nvSpPr>
        <p:spPr>
          <a:xfrm>
            <a:off x="1234440" y="505663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 resolution &amp; give feedback</a:t>
            </a:r>
            <a:endParaRPr lang="en-US" sz="1300" dirty="0"/>
          </a:p>
        </p:txBody>
      </p:sp>
      <p:pic>
        <p:nvPicPr>
          <p:cNvPr id="18" name="Image 6" descr="/home/claude/civicpulse/icons/checkCircle_1C7293.png">
            <a:extLst>
              <a:ext uri="{FF2B5EF4-FFF2-40B4-BE49-F238E27FC236}">
                <a16:creationId xmlns:a16="http://schemas.microsoft.com/office/drawing/2014/main" id="{1F1C4DED-2409-59BD-CECE-0F229F259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760720"/>
            <a:ext cx="256032" cy="256032"/>
          </a:xfrm>
          <a:prstGeom prst="rect">
            <a:avLst/>
          </a:prstGeom>
        </p:spPr>
      </p:pic>
      <p:sp>
        <p:nvSpPr>
          <p:cNvPr id="19" name="Text 10">
            <a:extLst>
              <a:ext uri="{FF2B5EF4-FFF2-40B4-BE49-F238E27FC236}">
                <a16:creationId xmlns:a16="http://schemas.microsoft.com/office/drawing/2014/main" id="{9C8FA7BF-3BEB-E635-C4A1-1B86D2D63D12}"/>
              </a:ext>
            </a:extLst>
          </p:cNvPr>
          <p:cNvSpPr/>
          <p:nvPr/>
        </p:nvSpPr>
        <p:spPr>
          <a:xfrm>
            <a:off x="1234440" y="567842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complaint history</a:t>
            </a:r>
            <a:endParaRPr lang="en-US" sz="13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408522E1-41D4-1B9F-8E17-6A0220ACEDC0}"/>
              </a:ext>
            </a:extLst>
          </p:cNvPr>
          <p:cNvSpPr/>
          <p:nvPr/>
        </p:nvSpPr>
        <p:spPr>
          <a:xfrm>
            <a:off x="6172200" y="150876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21295C"/>
          </a:solidFill>
        </p:spPr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0AE49D9E-F9BC-5894-21F0-EECD74F52C1D}"/>
              </a:ext>
            </a:extLst>
          </p:cNvPr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rgbClr val="F2A65A"/>
          </a:solidFill>
        </p:spPr>
      </p:sp>
      <p:pic>
        <p:nvPicPr>
          <p:cNvPr id="22" name="Image 7" descr="/home/claude/civicpulse/icons/userShield_21295C.png">
            <a:extLst>
              <a:ext uri="{FF2B5EF4-FFF2-40B4-BE49-F238E27FC236}">
                <a16:creationId xmlns:a16="http://schemas.microsoft.com/office/drawing/2014/main" id="{CF566B0D-0A75-0437-73DB-C916F3E753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260" y="1943100"/>
            <a:ext cx="320040" cy="320040"/>
          </a:xfrm>
          <a:prstGeom prst="rect">
            <a:avLst/>
          </a:prstGeom>
        </p:spPr>
      </p:pic>
      <p:sp>
        <p:nvSpPr>
          <p:cNvPr id="23" name="Text 13">
            <a:extLst>
              <a:ext uri="{FF2B5EF4-FFF2-40B4-BE49-F238E27FC236}">
                <a16:creationId xmlns:a16="http://schemas.microsoft.com/office/drawing/2014/main" id="{18BF785F-EC51-753A-A479-6A5F5981AFE1}"/>
              </a:ext>
            </a:extLst>
          </p:cNvPr>
          <p:cNvSpPr/>
          <p:nvPr/>
        </p:nvSpPr>
        <p:spPr>
          <a:xfrm>
            <a:off x="726948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 Module</a:t>
            </a:r>
            <a:endParaRPr lang="en-US" sz="2000" dirty="0"/>
          </a:p>
        </p:txBody>
      </p:sp>
      <p:pic>
        <p:nvPicPr>
          <p:cNvPr id="24" name="Image 8" descr="/home/claude/civicpulse/icons/checkCircle_F2A65A.png">
            <a:extLst>
              <a:ext uri="{FF2B5EF4-FFF2-40B4-BE49-F238E27FC236}">
                <a16:creationId xmlns:a16="http://schemas.microsoft.com/office/drawing/2014/main" id="{05E7D8F2-B172-6AF4-5AEE-15A95D907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651760"/>
            <a:ext cx="256032" cy="256032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807984B4-A340-4DA2-DFCE-E00D9AF5D1E0}"/>
              </a:ext>
            </a:extLst>
          </p:cNvPr>
          <p:cNvSpPr/>
          <p:nvPr/>
        </p:nvSpPr>
        <p:spPr>
          <a:xfrm>
            <a:off x="6858000" y="256946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Department-wise login (Water, Roads, Electricity, etc.)</a:t>
            </a:r>
            <a:endParaRPr lang="en-US" sz="1300" dirty="0"/>
          </a:p>
        </p:txBody>
      </p:sp>
      <p:pic>
        <p:nvPicPr>
          <p:cNvPr id="26" name="Image 9" descr="/home/claude/civicpulse/icons/checkCircle_F2A65A.png">
            <a:extLst>
              <a:ext uri="{FF2B5EF4-FFF2-40B4-BE49-F238E27FC236}">
                <a16:creationId xmlns:a16="http://schemas.microsoft.com/office/drawing/2014/main" id="{2A1636A3-4A3A-C2E4-0941-E79D56BB6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73552"/>
            <a:ext cx="256032" cy="256032"/>
          </a:xfrm>
          <a:prstGeom prst="rect">
            <a:avLst/>
          </a:prstGeom>
        </p:spPr>
      </p:pic>
      <p:sp>
        <p:nvSpPr>
          <p:cNvPr id="27" name="Text 15">
            <a:extLst>
              <a:ext uri="{FF2B5EF4-FFF2-40B4-BE49-F238E27FC236}">
                <a16:creationId xmlns:a16="http://schemas.microsoft.com/office/drawing/2014/main" id="{832D8795-AD9A-D6FF-E783-30D61920833D}"/>
              </a:ext>
            </a:extLst>
          </p:cNvPr>
          <p:cNvSpPr/>
          <p:nvPr/>
        </p:nvSpPr>
        <p:spPr>
          <a:xfrm>
            <a:off x="6858000" y="3191256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&amp; filter complaints assigned to their department</a:t>
            </a:r>
            <a:endParaRPr lang="en-US" sz="1300" dirty="0"/>
          </a:p>
        </p:txBody>
      </p:sp>
      <p:pic>
        <p:nvPicPr>
          <p:cNvPr id="28" name="Image 10" descr="/home/claude/civicpulse/icons/checkCircle_F2A65A.png">
            <a:extLst>
              <a:ext uri="{FF2B5EF4-FFF2-40B4-BE49-F238E27FC236}">
                <a16:creationId xmlns:a16="http://schemas.microsoft.com/office/drawing/2014/main" id="{B661062A-E1CD-BB3D-AAAA-B155D7195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895344"/>
            <a:ext cx="256032" cy="256032"/>
          </a:xfrm>
          <a:prstGeom prst="rect">
            <a:avLst/>
          </a:prstGeom>
        </p:spPr>
      </p:pic>
      <p:sp>
        <p:nvSpPr>
          <p:cNvPr id="29" name="Text 16">
            <a:extLst>
              <a:ext uri="{FF2B5EF4-FFF2-40B4-BE49-F238E27FC236}">
                <a16:creationId xmlns:a16="http://schemas.microsoft.com/office/drawing/2014/main" id="{6FA82EEF-04B9-E5FF-50D9-AAD3662186FF}"/>
              </a:ext>
            </a:extLst>
          </p:cNvPr>
          <p:cNvSpPr/>
          <p:nvPr/>
        </p:nvSpPr>
        <p:spPr>
          <a:xfrm>
            <a:off x="6858000" y="3813048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status: Assigned → In Progress → Resolved</a:t>
            </a:r>
            <a:endParaRPr lang="en-US" sz="1300" dirty="0"/>
          </a:p>
        </p:txBody>
      </p:sp>
      <p:pic>
        <p:nvPicPr>
          <p:cNvPr id="30" name="Image 11" descr="/home/claude/civicpulse/icons/checkCircle_F2A65A.png">
            <a:extLst>
              <a:ext uri="{FF2B5EF4-FFF2-40B4-BE49-F238E27FC236}">
                <a16:creationId xmlns:a16="http://schemas.microsoft.com/office/drawing/2014/main" id="{E5B9BA5A-917E-5381-AE62-0236E17F9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517136"/>
            <a:ext cx="256032" cy="256032"/>
          </a:xfrm>
          <a:prstGeom prst="rect">
            <a:avLst/>
          </a:prstGeom>
        </p:spPr>
      </p:pic>
      <p:sp>
        <p:nvSpPr>
          <p:cNvPr id="31" name="Text 17">
            <a:extLst>
              <a:ext uri="{FF2B5EF4-FFF2-40B4-BE49-F238E27FC236}">
                <a16:creationId xmlns:a16="http://schemas.microsoft.com/office/drawing/2014/main" id="{A95E1B12-C0D8-9148-D499-CFA3CE684402}"/>
              </a:ext>
            </a:extLst>
          </p:cNvPr>
          <p:cNvSpPr/>
          <p:nvPr/>
        </p:nvSpPr>
        <p:spPr>
          <a:xfrm>
            <a:off x="6858000" y="44348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Escalate overdue complaints breaching SLA</a:t>
            </a:r>
            <a:endParaRPr lang="en-US" sz="1300" dirty="0"/>
          </a:p>
        </p:txBody>
      </p:sp>
      <p:pic>
        <p:nvPicPr>
          <p:cNvPr id="32" name="Image 12" descr="/home/claude/civicpulse/icons/checkCircle_F2A65A.png">
            <a:extLst>
              <a:ext uri="{FF2B5EF4-FFF2-40B4-BE49-F238E27FC236}">
                <a16:creationId xmlns:a16="http://schemas.microsoft.com/office/drawing/2014/main" id="{1BA04D93-463D-7812-BF48-C20740AAF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138928"/>
            <a:ext cx="256032" cy="256032"/>
          </a:xfrm>
          <a:prstGeom prst="rect">
            <a:avLst/>
          </a:prstGeom>
        </p:spPr>
      </p:pic>
      <p:sp>
        <p:nvSpPr>
          <p:cNvPr id="33" name="Text 18">
            <a:extLst>
              <a:ext uri="{FF2B5EF4-FFF2-40B4-BE49-F238E27FC236}">
                <a16:creationId xmlns:a16="http://schemas.microsoft.com/office/drawing/2014/main" id="{69C9E1E5-68A3-6C7F-7A71-6415D976CB6A}"/>
              </a:ext>
            </a:extLst>
          </p:cNvPr>
          <p:cNvSpPr/>
          <p:nvPr/>
        </p:nvSpPr>
        <p:spPr>
          <a:xfrm>
            <a:off x="6858000" y="505663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analytics on department performance</a:t>
            </a:r>
            <a:endParaRPr lang="en-US" sz="1300" dirty="0"/>
          </a:p>
        </p:txBody>
      </p:sp>
      <p:pic>
        <p:nvPicPr>
          <p:cNvPr id="34" name="Image 13" descr="/home/claude/civicpulse/icons/checkCircle_F2A65A.png">
            <a:extLst>
              <a:ext uri="{FF2B5EF4-FFF2-40B4-BE49-F238E27FC236}">
                <a16:creationId xmlns:a16="http://schemas.microsoft.com/office/drawing/2014/main" id="{EA3E4B8A-E16F-DE9F-5AB2-3F8C02FF9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760720"/>
            <a:ext cx="256032" cy="256032"/>
          </a:xfrm>
          <a:prstGeom prst="rect">
            <a:avLst/>
          </a:prstGeom>
        </p:spPr>
      </p:pic>
      <p:sp>
        <p:nvSpPr>
          <p:cNvPr id="35" name="Text 19">
            <a:extLst>
              <a:ext uri="{FF2B5EF4-FFF2-40B4-BE49-F238E27FC236}">
                <a16:creationId xmlns:a16="http://schemas.microsoft.com/office/drawing/2014/main" id="{3672E473-3C0A-6D6D-B7F6-B55E9CCE4315}"/>
              </a:ext>
            </a:extLst>
          </p:cNvPr>
          <p:cNvSpPr/>
          <p:nvPr/>
        </p:nvSpPr>
        <p:spPr>
          <a:xfrm>
            <a:off x="6858000" y="567842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Super-admin view across all departments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814374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Complaint Lifecycle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submission to resolution — fully tracked at every step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2468880"/>
            <a:ext cx="960120" cy="96012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5" name="Image 0" descr="/home/claude/civicpulse/icons/clipbo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30" y="2708910"/>
            <a:ext cx="480060" cy="4800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63624" y="2377440"/>
            <a:ext cx="365760" cy="36576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63624" y="2377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5661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Submit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" y="3931920"/>
            <a:ext cx="19659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Citizen files complaint with category &amp; location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40280" y="2930652"/>
            <a:ext cx="182880" cy="36576"/>
          </a:xfrm>
          <a:prstGeom prst="rect">
            <a:avLst/>
          </a:prstGeom>
          <a:solidFill>
            <a:srgbClr val="C7D2DB"/>
          </a:solidFill>
        </p:spPr>
      </p:sp>
      <p:sp>
        <p:nvSpPr>
          <p:cNvPr id="11" name="Shape 8"/>
          <p:cNvSpPr/>
          <p:nvPr/>
        </p:nvSpPr>
        <p:spPr>
          <a:xfrm>
            <a:off x="2788920" y="2468880"/>
            <a:ext cx="960120" cy="9601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2" name="Image 1" descr="/home/claude/civicpulse/icons/cog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950" y="2708910"/>
            <a:ext cx="480060" cy="4800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38144" y="2377440"/>
            <a:ext cx="365760" cy="36576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38144" y="2377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423160" y="35661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Auto-Route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286000" y="3931920"/>
            <a:ext cx="19659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assigns to the correct department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114800" y="2930652"/>
            <a:ext cx="182880" cy="36576"/>
          </a:xfrm>
          <a:prstGeom prst="rect">
            <a:avLst/>
          </a:prstGeom>
          <a:solidFill>
            <a:srgbClr val="C7D2DB"/>
          </a:solidFill>
        </p:spPr>
      </p:sp>
      <p:sp>
        <p:nvSpPr>
          <p:cNvPr id="18" name="Shape 14"/>
          <p:cNvSpPr/>
          <p:nvPr/>
        </p:nvSpPr>
        <p:spPr>
          <a:xfrm>
            <a:off x="4663440" y="2468880"/>
            <a:ext cx="960120" cy="96012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9" name="Image 2" descr="/home/claude/civicpulse/icons/build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3470" y="2708910"/>
            <a:ext cx="480060" cy="48006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312664" y="2377440"/>
            <a:ext cx="365760" cy="36576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12664" y="2377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297680" y="35661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Review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4160520" y="3931920"/>
            <a:ext cx="19659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admin reviews &amp; assigns priority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989320" y="2930652"/>
            <a:ext cx="182880" cy="36576"/>
          </a:xfrm>
          <a:prstGeom prst="rect">
            <a:avLst/>
          </a:prstGeom>
          <a:solidFill>
            <a:srgbClr val="C7D2DB"/>
          </a:solidFill>
        </p:spPr>
      </p:sp>
      <p:sp>
        <p:nvSpPr>
          <p:cNvPr id="25" name="Shape 20"/>
          <p:cNvSpPr/>
          <p:nvPr/>
        </p:nvSpPr>
        <p:spPr>
          <a:xfrm>
            <a:off x="6537960" y="2468880"/>
            <a:ext cx="960120" cy="9601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6" name="Image 3" descr="/home/claude/civicpulse/icons/tool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7990" y="2708910"/>
            <a:ext cx="480060" cy="48006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187184" y="2377440"/>
            <a:ext cx="365760" cy="36576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187184" y="2377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172200" y="35661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Action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035040" y="3931920"/>
            <a:ext cx="19659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Field team resolves the reported issue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7863840" y="2930652"/>
            <a:ext cx="182880" cy="36576"/>
          </a:xfrm>
          <a:prstGeom prst="rect">
            <a:avLst/>
          </a:prstGeom>
          <a:solidFill>
            <a:srgbClr val="C7D2DB"/>
          </a:solidFill>
        </p:spPr>
      </p:sp>
      <p:sp>
        <p:nvSpPr>
          <p:cNvPr id="32" name="Shape 26"/>
          <p:cNvSpPr/>
          <p:nvPr/>
        </p:nvSpPr>
        <p:spPr>
          <a:xfrm>
            <a:off x="8412480" y="2468880"/>
            <a:ext cx="960120" cy="96012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33" name="Image 4" descr="/home/claude/civicpulse/icons/checkCircl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2510" y="2708910"/>
            <a:ext cx="480060" cy="48006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9061704" y="2377440"/>
            <a:ext cx="365760" cy="36576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9061704" y="2377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8046720" y="35661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Resolve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7909560" y="3931920"/>
            <a:ext cx="19659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marked resolved with proof/update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9738360" y="2930652"/>
            <a:ext cx="182880" cy="36576"/>
          </a:xfrm>
          <a:prstGeom prst="rect">
            <a:avLst/>
          </a:prstGeom>
          <a:solidFill>
            <a:srgbClr val="C7D2DB"/>
          </a:solidFill>
        </p:spPr>
      </p:sp>
      <p:sp>
        <p:nvSpPr>
          <p:cNvPr id="39" name="Shape 32"/>
          <p:cNvSpPr/>
          <p:nvPr/>
        </p:nvSpPr>
        <p:spPr>
          <a:xfrm>
            <a:off x="10287000" y="2468880"/>
            <a:ext cx="960120" cy="9601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40" name="Image 5" descr="/home/claude/civicpulse/icons/comments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7030" y="2708910"/>
            <a:ext cx="480060" cy="48006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10936224" y="2377440"/>
            <a:ext cx="365760" cy="36576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10936224" y="2377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9921240" y="35661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Feedback</a:t>
            </a:r>
            <a:endParaRPr lang="en-US" sz="1500" dirty="0"/>
          </a:p>
        </p:txBody>
      </p:sp>
      <p:sp>
        <p:nvSpPr>
          <p:cNvPr id="44" name="Text 36"/>
          <p:cNvSpPr/>
          <p:nvPr/>
        </p:nvSpPr>
        <p:spPr>
          <a:xfrm>
            <a:off x="9784080" y="3931920"/>
            <a:ext cx="19659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Citizen rates the resolution &amp; closes ticket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21295C"/>
          </a:solidFill>
        </p:spPr>
      </p:sp>
      <p:pic>
        <p:nvPicPr>
          <p:cNvPr id="46" name="Image 6" descr="/home/claude/civicpulse/icons/tachometer_F2A65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833872"/>
            <a:ext cx="365760" cy="36576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280160" y="566928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complaint carries an SLA timer — overdue tickets are auto-escalated to senior officials.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modern, scalable stack for a citizen-facing government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4F7F9"/>
          </a:solidFill>
        </p:spPr>
      </p:sp>
      <p:sp>
        <p:nvSpPr>
          <p:cNvPr id="5" name="Shape 3"/>
          <p:cNvSpPr/>
          <p:nvPr/>
        </p:nvSpPr>
        <p:spPr>
          <a:xfrm>
            <a:off x="548640" y="16459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</p:spPr>
      </p:sp>
      <p:sp>
        <p:nvSpPr>
          <p:cNvPr id="6" name="Shape 4"/>
          <p:cNvSpPr/>
          <p:nvPr/>
        </p:nvSpPr>
        <p:spPr>
          <a:xfrm>
            <a:off x="548640" y="2103120"/>
            <a:ext cx="2606040" cy="45720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7" name="Shape 5"/>
          <p:cNvSpPr/>
          <p:nvPr/>
        </p:nvSpPr>
        <p:spPr>
          <a:xfrm>
            <a:off x="1554480" y="1810512"/>
            <a:ext cx="594360" cy="5943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8" name="Image 0" descr="/home/claude/civicpulse/icons/mobile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070" y="1959102"/>
            <a:ext cx="297180" cy="2971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6060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796796" y="3108960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1" name="Text 8"/>
          <p:cNvSpPr/>
          <p:nvPr/>
        </p:nvSpPr>
        <p:spPr>
          <a:xfrm>
            <a:off x="640080" y="32735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React.js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796796" y="3794760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3" name="Text 10"/>
          <p:cNvSpPr/>
          <p:nvPr/>
        </p:nvSpPr>
        <p:spPr>
          <a:xfrm>
            <a:off x="640080" y="39593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HTML5 / CSS3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796796" y="4480560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5" name="Text 12"/>
          <p:cNvSpPr/>
          <p:nvPr/>
        </p:nvSpPr>
        <p:spPr>
          <a:xfrm>
            <a:off x="640080" y="46451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UI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383280" y="166751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4F7F9"/>
          </a:solidFill>
        </p:spPr>
      </p:sp>
      <p:sp>
        <p:nvSpPr>
          <p:cNvPr id="17" name="Shape 14"/>
          <p:cNvSpPr/>
          <p:nvPr/>
        </p:nvSpPr>
        <p:spPr>
          <a:xfrm>
            <a:off x="3383280" y="16459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</p:spPr>
      </p:sp>
      <p:sp>
        <p:nvSpPr>
          <p:cNvPr id="18" name="Shape 15"/>
          <p:cNvSpPr/>
          <p:nvPr/>
        </p:nvSpPr>
        <p:spPr>
          <a:xfrm>
            <a:off x="3383280" y="2103120"/>
            <a:ext cx="2606040" cy="4572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9" name="Shape 16"/>
          <p:cNvSpPr/>
          <p:nvPr/>
        </p:nvSpPr>
        <p:spPr>
          <a:xfrm>
            <a:off x="4389120" y="1810512"/>
            <a:ext cx="594360" cy="5943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0" name="Image 1" descr="/home/claude/civicpulse/icons/server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710" y="1959102"/>
            <a:ext cx="297180" cy="2971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383280" y="26060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BACKEND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631436" y="3108960"/>
            <a:ext cx="109728" cy="1097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3" name="Text 19"/>
          <p:cNvSpPr/>
          <p:nvPr/>
        </p:nvSpPr>
        <p:spPr>
          <a:xfrm>
            <a:off x="3474720" y="32735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631436" y="3794760"/>
            <a:ext cx="109728" cy="1097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5" name="Text 21"/>
          <p:cNvSpPr/>
          <p:nvPr/>
        </p:nvSpPr>
        <p:spPr>
          <a:xfrm>
            <a:off x="3474720" y="39593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Express.js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4631436" y="4480560"/>
            <a:ext cx="109728" cy="1097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7" name="Text 23"/>
          <p:cNvSpPr/>
          <p:nvPr/>
        </p:nvSpPr>
        <p:spPr>
          <a:xfrm>
            <a:off x="3474720" y="46451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APIs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217920" y="164592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4F7F9"/>
          </a:solidFill>
        </p:spPr>
      </p:sp>
      <p:sp>
        <p:nvSpPr>
          <p:cNvPr id="29" name="Shape 25"/>
          <p:cNvSpPr/>
          <p:nvPr/>
        </p:nvSpPr>
        <p:spPr>
          <a:xfrm>
            <a:off x="6217920" y="16459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21295C"/>
          </a:solidFill>
        </p:spPr>
      </p:sp>
      <p:sp>
        <p:nvSpPr>
          <p:cNvPr id="30" name="Shape 26"/>
          <p:cNvSpPr/>
          <p:nvPr/>
        </p:nvSpPr>
        <p:spPr>
          <a:xfrm>
            <a:off x="6217920" y="2103120"/>
            <a:ext cx="2606040" cy="457200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31" name="Shape 27"/>
          <p:cNvSpPr/>
          <p:nvPr/>
        </p:nvSpPr>
        <p:spPr>
          <a:xfrm>
            <a:off x="7223760" y="1810512"/>
            <a:ext cx="594360" cy="5943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2" name="Image 2" descr="/home/claude/civicpulse/icons/database_2129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2350" y="1959102"/>
            <a:ext cx="297180" cy="2971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217920" y="26060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DATABASE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7466076" y="3108960"/>
            <a:ext cx="109728" cy="109728"/>
          </a:xfrm>
          <a:prstGeom prst="ellipse">
            <a:avLst/>
          </a:prstGeom>
          <a:solidFill>
            <a:srgbClr val="21295C"/>
          </a:solidFill>
        </p:spPr>
      </p:sp>
      <p:sp>
        <p:nvSpPr>
          <p:cNvPr id="35" name="Text 30"/>
          <p:cNvSpPr/>
          <p:nvPr/>
        </p:nvSpPr>
        <p:spPr>
          <a:xfrm>
            <a:off x="6309360" y="32735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/ MongoDB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7466076" y="3794760"/>
            <a:ext cx="109728" cy="109728"/>
          </a:xfrm>
          <a:prstGeom prst="ellipse">
            <a:avLst/>
          </a:prstGeom>
          <a:solidFill>
            <a:srgbClr val="21295C"/>
          </a:solidFill>
        </p:spPr>
      </p:sp>
      <p:sp>
        <p:nvSpPr>
          <p:cNvPr id="37" name="Text 32"/>
          <p:cNvSpPr/>
          <p:nvPr/>
        </p:nvSpPr>
        <p:spPr>
          <a:xfrm>
            <a:off x="6309360" y="39593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Storage</a:t>
            </a:r>
            <a:endParaRPr lang="en-US" sz="1250" dirty="0"/>
          </a:p>
        </p:txBody>
      </p:sp>
      <p:sp>
        <p:nvSpPr>
          <p:cNvPr id="38" name="Shape 33"/>
          <p:cNvSpPr/>
          <p:nvPr/>
        </p:nvSpPr>
        <p:spPr>
          <a:xfrm>
            <a:off x="7466076" y="4480560"/>
            <a:ext cx="109728" cy="109728"/>
          </a:xfrm>
          <a:prstGeom prst="ellipse">
            <a:avLst/>
          </a:prstGeom>
          <a:solidFill>
            <a:srgbClr val="21295C"/>
          </a:solidFill>
        </p:spPr>
      </p:sp>
      <p:sp>
        <p:nvSpPr>
          <p:cNvPr id="39" name="Text 34"/>
          <p:cNvSpPr/>
          <p:nvPr/>
        </p:nvSpPr>
        <p:spPr>
          <a:xfrm>
            <a:off x="6309360" y="46451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Backups</a:t>
            </a:r>
            <a:endParaRPr lang="en-US" sz="1250" dirty="0"/>
          </a:p>
        </p:txBody>
      </p:sp>
      <p:sp>
        <p:nvSpPr>
          <p:cNvPr id="40" name="Shape 35"/>
          <p:cNvSpPr/>
          <p:nvPr/>
        </p:nvSpPr>
        <p:spPr>
          <a:xfrm>
            <a:off x="9052560" y="164592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4F7F9"/>
          </a:solidFill>
        </p:spPr>
      </p:sp>
      <p:sp>
        <p:nvSpPr>
          <p:cNvPr id="41" name="Shape 36"/>
          <p:cNvSpPr/>
          <p:nvPr/>
        </p:nvSpPr>
        <p:spPr>
          <a:xfrm>
            <a:off x="9052560" y="16459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</p:spPr>
      </p:sp>
      <p:sp>
        <p:nvSpPr>
          <p:cNvPr id="42" name="Shape 37"/>
          <p:cNvSpPr/>
          <p:nvPr/>
        </p:nvSpPr>
        <p:spPr>
          <a:xfrm>
            <a:off x="9052560" y="2103120"/>
            <a:ext cx="2606040" cy="45720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43" name="Shape 38"/>
          <p:cNvSpPr/>
          <p:nvPr/>
        </p:nvSpPr>
        <p:spPr>
          <a:xfrm>
            <a:off x="10058400" y="1810512"/>
            <a:ext cx="594360" cy="5943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44" name="Image 3" descr="/home/claude/civicpulse/icons/lock_065A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6990" y="1959102"/>
            <a:ext cx="297180" cy="29718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052560" y="26060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SECURITY</a:t>
            </a:r>
            <a:endParaRPr lang="en-US" sz="1300" dirty="0"/>
          </a:p>
        </p:txBody>
      </p:sp>
      <p:sp>
        <p:nvSpPr>
          <p:cNvPr id="46" name="Shape 40"/>
          <p:cNvSpPr/>
          <p:nvPr/>
        </p:nvSpPr>
        <p:spPr>
          <a:xfrm>
            <a:off x="10300716" y="3108960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47" name="Text 41"/>
          <p:cNvSpPr/>
          <p:nvPr/>
        </p:nvSpPr>
        <p:spPr>
          <a:xfrm>
            <a:off x="9144000" y="32735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Authentication</a:t>
            </a:r>
            <a:endParaRPr lang="en-US" sz="1250" dirty="0"/>
          </a:p>
        </p:txBody>
      </p:sp>
      <p:sp>
        <p:nvSpPr>
          <p:cNvPr id="48" name="Shape 42"/>
          <p:cNvSpPr/>
          <p:nvPr/>
        </p:nvSpPr>
        <p:spPr>
          <a:xfrm>
            <a:off x="10300716" y="3794760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49" name="Text 43"/>
          <p:cNvSpPr/>
          <p:nvPr/>
        </p:nvSpPr>
        <p:spPr>
          <a:xfrm>
            <a:off x="9144000" y="39593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50" name="Shape 44"/>
          <p:cNvSpPr/>
          <p:nvPr/>
        </p:nvSpPr>
        <p:spPr>
          <a:xfrm>
            <a:off x="10300716" y="4480560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51" name="Text 45"/>
          <p:cNvSpPr/>
          <p:nvPr/>
        </p:nvSpPr>
        <p:spPr>
          <a:xfrm>
            <a:off x="9144000" y="46451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Encryption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Database Design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entities that power CivicPulse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6" name="Image 0" descr="/home/claude/civicpulse/icons/us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2560320"/>
            <a:ext cx="315468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69748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user_id, name, email, phone, password_hash, address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6002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1828800"/>
            <a:ext cx="548640" cy="5486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2" name="Image 1" descr="/home/claude/civicpulse/icons/clipboar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9659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82880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Complaints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17720" y="2560320"/>
            <a:ext cx="315468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17720" y="269748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complaint_id, user_id, category, description, location, status, sla_deadline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0" y="16002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58200" y="1828800"/>
            <a:ext cx="548640" cy="5486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8" name="Image 2" descr="/home/claude/civicpulse/icons/build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9659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0" y="182880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Departments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8458200" y="2560320"/>
            <a:ext cx="315468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458200" y="269748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dept_id, name, category, contact_info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0690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77240" y="4297680"/>
            <a:ext cx="548640" cy="5486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24" name="Image 3" descr="/home/claude/civicpulse/icons/userShiel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4348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42976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Admins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777240" y="5029200"/>
            <a:ext cx="315468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77240" y="516636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admin_id, dept_id, name, role, email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89120" y="40690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617720" y="4297680"/>
            <a:ext cx="548640" cy="5486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30" name="Image 4" descr="/home/claude/civicpulse/icons/history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43484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03520" y="42976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Status Logs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4617720" y="5029200"/>
            <a:ext cx="315468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617720" y="516636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log_id, complaint_id, status, updated_by, timestamp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229600" y="40690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458200" y="4297680"/>
            <a:ext cx="548640" cy="5486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36" name="Image 5" descr="/home/claude/civicpulse/icons/comments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0" y="4434840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144000" y="42976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Feedback</a:t>
            </a:r>
            <a:endParaRPr lang="en-US" sz="1600" dirty="0"/>
          </a:p>
        </p:txBody>
      </p:sp>
      <p:sp>
        <p:nvSpPr>
          <p:cNvPr id="38" name="Shape 30"/>
          <p:cNvSpPr/>
          <p:nvPr/>
        </p:nvSpPr>
        <p:spPr>
          <a:xfrm>
            <a:off x="8458200" y="5029200"/>
            <a:ext cx="315468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8458200" y="516636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feedback_id, complaint_id, rating, comments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makes CivicPulse stand 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065A82"/>
          </a:solidFill>
        </p:spPr>
      </p:sp>
      <p:sp>
        <p:nvSpPr>
          <p:cNvPr id="5" name="Shape 3"/>
          <p:cNvSpPr/>
          <p:nvPr/>
        </p:nvSpPr>
        <p:spPr>
          <a:xfrm>
            <a:off x="2011680" y="1856232"/>
            <a:ext cx="685800" cy="6858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6" name="Image 0" descr="/home/claude/civicpulse/icons/mapMarker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130" y="2027682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974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Location-Based Routing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1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Complaints auto-assigned to the right ward / department.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1C7293"/>
          </a:solidFill>
        </p:spPr>
      </p:sp>
      <p:sp>
        <p:nvSpPr>
          <p:cNvPr id="10" name="Shape 7"/>
          <p:cNvSpPr/>
          <p:nvPr/>
        </p:nvSpPr>
        <p:spPr>
          <a:xfrm>
            <a:off x="5852160" y="1856232"/>
            <a:ext cx="685800" cy="6858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1" name="Image 1" descr="/home/claude/civicpulse/icons/bell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610" y="2027682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974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Real-Time Notifications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320040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1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SMS &amp; email alerts on every status change.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065A82"/>
          </a:solidFill>
        </p:spPr>
      </p:sp>
      <p:sp>
        <p:nvSpPr>
          <p:cNvPr id="15" name="Shape 11"/>
          <p:cNvSpPr/>
          <p:nvPr/>
        </p:nvSpPr>
        <p:spPr>
          <a:xfrm>
            <a:off x="9692640" y="1856232"/>
            <a:ext cx="685800" cy="6858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6" name="Image 2" descr="/home/claude/civicpulse/icons/tachometer_065A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4090" y="2027682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6974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SLA &amp; Escalation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03920" y="320040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1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escalation when deadlines are missed.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1C7293"/>
          </a:solidFill>
        </p:spPr>
      </p:sp>
      <p:sp>
        <p:nvSpPr>
          <p:cNvPr id="20" name="Shape 15"/>
          <p:cNvSpPr/>
          <p:nvPr/>
        </p:nvSpPr>
        <p:spPr>
          <a:xfrm>
            <a:off x="2011680" y="4325112"/>
            <a:ext cx="685800" cy="6858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1" name="Image 3" descr="/home/claude/civicpulse/icons/chartLine_1C729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3130" y="4496562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516636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Analytics Dashboard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566928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1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insights into complaint volume &amp; resolution time.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40690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065A82"/>
          </a:solidFill>
        </p:spPr>
      </p:sp>
      <p:sp>
        <p:nvSpPr>
          <p:cNvPr id="25" name="Shape 19"/>
          <p:cNvSpPr/>
          <p:nvPr/>
        </p:nvSpPr>
        <p:spPr>
          <a:xfrm>
            <a:off x="5852160" y="4325112"/>
            <a:ext cx="685800" cy="6858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6" name="Image 4" descr="/home/claude/civicpulse/icons/comments_065A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3610" y="4496562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516636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Citizen Feedback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63440" y="566928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1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 ratings &amp; comments after resolution.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29600" y="40690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1C7293"/>
          </a:solidFill>
        </p:spPr>
      </p:sp>
      <p:sp>
        <p:nvSpPr>
          <p:cNvPr id="30" name="Shape 23"/>
          <p:cNvSpPr/>
          <p:nvPr/>
        </p:nvSpPr>
        <p:spPr>
          <a:xfrm>
            <a:off x="9692640" y="4325112"/>
            <a:ext cx="685800" cy="6858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1" name="Image 5" descr="/home/claude/civicpulse/icons/shieldAlt_1C729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4090" y="4496562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0" y="516636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Secure Role-Based Access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503920" y="566928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1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Separate, protected logins for citizens &amp; officials.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Benefits &amp; 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45920"/>
            <a:ext cx="594360" cy="59436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5" name="Image 0" descr="/home/claude/civicpulse/icons/checkCirc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17945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9164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Benefits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68680" y="2496312"/>
            <a:ext cx="128016" cy="128016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8" name="Text 5"/>
          <p:cNvSpPr/>
          <p:nvPr/>
        </p:nvSpPr>
        <p:spPr>
          <a:xfrm>
            <a:off x="1143000" y="235000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complaint resolution through automated routing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3273552"/>
            <a:ext cx="128016" cy="128016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0" name="Text 7"/>
          <p:cNvSpPr/>
          <p:nvPr/>
        </p:nvSpPr>
        <p:spPr>
          <a:xfrm>
            <a:off x="1143000" y="312724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Greater transparency &amp; trust between citizens and government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4050792"/>
            <a:ext cx="128016" cy="128016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2" name="Text 9"/>
          <p:cNvSpPr/>
          <p:nvPr/>
        </p:nvSpPr>
        <p:spPr>
          <a:xfrm>
            <a:off x="1143000" y="390448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administrative overhead for departments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8680" y="4828032"/>
            <a:ext cx="128016" cy="128016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4" name="Text 11"/>
          <p:cNvSpPr/>
          <p:nvPr/>
        </p:nvSpPr>
        <p:spPr>
          <a:xfrm>
            <a:off x="1143000" y="468172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Data-backed decisions using analytics dashboards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8680" y="5605272"/>
            <a:ext cx="128016" cy="128016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6" name="Text 13"/>
          <p:cNvSpPr/>
          <p:nvPr/>
        </p:nvSpPr>
        <p:spPr>
          <a:xfrm>
            <a:off x="1143000" y="545896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citizen satisfaction and civic engagement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172200" y="137160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92240" y="1645920"/>
            <a:ext cx="594360" cy="594360"/>
          </a:xfrm>
          <a:prstGeom prst="ellipse">
            <a:avLst/>
          </a:prstGeom>
          <a:solidFill>
            <a:srgbClr val="F2A65A"/>
          </a:solidFill>
        </p:spPr>
      </p:sp>
      <p:pic>
        <p:nvPicPr>
          <p:cNvPr id="19" name="Image 1" descr="/home/claude/civicpulse/icons/cloud_2129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1794510"/>
            <a:ext cx="297180" cy="2971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23760" y="169164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6492240" y="2496312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2" name="Text 18"/>
          <p:cNvSpPr/>
          <p:nvPr/>
        </p:nvSpPr>
        <p:spPr>
          <a:xfrm>
            <a:off x="6766560" y="235000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AI-based auto-categorization &amp; priority prediction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492240" y="3273552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4" name="Text 20"/>
          <p:cNvSpPr/>
          <p:nvPr/>
        </p:nvSpPr>
        <p:spPr>
          <a:xfrm>
            <a:off x="6766560" y="312724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GIS heat-maps of complaint density by area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492240" y="4050792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6" name="Text 22"/>
          <p:cNvSpPr/>
          <p:nvPr/>
        </p:nvSpPr>
        <p:spPr>
          <a:xfrm>
            <a:off x="6766560" y="390448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Chatbot for instant citizen query resolution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492240" y="4828032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8" name="Text 24"/>
          <p:cNvSpPr/>
          <p:nvPr/>
        </p:nvSpPr>
        <p:spPr>
          <a:xfrm>
            <a:off x="6766560" y="468172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 with municipal payment &amp; billing systems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6492240" y="5605272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30" name="Text 26"/>
          <p:cNvSpPr/>
          <p:nvPr/>
        </p:nvSpPr>
        <p:spPr>
          <a:xfrm>
            <a:off x="6766560" y="545896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Multi-language support for wider accessibility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532120" y="1005840"/>
            <a:ext cx="1097280" cy="10972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5" name="Image 0" descr="/home/claude/civicpulse/icons/checkCirc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1252728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3774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CivicPulse bridges the gap between citizens and government —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288036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making complaint resolution faster, transparent, and accountable.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760720" y="3703320"/>
            <a:ext cx="640080" cy="45720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9" name="Text 6"/>
          <p:cNvSpPr/>
          <p:nvPr/>
        </p:nvSpPr>
        <p:spPr>
          <a:xfrm>
            <a:off x="1371600" y="4114800"/>
            <a:ext cx="9418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1371600" y="48920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532120" y="685800"/>
            <a:ext cx="1097280" cy="10972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5" name="Image 0" descr="/home/claude/civicpulse/icons/checkCirc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932688"/>
            <a:ext cx="603504" cy="6035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43100"/>
            <a:ext cx="9418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760720" y="2789540"/>
            <a:ext cx="640080" cy="45720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6" name="Text 3"/>
          <p:cNvSpPr/>
          <p:nvPr/>
        </p:nvSpPr>
        <p:spPr>
          <a:xfrm>
            <a:off x="1600200" y="3200400"/>
            <a:ext cx="89916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CivicPulse solves a real problem — slow, opaque civic complaint handling — by giving citizens a transparent, trackable platform and giving governments an accountable, data-driven way to manage it.</a:t>
            </a:r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It’s built to scale, with room to grow through AI categorization, GIS mapping, and multi-language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1563</Words>
  <Application>Microsoft Office PowerPoint</Application>
  <PresentationFormat>Widescreen</PresentationFormat>
  <Paragraphs>244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MOHANA DOKARA</cp:lastModifiedBy>
  <cp:revision>4</cp:revision>
  <dcterms:created xsi:type="dcterms:W3CDTF">2026-07-23T09:10:00Z</dcterms:created>
  <dcterms:modified xsi:type="dcterms:W3CDTF">2026-09-07T00:59:27Z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1639C6D3A67A4F7981D9B2E4D2439C7F_12</vt:lpwstr>
  </property>
  <property fmtid="{D5CDD505-2E9C-101B-9397-08002B2CF9AE}" pid="3" name="KSOProductBuildVer">
    <vt:lpwstr>1033-12.1.0.27458</vt:lpwstr>
  </property>
</Properties>
</file>