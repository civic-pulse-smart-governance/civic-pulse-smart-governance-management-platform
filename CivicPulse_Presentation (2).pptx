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9" r:id="rId8"/>
    <p:sldId id="270" r:id="rId9"/>
    <p:sldId id="268" r:id="rId10"/>
    <p:sldId id="262" r:id="rId11"/>
    <p:sldId id="263" r:id="rId12"/>
    <p:sldId id="264" r:id="rId13"/>
    <p:sldId id="265" r:id="rId14"/>
    <p:sldId id="266" r:id="rId15"/>
    <p:sldId id="267" r:id="rId16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B4B5B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>
        <p:scale>
          <a:sx n="50" d="100"/>
          <a:sy n="50" d="100"/>
        </p:scale>
        <p:origin x="1906" y="7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9/7/2026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12D7B4-791B-0BF0-C6C4-B6BD053221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2A3804C-0629-3F23-4CBB-6B28CADEBCB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2E1FAC3-BB62-6ABB-490D-624D941401B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E723031-4C23-2304-5403-3DCA1393F2E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994844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55AA9C-EA9B-7724-33B1-DEDC7A538D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82FB635-54C9-B44B-BC8E-596C5B81A7E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8E4788F-2152-E2B6-DA90-D2D93A769C2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93A8AC4-3151-34C0-4CBF-CEEA7C40631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950573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DF9409-D110-1171-9FCD-ACD61A8477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10CC346-E399-AD51-1794-26FD5953543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67D214A-7508-0051-4742-8CD21AFE08F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B1CBD92-F00F-C8D0-BAC2-7E0563452C4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594918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1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5.png"/><Relationship Id="rId7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13" Type="http://schemas.openxmlformats.org/officeDocument/2006/relationships/image" Target="../media/image15.png"/><Relationship Id="rId3" Type="http://schemas.openxmlformats.org/officeDocument/2006/relationships/image" Target="../media/image5.png"/><Relationship Id="rId7" Type="http://schemas.openxmlformats.org/officeDocument/2006/relationships/image" Target="../media/image11.png"/><Relationship Id="rId12" Type="http://schemas.openxmlformats.org/officeDocument/2006/relationships/image" Target="../media/image14.png"/><Relationship Id="rId2" Type="http://schemas.openxmlformats.org/officeDocument/2006/relationships/notesSlide" Target="../notesSlides/notesSlide5.xml"/><Relationship Id="rId16" Type="http://schemas.openxmlformats.org/officeDocument/2006/relationships/image" Target="../media/image17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11" Type="http://schemas.openxmlformats.org/officeDocument/2006/relationships/image" Target="../media/image13.png"/><Relationship Id="rId5" Type="http://schemas.openxmlformats.org/officeDocument/2006/relationships/image" Target="../media/image9.png"/><Relationship Id="rId15" Type="http://schemas.openxmlformats.org/officeDocument/2006/relationships/image" Target="../media/image16.png"/><Relationship Id="rId10" Type="http://schemas.openxmlformats.org/officeDocument/2006/relationships/image" Target="../media/image12.png"/><Relationship Id="rId4" Type="http://schemas.openxmlformats.org/officeDocument/2006/relationships/image" Target="../media/image8.png"/><Relationship Id="rId9" Type="http://schemas.openxmlformats.org/officeDocument/2006/relationships/image" Target="../media/image7.png"/><Relationship Id="rId14" Type="http://schemas.openxmlformats.org/officeDocument/2006/relationships/image" Target="../media/image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8.png"/><Relationship Id="rId4" Type="http://schemas.openxmlformats.org/officeDocument/2006/relationships/image" Target="../media/image19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0.png"/><Relationship Id="rId5" Type="http://schemas.openxmlformats.org/officeDocument/2006/relationships/image" Target="../media/image8.png"/><Relationship Id="rId4" Type="http://schemas.openxmlformats.org/officeDocument/2006/relationships/image" Target="../media/image19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7" Type="http://schemas.openxmlformats.org/officeDocument/2006/relationships/image" Target="../media/image2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1.png"/><Relationship Id="rId5" Type="http://schemas.openxmlformats.org/officeDocument/2006/relationships/image" Target="../media/image8.png"/><Relationship Id="rId4" Type="http://schemas.openxmlformats.org/officeDocument/2006/relationships/image" Target="../media/image19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8.png"/><Relationship Id="rId4" Type="http://schemas.openxmlformats.org/officeDocument/2006/relationships/image" Target="../media/image19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png"/><Relationship Id="rId3" Type="http://schemas.openxmlformats.org/officeDocument/2006/relationships/image" Target="../media/image10.png"/><Relationship Id="rId7" Type="http://schemas.openxmlformats.org/officeDocument/2006/relationships/image" Target="../media/image19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3.png"/><Relationship Id="rId5" Type="http://schemas.openxmlformats.org/officeDocument/2006/relationships/image" Target="../media/image1.png"/><Relationship Id="rId4" Type="http://schemas.openxmlformats.org/officeDocument/2006/relationships/image" Target="../media/image6.png"/><Relationship Id="rId9" Type="http://schemas.openxmlformats.org/officeDocument/2006/relationships/image" Target="../media/image7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16.png"/><Relationship Id="rId4" Type="http://schemas.openxmlformats.org/officeDocument/2006/relationships/image" Target="../media/image25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png"/><Relationship Id="rId3" Type="http://schemas.openxmlformats.org/officeDocument/2006/relationships/image" Target="../media/image18.png"/><Relationship Id="rId7" Type="http://schemas.openxmlformats.org/officeDocument/2006/relationships/image" Target="../media/image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1.png"/><Relationship Id="rId4" Type="http://schemas.openxmlformats.org/officeDocument/2006/relationships/image" Target="../media/image10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png"/><Relationship Id="rId3" Type="http://schemas.openxmlformats.org/officeDocument/2006/relationships/image" Target="../media/image26.png"/><Relationship Id="rId7" Type="http://schemas.openxmlformats.org/officeDocument/2006/relationships/image" Target="../media/image24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7.png"/><Relationship Id="rId4" Type="http://schemas.openxmlformats.org/officeDocument/2006/relationships/image" Target="../media/image11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7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129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961120" y="-2286000"/>
            <a:ext cx="6400800" cy="6400800"/>
          </a:xfrm>
          <a:prstGeom prst="ellipse">
            <a:avLst/>
          </a:prstGeom>
          <a:solidFill>
            <a:srgbClr val="065A82">
              <a:alpha val="30000"/>
            </a:srgbClr>
          </a:solidFill>
        </p:spPr>
      </p:sp>
      <p:sp>
        <p:nvSpPr>
          <p:cNvPr id="3" name="Shape 1"/>
          <p:cNvSpPr/>
          <p:nvPr/>
        </p:nvSpPr>
        <p:spPr>
          <a:xfrm>
            <a:off x="-2286000" y="4114800"/>
            <a:ext cx="4572000" cy="4572000"/>
          </a:xfrm>
          <a:prstGeom prst="ellipse">
            <a:avLst/>
          </a:prstGeom>
          <a:solidFill>
            <a:srgbClr val="1C7293">
              <a:alpha val="30000"/>
            </a:srgbClr>
          </a:solidFill>
        </p:spPr>
      </p:sp>
      <p:sp>
        <p:nvSpPr>
          <p:cNvPr id="4" name="Shape 2"/>
          <p:cNvSpPr/>
          <p:nvPr/>
        </p:nvSpPr>
        <p:spPr>
          <a:xfrm>
            <a:off x="822960" y="914400"/>
            <a:ext cx="1005840" cy="1005840"/>
          </a:xfrm>
          <a:prstGeom prst="ellipse">
            <a:avLst/>
          </a:prstGeom>
          <a:solidFill>
            <a:srgbClr val="065A82"/>
          </a:solidFill>
        </p:spPr>
      </p:sp>
      <p:pic>
        <p:nvPicPr>
          <p:cNvPr id="5" name="Image 0" descr="/home/claude/civicpulse/icons/building_FFFF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9274" y="1140714"/>
            <a:ext cx="553212" cy="55321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77240" y="2148840"/>
            <a:ext cx="9144000" cy="10058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4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CivicPulse</a:t>
            </a:r>
            <a:endParaRPr lang="en-US" sz="5400" dirty="0"/>
          </a:p>
        </p:txBody>
      </p:sp>
      <p:sp>
        <p:nvSpPr>
          <p:cNvPr id="7" name="Text 4"/>
          <p:cNvSpPr/>
          <p:nvPr/>
        </p:nvSpPr>
        <p:spPr>
          <a:xfrm>
            <a:off x="975359" y="3294126"/>
            <a:ext cx="7530465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CADCF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Smart Governance Management Platform for Administrative Operations with Citizen Service Assistance</a:t>
            </a:r>
            <a:endParaRPr lang="en-US" sz="2200" dirty="0"/>
          </a:p>
        </p:txBody>
      </p:sp>
      <p:sp>
        <p:nvSpPr>
          <p:cNvPr id="8" name="Shape 5"/>
          <p:cNvSpPr/>
          <p:nvPr/>
        </p:nvSpPr>
        <p:spPr>
          <a:xfrm>
            <a:off x="822960" y="4066794"/>
            <a:ext cx="502920" cy="96012"/>
          </a:xfrm>
          <a:prstGeom prst="rect">
            <a:avLst/>
          </a:prstGeom>
          <a:solidFill>
            <a:srgbClr val="F2A65A"/>
          </a:solidFill>
        </p:spPr>
      </p:sp>
      <p:sp>
        <p:nvSpPr>
          <p:cNvPr id="10" name="Text 7"/>
          <p:cNvSpPr/>
          <p:nvPr/>
        </p:nvSpPr>
        <p:spPr>
          <a:xfrm>
            <a:off x="822960" y="5989320"/>
            <a:ext cx="54864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8393A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Internship Project Presentation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822960" y="6309360"/>
            <a:ext cx="54864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7C9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Department of Computer Science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21295C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The Problem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749808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C70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Civic complaint redressal in most cities is slow, opaque, and disconnected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349240" cy="2331720"/>
          </a:xfrm>
          <a:prstGeom prst="roundRect">
            <a:avLst>
              <a:gd name="adj" fmla="val 3137"/>
            </a:avLst>
          </a:prstGeom>
          <a:solidFill>
            <a:srgbClr val="F4F7F9"/>
          </a:solidFill>
        </p:spPr>
      </p:sp>
      <p:sp>
        <p:nvSpPr>
          <p:cNvPr id="5" name="Shape 3"/>
          <p:cNvSpPr/>
          <p:nvPr/>
        </p:nvSpPr>
        <p:spPr>
          <a:xfrm>
            <a:off x="822960" y="1965960"/>
            <a:ext cx="640080" cy="640080"/>
          </a:xfrm>
          <a:prstGeom prst="ellipse">
            <a:avLst/>
          </a:prstGeom>
          <a:solidFill>
            <a:srgbClr val="065A82"/>
          </a:solidFill>
        </p:spPr>
      </p:sp>
      <p:pic>
        <p:nvPicPr>
          <p:cNvPr id="6" name="Image 0" descr="/home/claude/civicpulse/icons/warning_FFFF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2980" y="2125980"/>
            <a:ext cx="320040" cy="32004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45920" y="1965960"/>
            <a:ext cx="397764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1295C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No Central Platform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822960" y="2743200"/>
            <a:ext cx="4800600" cy="10972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5C70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Citizens rely on phone calls, in-person visits, or scattered portals for different departments.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6172200" y="1691640"/>
            <a:ext cx="5349240" cy="2331720"/>
          </a:xfrm>
          <a:prstGeom prst="roundRect">
            <a:avLst>
              <a:gd name="adj" fmla="val 3137"/>
            </a:avLst>
          </a:prstGeom>
          <a:solidFill>
            <a:srgbClr val="F4F7F9"/>
          </a:solidFill>
        </p:spPr>
      </p:sp>
      <p:sp>
        <p:nvSpPr>
          <p:cNvPr id="10" name="Shape 7"/>
          <p:cNvSpPr/>
          <p:nvPr/>
        </p:nvSpPr>
        <p:spPr>
          <a:xfrm>
            <a:off x="6446520" y="1965960"/>
            <a:ext cx="640080" cy="640080"/>
          </a:xfrm>
          <a:prstGeom prst="ellipse">
            <a:avLst/>
          </a:prstGeom>
          <a:solidFill>
            <a:srgbClr val="065A82"/>
          </a:solidFill>
        </p:spPr>
      </p:sp>
      <p:pic>
        <p:nvPicPr>
          <p:cNvPr id="11" name="Image 1" descr="/home/claude/civicpulse/icons/history_FFFFF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06540" y="2125980"/>
            <a:ext cx="320040" cy="32004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269480" y="1965960"/>
            <a:ext cx="397764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1295C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No Status Visibility</a:t>
            </a:r>
            <a:endParaRPr lang="en-US" sz="1700" dirty="0"/>
          </a:p>
        </p:txBody>
      </p:sp>
      <p:sp>
        <p:nvSpPr>
          <p:cNvPr id="13" name="Text 9"/>
          <p:cNvSpPr/>
          <p:nvPr/>
        </p:nvSpPr>
        <p:spPr>
          <a:xfrm>
            <a:off x="6446520" y="2743200"/>
            <a:ext cx="4800600" cy="10972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5C70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Once filed, complaints vanish into a black box with no tracking or expected timeline.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548640" y="4251960"/>
            <a:ext cx="5349240" cy="2331720"/>
          </a:xfrm>
          <a:prstGeom prst="roundRect">
            <a:avLst>
              <a:gd name="adj" fmla="val 3137"/>
            </a:avLst>
          </a:prstGeom>
          <a:solidFill>
            <a:srgbClr val="F4F7F9"/>
          </a:solidFill>
        </p:spPr>
      </p:sp>
      <p:sp>
        <p:nvSpPr>
          <p:cNvPr id="15" name="Shape 11"/>
          <p:cNvSpPr/>
          <p:nvPr/>
        </p:nvSpPr>
        <p:spPr>
          <a:xfrm>
            <a:off x="822960" y="4526280"/>
            <a:ext cx="640080" cy="640080"/>
          </a:xfrm>
          <a:prstGeom prst="ellipse">
            <a:avLst/>
          </a:prstGeom>
          <a:solidFill>
            <a:srgbClr val="065A82"/>
          </a:solidFill>
        </p:spPr>
      </p:sp>
      <p:pic>
        <p:nvPicPr>
          <p:cNvPr id="16" name="Image 2" descr="/home/claude/civicpulse/icons/building_FFFFFF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82980" y="4686300"/>
            <a:ext cx="320040" cy="32004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645920" y="4526280"/>
            <a:ext cx="397764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1295C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Manual Routing</a:t>
            </a:r>
            <a:endParaRPr lang="en-US" sz="1700" dirty="0"/>
          </a:p>
        </p:txBody>
      </p:sp>
      <p:sp>
        <p:nvSpPr>
          <p:cNvPr id="18" name="Text 13"/>
          <p:cNvSpPr/>
          <p:nvPr/>
        </p:nvSpPr>
        <p:spPr>
          <a:xfrm>
            <a:off x="822960" y="5303520"/>
            <a:ext cx="4800600" cy="10972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5C70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Staff manually forward complaints to the correct department, causing delays and errors.</a:t>
            </a:r>
            <a:endParaRPr lang="en-US" sz="1300" dirty="0"/>
          </a:p>
        </p:txBody>
      </p:sp>
      <p:sp>
        <p:nvSpPr>
          <p:cNvPr id="19" name="Shape 14"/>
          <p:cNvSpPr/>
          <p:nvPr/>
        </p:nvSpPr>
        <p:spPr>
          <a:xfrm>
            <a:off x="6172200" y="4251960"/>
            <a:ext cx="5349240" cy="2331720"/>
          </a:xfrm>
          <a:prstGeom prst="roundRect">
            <a:avLst>
              <a:gd name="adj" fmla="val 3137"/>
            </a:avLst>
          </a:prstGeom>
          <a:solidFill>
            <a:srgbClr val="F4F7F9"/>
          </a:solidFill>
        </p:spPr>
      </p:sp>
      <p:sp>
        <p:nvSpPr>
          <p:cNvPr id="20" name="Shape 15"/>
          <p:cNvSpPr/>
          <p:nvPr/>
        </p:nvSpPr>
        <p:spPr>
          <a:xfrm>
            <a:off x="6446520" y="4526280"/>
            <a:ext cx="640080" cy="640080"/>
          </a:xfrm>
          <a:prstGeom prst="ellipse">
            <a:avLst/>
          </a:prstGeom>
          <a:solidFill>
            <a:srgbClr val="065A82"/>
          </a:solidFill>
        </p:spPr>
      </p:sp>
      <p:pic>
        <p:nvPicPr>
          <p:cNvPr id="21" name="Image 3" descr="/home/claude/civicpulse/icons/chartLine_FFFFFF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06540" y="4686300"/>
            <a:ext cx="320040" cy="32004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269480" y="4526280"/>
            <a:ext cx="397764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1295C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No Accountability Data</a:t>
            </a:r>
            <a:endParaRPr lang="en-US" sz="1700" dirty="0"/>
          </a:p>
        </p:txBody>
      </p:sp>
      <p:sp>
        <p:nvSpPr>
          <p:cNvPr id="23" name="Text 17"/>
          <p:cNvSpPr/>
          <p:nvPr/>
        </p:nvSpPr>
        <p:spPr>
          <a:xfrm>
            <a:off x="6446520" y="5303520"/>
            <a:ext cx="4800600" cy="10972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5C70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Governments lack analytics to identify recurring issues or measure department performance.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21295C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Project Objectives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73152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C70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What CivicPulse sets out to achieve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3611880" cy="233172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effectLst>
            <a:outerShdw blurRad="76200" dist="25400" dir="5400000" algn="bl" rotWithShape="0">
              <a:srgbClr val="1A2B3C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011680" y="1856232"/>
            <a:ext cx="685800" cy="685800"/>
          </a:xfrm>
          <a:prstGeom prst="ellipse">
            <a:avLst/>
          </a:prstGeom>
          <a:solidFill>
            <a:srgbClr val="1C7293"/>
          </a:solidFill>
        </p:spPr>
      </p:sp>
      <p:pic>
        <p:nvPicPr>
          <p:cNvPr id="6" name="Image 0" descr="/home/claude/civicpulse/icons/mobile_FFFF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83130" y="2027682"/>
            <a:ext cx="342900" cy="3429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31520" y="2697480"/>
            <a:ext cx="324612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21295C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Unified Citizen Access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777240" y="3200400"/>
            <a:ext cx="3154680" cy="685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C70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Single portal for citizens to file, track, and rate complaints.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4389120" y="1600200"/>
            <a:ext cx="3611880" cy="233172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effectLst>
            <a:outerShdw blurRad="76200" dist="25400" dir="5400000" algn="bl" rotWithShape="0">
              <a:srgbClr val="1A2B3C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5852160" y="1856232"/>
            <a:ext cx="685800" cy="685800"/>
          </a:xfrm>
          <a:prstGeom prst="ellipse">
            <a:avLst/>
          </a:prstGeom>
          <a:solidFill>
            <a:srgbClr val="1C7293"/>
          </a:solidFill>
        </p:spPr>
      </p:sp>
      <p:pic>
        <p:nvPicPr>
          <p:cNvPr id="11" name="Image 1" descr="/home/claude/civicpulse/icons/cogs_FFFFF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23610" y="2027682"/>
            <a:ext cx="342900" cy="34290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572000" y="2697480"/>
            <a:ext cx="324612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21295C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Automated Routing</a:t>
            </a:r>
            <a:endParaRPr lang="en-US" sz="1500" dirty="0"/>
          </a:p>
        </p:txBody>
      </p:sp>
      <p:sp>
        <p:nvSpPr>
          <p:cNvPr id="13" name="Text 9"/>
          <p:cNvSpPr/>
          <p:nvPr/>
        </p:nvSpPr>
        <p:spPr>
          <a:xfrm>
            <a:off x="4617720" y="3200400"/>
            <a:ext cx="3154680" cy="685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C70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Route complaints to the right government body by category &amp; location.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8229600" y="1600200"/>
            <a:ext cx="3611880" cy="233172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effectLst>
            <a:outerShdw blurRad="76200" dist="25400" dir="5400000" algn="bl" rotWithShape="0">
              <a:srgbClr val="1A2B3C">
                <a:alpha val="12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9692640" y="1856232"/>
            <a:ext cx="685800" cy="685800"/>
          </a:xfrm>
          <a:prstGeom prst="ellipse">
            <a:avLst/>
          </a:prstGeom>
          <a:solidFill>
            <a:srgbClr val="1C7293"/>
          </a:solidFill>
        </p:spPr>
      </p:sp>
      <p:pic>
        <p:nvPicPr>
          <p:cNvPr id="16" name="Image 2" descr="/home/claude/civicpulse/icons/tachometer_FFFFFF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864090" y="2027682"/>
            <a:ext cx="342900" cy="34290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412480" y="2697480"/>
            <a:ext cx="324612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21295C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SLA-Based Tracking</a:t>
            </a:r>
            <a:endParaRPr lang="en-US" sz="1500" dirty="0"/>
          </a:p>
        </p:txBody>
      </p:sp>
      <p:sp>
        <p:nvSpPr>
          <p:cNvPr id="18" name="Text 13"/>
          <p:cNvSpPr/>
          <p:nvPr/>
        </p:nvSpPr>
        <p:spPr>
          <a:xfrm>
            <a:off x="8458200" y="3200400"/>
            <a:ext cx="3154680" cy="685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C70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Set resolution timelines and flag overdue complaints automatically.</a:t>
            </a:r>
            <a:endParaRPr lang="en-US" sz="1200" dirty="0"/>
          </a:p>
        </p:txBody>
      </p:sp>
      <p:sp>
        <p:nvSpPr>
          <p:cNvPr id="19" name="Shape 14"/>
          <p:cNvSpPr/>
          <p:nvPr/>
        </p:nvSpPr>
        <p:spPr>
          <a:xfrm>
            <a:off x="548640" y="4160520"/>
            <a:ext cx="3611880" cy="233172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effectLst>
            <a:outerShdw blurRad="76200" dist="25400" dir="5400000" algn="bl" rotWithShape="0">
              <a:srgbClr val="1A2B3C">
                <a:alpha val="12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2011680" y="4416552"/>
            <a:ext cx="685800" cy="685800"/>
          </a:xfrm>
          <a:prstGeom prst="ellipse">
            <a:avLst/>
          </a:prstGeom>
          <a:solidFill>
            <a:srgbClr val="1C7293"/>
          </a:solidFill>
        </p:spPr>
      </p:sp>
      <p:pic>
        <p:nvPicPr>
          <p:cNvPr id="21" name="Image 3" descr="/home/claude/civicpulse/icons/userShield_FFFFFF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183130" y="4588002"/>
            <a:ext cx="342900" cy="34290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31520" y="5257800"/>
            <a:ext cx="324612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21295C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Admin Oversight</a:t>
            </a:r>
            <a:endParaRPr lang="en-US" sz="1500" dirty="0"/>
          </a:p>
        </p:txBody>
      </p:sp>
      <p:sp>
        <p:nvSpPr>
          <p:cNvPr id="23" name="Text 17"/>
          <p:cNvSpPr/>
          <p:nvPr/>
        </p:nvSpPr>
        <p:spPr>
          <a:xfrm>
            <a:off x="777240" y="5760720"/>
            <a:ext cx="3154680" cy="685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C70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Give department admins tools to review, act on, and close complaints.</a:t>
            </a:r>
            <a:endParaRPr lang="en-US" sz="1200" dirty="0"/>
          </a:p>
        </p:txBody>
      </p:sp>
      <p:sp>
        <p:nvSpPr>
          <p:cNvPr id="24" name="Shape 18"/>
          <p:cNvSpPr/>
          <p:nvPr/>
        </p:nvSpPr>
        <p:spPr>
          <a:xfrm>
            <a:off x="4389120" y="4160520"/>
            <a:ext cx="3611880" cy="233172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effectLst>
            <a:outerShdw blurRad="76200" dist="25400" dir="5400000" algn="bl" rotWithShape="0">
              <a:srgbClr val="1A2B3C">
                <a:alpha val="12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5852160" y="4416552"/>
            <a:ext cx="685800" cy="685800"/>
          </a:xfrm>
          <a:prstGeom prst="ellipse">
            <a:avLst/>
          </a:prstGeom>
          <a:solidFill>
            <a:srgbClr val="1C7293"/>
          </a:solidFill>
        </p:spPr>
      </p:sp>
      <p:pic>
        <p:nvPicPr>
          <p:cNvPr id="26" name="Image 4" descr="/home/claude/civicpulse/icons/chartLine_FFFFFF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023610" y="4588002"/>
            <a:ext cx="342900" cy="342900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4572000" y="5257800"/>
            <a:ext cx="324612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21295C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Data-Driven Insight</a:t>
            </a:r>
            <a:endParaRPr lang="en-US" sz="1500" dirty="0"/>
          </a:p>
        </p:txBody>
      </p:sp>
      <p:sp>
        <p:nvSpPr>
          <p:cNvPr id="28" name="Text 21"/>
          <p:cNvSpPr/>
          <p:nvPr/>
        </p:nvSpPr>
        <p:spPr>
          <a:xfrm>
            <a:off x="4617720" y="5760720"/>
            <a:ext cx="3154680" cy="685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C70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Dashboards revealing hotspots, response times, and satisfaction.</a:t>
            </a:r>
            <a:endParaRPr lang="en-US" sz="1200" dirty="0"/>
          </a:p>
        </p:txBody>
      </p:sp>
      <p:sp>
        <p:nvSpPr>
          <p:cNvPr id="29" name="Shape 22"/>
          <p:cNvSpPr/>
          <p:nvPr/>
        </p:nvSpPr>
        <p:spPr>
          <a:xfrm>
            <a:off x="8229600" y="4160520"/>
            <a:ext cx="3611880" cy="233172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effectLst>
            <a:outerShdw blurRad="76200" dist="25400" dir="5400000" algn="bl" rotWithShape="0">
              <a:srgbClr val="1A2B3C">
                <a:alpha val="12000"/>
              </a:srgbClr>
            </a:outerShdw>
          </a:effectLst>
        </p:spPr>
      </p:sp>
      <p:sp>
        <p:nvSpPr>
          <p:cNvPr id="30" name="Shape 23"/>
          <p:cNvSpPr/>
          <p:nvPr/>
        </p:nvSpPr>
        <p:spPr>
          <a:xfrm>
            <a:off x="9692640" y="4416552"/>
            <a:ext cx="685800" cy="685800"/>
          </a:xfrm>
          <a:prstGeom prst="ellipse">
            <a:avLst/>
          </a:prstGeom>
          <a:solidFill>
            <a:srgbClr val="1C7293"/>
          </a:solidFill>
        </p:spPr>
      </p:sp>
      <p:pic>
        <p:nvPicPr>
          <p:cNvPr id="31" name="Image 5" descr="/home/claude/civicpulse/icons/lock_FFFFFF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864090" y="4588002"/>
            <a:ext cx="342900" cy="342900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8412480" y="5257800"/>
            <a:ext cx="324612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21295C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Secure Access Control</a:t>
            </a:r>
            <a:endParaRPr lang="en-US" sz="1500" dirty="0"/>
          </a:p>
        </p:txBody>
      </p:sp>
      <p:sp>
        <p:nvSpPr>
          <p:cNvPr id="33" name="Text 25"/>
          <p:cNvSpPr/>
          <p:nvPr/>
        </p:nvSpPr>
        <p:spPr>
          <a:xfrm>
            <a:off x="8458200" y="5760720"/>
            <a:ext cx="3154680" cy="685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C70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Role-based login separating citizen and government access.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1295C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Existing vs. Proposed System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5349240" cy="4846320"/>
          </a:xfrm>
          <a:prstGeom prst="roundRect">
            <a:avLst>
              <a:gd name="adj" fmla="val 1509"/>
            </a:avLst>
          </a:prstGeom>
          <a:solidFill>
            <a:srgbClr val="EDEFF2"/>
          </a:solidFill>
        </p:spPr>
      </p:sp>
      <p:sp>
        <p:nvSpPr>
          <p:cNvPr id="4" name="Text 2"/>
          <p:cNvSpPr/>
          <p:nvPr/>
        </p:nvSpPr>
        <p:spPr>
          <a:xfrm>
            <a:off x="548640" y="1645920"/>
            <a:ext cx="534924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5C7080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Existing System</a:t>
            </a:r>
            <a:endParaRPr lang="en-US" sz="1900" dirty="0"/>
          </a:p>
        </p:txBody>
      </p:sp>
      <p:sp>
        <p:nvSpPr>
          <p:cNvPr id="5" name="Shape 3"/>
          <p:cNvSpPr/>
          <p:nvPr/>
        </p:nvSpPr>
        <p:spPr>
          <a:xfrm>
            <a:off x="914400" y="2404872"/>
            <a:ext cx="128016" cy="128016"/>
          </a:xfrm>
          <a:prstGeom prst="ellipse">
            <a:avLst/>
          </a:prstGeom>
          <a:solidFill>
            <a:srgbClr val="5C7080"/>
          </a:solidFill>
        </p:spPr>
      </p:sp>
      <p:sp>
        <p:nvSpPr>
          <p:cNvPr id="6" name="Text 4"/>
          <p:cNvSpPr/>
          <p:nvPr/>
        </p:nvSpPr>
        <p:spPr>
          <a:xfrm>
            <a:off x="1188720" y="2258568"/>
            <a:ext cx="4526280" cy="6858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A2B3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Complaints filed via phone calls, paper forms, or in-person visits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914400" y="3182112"/>
            <a:ext cx="128016" cy="128016"/>
          </a:xfrm>
          <a:prstGeom prst="ellipse">
            <a:avLst/>
          </a:prstGeom>
          <a:solidFill>
            <a:srgbClr val="5C7080"/>
          </a:solidFill>
        </p:spPr>
      </p:sp>
      <p:sp>
        <p:nvSpPr>
          <p:cNvPr id="8" name="Text 6"/>
          <p:cNvSpPr/>
          <p:nvPr/>
        </p:nvSpPr>
        <p:spPr>
          <a:xfrm>
            <a:off x="1188720" y="3035808"/>
            <a:ext cx="4526280" cy="6858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A2B3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Manual forwarding between departments — slow &amp; error-prone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914400" y="3959352"/>
            <a:ext cx="128016" cy="128016"/>
          </a:xfrm>
          <a:prstGeom prst="ellipse">
            <a:avLst/>
          </a:prstGeom>
          <a:solidFill>
            <a:srgbClr val="5C7080"/>
          </a:solidFill>
        </p:spPr>
      </p:sp>
      <p:sp>
        <p:nvSpPr>
          <p:cNvPr id="10" name="Text 8"/>
          <p:cNvSpPr/>
          <p:nvPr/>
        </p:nvSpPr>
        <p:spPr>
          <a:xfrm>
            <a:off x="1188720" y="3813048"/>
            <a:ext cx="4526280" cy="6858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A2B3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No tracking ID or status updates for citizens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914400" y="4736592"/>
            <a:ext cx="128016" cy="128016"/>
          </a:xfrm>
          <a:prstGeom prst="ellipse">
            <a:avLst/>
          </a:prstGeom>
          <a:solidFill>
            <a:srgbClr val="5C7080"/>
          </a:solidFill>
        </p:spPr>
      </p:sp>
      <p:sp>
        <p:nvSpPr>
          <p:cNvPr id="12" name="Text 10"/>
          <p:cNvSpPr/>
          <p:nvPr/>
        </p:nvSpPr>
        <p:spPr>
          <a:xfrm>
            <a:off x="1188720" y="4590288"/>
            <a:ext cx="4526280" cy="6858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A2B3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No unified record across departments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914400" y="5513832"/>
            <a:ext cx="128016" cy="128016"/>
          </a:xfrm>
          <a:prstGeom prst="ellipse">
            <a:avLst/>
          </a:prstGeom>
          <a:solidFill>
            <a:srgbClr val="5C7080"/>
          </a:solidFill>
        </p:spPr>
      </p:sp>
      <p:sp>
        <p:nvSpPr>
          <p:cNvPr id="14" name="Text 12"/>
          <p:cNvSpPr/>
          <p:nvPr/>
        </p:nvSpPr>
        <p:spPr>
          <a:xfrm>
            <a:off x="1188720" y="5367528"/>
            <a:ext cx="4526280" cy="6858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A2B3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No performance data on resolution speed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172200" y="1371600"/>
            <a:ext cx="5349240" cy="4846320"/>
          </a:xfrm>
          <a:prstGeom prst="roundRect">
            <a:avLst>
              <a:gd name="adj" fmla="val 1509"/>
            </a:avLst>
          </a:prstGeom>
          <a:solidFill>
            <a:srgbClr val="065A82"/>
          </a:solidFill>
        </p:spPr>
      </p:sp>
      <p:sp>
        <p:nvSpPr>
          <p:cNvPr id="16" name="Text 14"/>
          <p:cNvSpPr/>
          <p:nvPr/>
        </p:nvSpPr>
        <p:spPr>
          <a:xfrm>
            <a:off x="6172200" y="1645920"/>
            <a:ext cx="534924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CivicPulse (Proposed)</a:t>
            </a:r>
            <a:endParaRPr lang="en-US" sz="1900" dirty="0"/>
          </a:p>
        </p:txBody>
      </p:sp>
      <p:sp>
        <p:nvSpPr>
          <p:cNvPr id="17" name="Shape 15"/>
          <p:cNvSpPr/>
          <p:nvPr/>
        </p:nvSpPr>
        <p:spPr>
          <a:xfrm>
            <a:off x="6537960" y="2404872"/>
            <a:ext cx="128016" cy="128016"/>
          </a:xfrm>
          <a:prstGeom prst="ellipse">
            <a:avLst/>
          </a:prstGeom>
          <a:solidFill>
            <a:srgbClr val="F2A65A"/>
          </a:solidFill>
        </p:spPr>
      </p:sp>
      <p:sp>
        <p:nvSpPr>
          <p:cNvPr id="18" name="Text 16"/>
          <p:cNvSpPr/>
          <p:nvPr/>
        </p:nvSpPr>
        <p:spPr>
          <a:xfrm>
            <a:off x="6812280" y="2258568"/>
            <a:ext cx="4526280" cy="6858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Online portal — file a complaint in minutes, anytime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6537960" y="3182112"/>
            <a:ext cx="128016" cy="128016"/>
          </a:xfrm>
          <a:prstGeom prst="ellipse">
            <a:avLst/>
          </a:prstGeom>
          <a:solidFill>
            <a:srgbClr val="F2A65A"/>
          </a:solidFill>
        </p:spPr>
      </p:sp>
      <p:sp>
        <p:nvSpPr>
          <p:cNvPr id="20" name="Text 18"/>
          <p:cNvSpPr/>
          <p:nvPr/>
        </p:nvSpPr>
        <p:spPr>
          <a:xfrm>
            <a:off x="6812280" y="3035808"/>
            <a:ext cx="4526280" cy="6858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Automated category &amp; location-based routing to the right body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6537960" y="3959352"/>
            <a:ext cx="128016" cy="128016"/>
          </a:xfrm>
          <a:prstGeom prst="ellipse">
            <a:avLst/>
          </a:prstGeom>
          <a:solidFill>
            <a:srgbClr val="F2A65A"/>
          </a:solidFill>
        </p:spPr>
      </p:sp>
      <p:sp>
        <p:nvSpPr>
          <p:cNvPr id="22" name="Text 20"/>
          <p:cNvSpPr/>
          <p:nvPr/>
        </p:nvSpPr>
        <p:spPr>
          <a:xfrm>
            <a:off x="6812280" y="3813048"/>
            <a:ext cx="4526280" cy="6858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Real-time status tracking with a unique complaint ID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6537960" y="4736592"/>
            <a:ext cx="128016" cy="128016"/>
          </a:xfrm>
          <a:prstGeom prst="ellipse">
            <a:avLst/>
          </a:prstGeom>
          <a:solidFill>
            <a:srgbClr val="F2A65A"/>
          </a:solidFill>
        </p:spPr>
      </p:sp>
      <p:sp>
        <p:nvSpPr>
          <p:cNvPr id="24" name="Text 22"/>
          <p:cNvSpPr/>
          <p:nvPr/>
        </p:nvSpPr>
        <p:spPr>
          <a:xfrm>
            <a:off x="6812280" y="4590288"/>
            <a:ext cx="4526280" cy="6858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Centralized database across all government departments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6537960" y="5513832"/>
            <a:ext cx="128016" cy="128016"/>
          </a:xfrm>
          <a:prstGeom prst="ellipse">
            <a:avLst/>
          </a:prstGeom>
          <a:solidFill>
            <a:srgbClr val="F2A65A"/>
          </a:solidFill>
        </p:spPr>
      </p:sp>
      <p:sp>
        <p:nvSpPr>
          <p:cNvPr id="26" name="Text 24"/>
          <p:cNvSpPr/>
          <p:nvPr/>
        </p:nvSpPr>
        <p:spPr>
          <a:xfrm>
            <a:off x="6812280" y="5367528"/>
            <a:ext cx="4526280" cy="6858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Analytics dashboard for accountability &amp; SLA compliance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731520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1295C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System Architecture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105156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C70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Layered architecture connecting citizens, platform services, and government bodies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40080" y="1508760"/>
            <a:ext cx="10881360" cy="868680"/>
          </a:xfrm>
          <a:prstGeom prst="roundRect">
            <a:avLst>
              <a:gd name="adj" fmla="val 6316"/>
            </a:avLst>
          </a:prstGeom>
          <a:solidFill>
            <a:srgbClr val="1C7293"/>
          </a:solidFill>
        </p:spPr>
      </p:sp>
      <p:sp>
        <p:nvSpPr>
          <p:cNvPr id="5" name="Text 3"/>
          <p:cNvSpPr/>
          <p:nvPr/>
        </p:nvSpPr>
        <p:spPr>
          <a:xfrm>
            <a:off x="822960" y="1508760"/>
            <a:ext cx="1828800" cy="8686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PRESENTATION LAYER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4046220" y="1691640"/>
            <a:ext cx="502920" cy="502920"/>
          </a:xfrm>
          <a:prstGeom prst="ellipse">
            <a:avLst/>
          </a:prstGeom>
          <a:solidFill>
            <a:srgbClr val="FFFFFF"/>
          </a:solidFill>
        </p:spPr>
      </p:sp>
      <p:pic>
        <p:nvPicPr>
          <p:cNvPr id="7" name="Image 0" descr="/home/claude/civicpulse/icons/mobile_1C729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59377" y="1804797"/>
            <a:ext cx="276606" cy="27660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4594860" y="1508760"/>
            <a:ext cx="3886200" cy="8686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Citizen Web 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8343900" y="1691640"/>
            <a:ext cx="502920" cy="502920"/>
          </a:xfrm>
          <a:prstGeom prst="ellipse">
            <a:avLst/>
          </a:prstGeom>
          <a:solidFill>
            <a:srgbClr val="FFFFFF"/>
          </a:solidFill>
        </p:spPr>
      </p:sp>
      <p:pic>
        <p:nvPicPr>
          <p:cNvPr id="10" name="Image 1" descr="/home/claude/civicpulse/icons/userShield_1C729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57057" y="1804797"/>
            <a:ext cx="276606" cy="276606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8892540" y="1508760"/>
            <a:ext cx="3886200" cy="8686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Admin Portal</a:t>
            </a:r>
            <a:endParaRPr lang="en-US" sz="1050" dirty="0"/>
          </a:p>
        </p:txBody>
      </p:sp>
      <p:sp>
        <p:nvSpPr>
          <p:cNvPr id="12" name="Shape 8"/>
          <p:cNvSpPr/>
          <p:nvPr/>
        </p:nvSpPr>
        <p:spPr>
          <a:xfrm>
            <a:off x="640080" y="2560320"/>
            <a:ext cx="10881360" cy="777240"/>
          </a:xfrm>
          <a:prstGeom prst="roundRect">
            <a:avLst>
              <a:gd name="adj" fmla="val 7059"/>
            </a:avLst>
          </a:prstGeom>
          <a:solidFill>
            <a:srgbClr val="065A82"/>
          </a:solidFill>
        </p:spPr>
      </p:sp>
      <p:sp>
        <p:nvSpPr>
          <p:cNvPr id="13" name="Text 9"/>
          <p:cNvSpPr/>
          <p:nvPr/>
        </p:nvSpPr>
        <p:spPr>
          <a:xfrm>
            <a:off x="822960" y="2560320"/>
            <a:ext cx="1828800" cy="777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APPLICATION LAYER</a:t>
            </a:r>
            <a:endParaRPr lang="en-US" sz="1050" dirty="0"/>
          </a:p>
        </p:txBody>
      </p:sp>
      <p:sp>
        <p:nvSpPr>
          <p:cNvPr id="14" name="Shape 10"/>
          <p:cNvSpPr/>
          <p:nvPr/>
        </p:nvSpPr>
        <p:spPr>
          <a:xfrm>
            <a:off x="3329940" y="2697480"/>
            <a:ext cx="502920" cy="502920"/>
          </a:xfrm>
          <a:prstGeom prst="ellipse">
            <a:avLst/>
          </a:prstGeom>
          <a:solidFill>
            <a:srgbClr val="FFFFFF"/>
          </a:solidFill>
        </p:spPr>
      </p:sp>
      <p:pic>
        <p:nvPicPr>
          <p:cNvPr id="15" name="Image 2" descr="/home/claude/civicpulse/icons/lock_065A82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43097" y="2810637"/>
            <a:ext cx="276606" cy="276606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3878580" y="2560320"/>
            <a:ext cx="2453640" cy="777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Auth &amp; Role Management</a:t>
            </a:r>
            <a:endParaRPr lang="en-US" sz="1050" dirty="0"/>
          </a:p>
        </p:txBody>
      </p:sp>
      <p:sp>
        <p:nvSpPr>
          <p:cNvPr id="17" name="Shape 12"/>
          <p:cNvSpPr/>
          <p:nvPr/>
        </p:nvSpPr>
        <p:spPr>
          <a:xfrm>
            <a:off x="6195060" y="2697480"/>
            <a:ext cx="502920" cy="502920"/>
          </a:xfrm>
          <a:prstGeom prst="ellipse">
            <a:avLst/>
          </a:prstGeom>
          <a:solidFill>
            <a:srgbClr val="FFFFFF"/>
          </a:solidFill>
        </p:spPr>
      </p:sp>
      <p:pic>
        <p:nvPicPr>
          <p:cNvPr id="18" name="Image 3" descr="/home/claude/civicpulse/icons/clipboard_065A82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08217" y="2810637"/>
            <a:ext cx="276606" cy="276606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6743700" y="2560320"/>
            <a:ext cx="2453640" cy="777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Complaint Service API</a:t>
            </a:r>
            <a:endParaRPr lang="en-US" sz="1050" dirty="0"/>
          </a:p>
        </p:txBody>
      </p:sp>
      <p:sp>
        <p:nvSpPr>
          <p:cNvPr id="20" name="Shape 14"/>
          <p:cNvSpPr/>
          <p:nvPr/>
        </p:nvSpPr>
        <p:spPr>
          <a:xfrm>
            <a:off x="9060180" y="2697480"/>
            <a:ext cx="502920" cy="502920"/>
          </a:xfrm>
          <a:prstGeom prst="ellipse">
            <a:avLst/>
          </a:prstGeom>
          <a:solidFill>
            <a:srgbClr val="FFFFFF"/>
          </a:solidFill>
        </p:spPr>
      </p:sp>
      <p:pic>
        <p:nvPicPr>
          <p:cNvPr id="21" name="Image 4" descr="/home/claude/civicpulse/icons/bell_065A82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173337" y="2810637"/>
            <a:ext cx="276606" cy="276606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9608820" y="2560320"/>
            <a:ext cx="2453640" cy="777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Notification Service</a:t>
            </a:r>
            <a:endParaRPr lang="en-US" sz="1050" dirty="0"/>
          </a:p>
        </p:txBody>
      </p:sp>
      <p:sp>
        <p:nvSpPr>
          <p:cNvPr id="23" name="Shape 16"/>
          <p:cNvSpPr/>
          <p:nvPr/>
        </p:nvSpPr>
        <p:spPr>
          <a:xfrm rot="10800000">
            <a:off x="5989320" y="2441448"/>
            <a:ext cx="182880" cy="118872"/>
          </a:xfrm>
          <a:prstGeom prst="triangle">
            <a:avLst/>
          </a:prstGeom>
          <a:solidFill>
            <a:srgbClr val="5C7080"/>
          </a:solidFill>
        </p:spPr>
      </p:sp>
      <p:sp>
        <p:nvSpPr>
          <p:cNvPr id="24" name="Shape 17"/>
          <p:cNvSpPr/>
          <p:nvPr/>
        </p:nvSpPr>
        <p:spPr>
          <a:xfrm>
            <a:off x="640080" y="3520440"/>
            <a:ext cx="10881360" cy="777240"/>
          </a:xfrm>
          <a:prstGeom prst="roundRect">
            <a:avLst>
              <a:gd name="adj" fmla="val 7059"/>
            </a:avLst>
          </a:prstGeom>
          <a:solidFill>
            <a:srgbClr val="21295C"/>
          </a:solidFill>
        </p:spPr>
      </p:sp>
      <p:sp>
        <p:nvSpPr>
          <p:cNvPr id="25" name="Text 18"/>
          <p:cNvSpPr/>
          <p:nvPr/>
        </p:nvSpPr>
        <p:spPr>
          <a:xfrm>
            <a:off x="822960" y="3520440"/>
            <a:ext cx="1828800" cy="777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ROUTING ENGINE</a:t>
            </a:r>
            <a:endParaRPr lang="en-US" sz="1050" dirty="0"/>
          </a:p>
        </p:txBody>
      </p:sp>
      <p:sp>
        <p:nvSpPr>
          <p:cNvPr id="26" name="Shape 19"/>
          <p:cNvSpPr/>
          <p:nvPr/>
        </p:nvSpPr>
        <p:spPr>
          <a:xfrm>
            <a:off x="4046220" y="3657600"/>
            <a:ext cx="502920" cy="502920"/>
          </a:xfrm>
          <a:prstGeom prst="ellipse">
            <a:avLst/>
          </a:prstGeom>
          <a:solidFill>
            <a:srgbClr val="FFFFFF"/>
          </a:solidFill>
        </p:spPr>
      </p:sp>
      <p:pic>
        <p:nvPicPr>
          <p:cNvPr id="27" name="Image 5" descr="/home/claude/civicpulse/icons/cogs_21295C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159377" y="3770757"/>
            <a:ext cx="276606" cy="276606"/>
          </a:xfrm>
          <a:prstGeom prst="rect">
            <a:avLst/>
          </a:prstGeom>
        </p:spPr>
      </p:pic>
      <p:sp>
        <p:nvSpPr>
          <p:cNvPr id="28" name="Text 20"/>
          <p:cNvSpPr/>
          <p:nvPr/>
        </p:nvSpPr>
        <p:spPr>
          <a:xfrm>
            <a:off x="4594860" y="3520440"/>
            <a:ext cx="3886200" cy="777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Category &amp; Location-Based Auto-Routing</a:t>
            </a:r>
            <a:endParaRPr lang="en-US" sz="1050" dirty="0"/>
          </a:p>
        </p:txBody>
      </p:sp>
      <p:sp>
        <p:nvSpPr>
          <p:cNvPr id="29" name="Shape 21"/>
          <p:cNvSpPr/>
          <p:nvPr/>
        </p:nvSpPr>
        <p:spPr>
          <a:xfrm>
            <a:off x="8343900" y="3657600"/>
            <a:ext cx="502920" cy="502920"/>
          </a:xfrm>
          <a:prstGeom prst="ellipse">
            <a:avLst/>
          </a:prstGeom>
          <a:solidFill>
            <a:srgbClr val="FFFFFF"/>
          </a:solidFill>
        </p:spPr>
      </p:sp>
      <p:pic>
        <p:nvPicPr>
          <p:cNvPr id="30" name="Image 6" descr="/home/claude/civicpulse/icons/tachometer_21295C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457057" y="3770757"/>
            <a:ext cx="276606" cy="276606"/>
          </a:xfrm>
          <a:prstGeom prst="rect">
            <a:avLst/>
          </a:prstGeom>
        </p:spPr>
      </p:pic>
      <p:sp>
        <p:nvSpPr>
          <p:cNvPr id="31" name="Text 22"/>
          <p:cNvSpPr/>
          <p:nvPr/>
        </p:nvSpPr>
        <p:spPr>
          <a:xfrm>
            <a:off x="8892540" y="3520440"/>
            <a:ext cx="3886200" cy="777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SLA Monitor</a:t>
            </a:r>
            <a:endParaRPr lang="en-US" sz="1050" dirty="0"/>
          </a:p>
        </p:txBody>
      </p:sp>
      <p:sp>
        <p:nvSpPr>
          <p:cNvPr id="32" name="Shape 23"/>
          <p:cNvSpPr/>
          <p:nvPr/>
        </p:nvSpPr>
        <p:spPr>
          <a:xfrm rot="10800000">
            <a:off x="5989320" y="3401568"/>
            <a:ext cx="182880" cy="118872"/>
          </a:xfrm>
          <a:prstGeom prst="triangle">
            <a:avLst/>
          </a:prstGeom>
          <a:solidFill>
            <a:srgbClr val="5C7080"/>
          </a:solidFill>
        </p:spPr>
      </p:sp>
      <p:sp>
        <p:nvSpPr>
          <p:cNvPr id="33" name="Shape 24"/>
          <p:cNvSpPr/>
          <p:nvPr/>
        </p:nvSpPr>
        <p:spPr>
          <a:xfrm>
            <a:off x="640080" y="4480560"/>
            <a:ext cx="10881360" cy="868680"/>
          </a:xfrm>
          <a:prstGeom prst="roundRect">
            <a:avLst>
              <a:gd name="adj" fmla="val 6316"/>
            </a:avLst>
          </a:prstGeom>
          <a:solidFill>
            <a:srgbClr val="065A82"/>
          </a:solidFill>
        </p:spPr>
      </p:sp>
      <p:sp>
        <p:nvSpPr>
          <p:cNvPr id="34" name="Text 25"/>
          <p:cNvSpPr/>
          <p:nvPr/>
        </p:nvSpPr>
        <p:spPr>
          <a:xfrm>
            <a:off x="822960" y="4480560"/>
            <a:ext cx="1828800" cy="8686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DEPARTMENT MODULES</a:t>
            </a:r>
            <a:endParaRPr lang="en-US" sz="1050" dirty="0"/>
          </a:p>
        </p:txBody>
      </p:sp>
      <p:sp>
        <p:nvSpPr>
          <p:cNvPr id="35" name="Shape 26"/>
          <p:cNvSpPr/>
          <p:nvPr/>
        </p:nvSpPr>
        <p:spPr>
          <a:xfrm>
            <a:off x="2756916" y="4663440"/>
            <a:ext cx="502920" cy="502920"/>
          </a:xfrm>
          <a:prstGeom prst="ellipse">
            <a:avLst/>
          </a:prstGeom>
          <a:solidFill>
            <a:srgbClr val="FFFFFF"/>
          </a:solidFill>
        </p:spPr>
      </p:sp>
      <p:pic>
        <p:nvPicPr>
          <p:cNvPr id="36" name="Image 7" descr="/home/claude/civicpulse/icons/tint_065A82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870073" y="4776597"/>
            <a:ext cx="276606" cy="276606"/>
          </a:xfrm>
          <a:prstGeom prst="rect">
            <a:avLst/>
          </a:prstGeom>
        </p:spPr>
      </p:pic>
      <p:sp>
        <p:nvSpPr>
          <p:cNvPr id="37" name="Text 27"/>
          <p:cNvSpPr/>
          <p:nvPr/>
        </p:nvSpPr>
        <p:spPr>
          <a:xfrm>
            <a:off x="3305556" y="4480560"/>
            <a:ext cx="1307592" cy="8686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Water</a:t>
            </a:r>
            <a:endParaRPr lang="en-US" sz="1050" dirty="0"/>
          </a:p>
        </p:txBody>
      </p:sp>
      <p:sp>
        <p:nvSpPr>
          <p:cNvPr id="38" name="Shape 28"/>
          <p:cNvSpPr/>
          <p:nvPr/>
        </p:nvSpPr>
        <p:spPr>
          <a:xfrm>
            <a:off x="4475988" y="4663440"/>
            <a:ext cx="502920" cy="502920"/>
          </a:xfrm>
          <a:prstGeom prst="ellipse">
            <a:avLst/>
          </a:prstGeom>
          <a:solidFill>
            <a:srgbClr val="FFFFFF"/>
          </a:solidFill>
        </p:spPr>
      </p:sp>
      <p:pic>
        <p:nvPicPr>
          <p:cNvPr id="39" name="Image 8" descr="/home/claude/civicpulse/icons/bolt_065A82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589145" y="4776597"/>
            <a:ext cx="276606" cy="276606"/>
          </a:xfrm>
          <a:prstGeom prst="rect">
            <a:avLst/>
          </a:prstGeom>
        </p:spPr>
      </p:pic>
      <p:sp>
        <p:nvSpPr>
          <p:cNvPr id="40" name="Text 29"/>
          <p:cNvSpPr/>
          <p:nvPr/>
        </p:nvSpPr>
        <p:spPr>
          <a:xfrm>
            <a:off x="5024628" y="4480560"/>
            <a:ext cx="1307592" cy="8686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Electricity</a:t>
            </a:r>
            <a:endParaRPr lang="en-US" sz="1050" dirty="0"/>
          </a:p>
        </p:txBody>
      </p:sp>
      <p:sp>
        <p:nvSpPr>
          <p:cNvPr id="41" name="Shape 30"/>
          <p:cNvSpPr/>
          <p:nvPr/>
        </p:nvSpPr>
        <p:spPr>
          <a:xfrm>
            <a:off x="6195060" y="4663440"/>
            <a:ext cx="502920" cy="502920"/>
          </a:xfrm>
          <a:prstGeom prst="ellipse">
            <a:avLst/>
          </a:prstGeom>
          <a:solidFill>
            <a:srgbClr val="FFFFFF"/>
          </a:solidFill>
        </p:spPr>
      </p:sp>
      <p:pic>
        <p:nvPicPr>
          <p:cNvPr id="42" name="Image 9" descr="/home/claude/civicpulse/icons/road_065A82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308217" y="4776597"/>
            <a:ext cx="276606" cy="276606"/>
          </a:xfrm>
          <a:prstGeom prst="rect">
            <a:avLst/>
          </a:prstGeom>
        </p:spPr>
      </p:pic>
      <p:sp>
        <p:nvSpPr>
          <p:cNvPr id="43" name="Text 31"/>
          <p:cNvSpPr/>
          <p:nvPr/>
        </p:nvSpPr>
        <p:spPr>
          <a:xfrm>
            <a:off x="6743700" y="4480560"/>
            <a:ext cx="1307592" cy="8686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Roads</a:t>
            </a:r>
            <a:endParaRPr lang="en-US" sz="1050" dirty="0"/>
          </a:p>
        </p:txBody>
      </p:sp>
      <p:sp>
        <p:nvSpPr>
          <p:cNvPr id="44" name="Shape 32"/>
          <p:cNvSpPr/>
          <p:nvPr/>
        </p:nvSpPr>
        <p:spPr>
          <a:xfrm>
            <a:off x="7914132" y="4663440"/>
            <a:ext cx="502920" cy="502920"/>
          </a:xfrm>
          <a:prstGeom prst="ellipse">
            <a:avLst/>
          </a:prstGeom>
          <a:solidFill>
            <a:srgbClr val="FFFFFF"/>
          </a:solidFill>
        </p:spPr>
      </p:sp>
      <p:pic>
        <p:nvPicPr>
          <p:cNvPr id="45" name="Image 10" descr="/home/claude/civicpulse/icons/trash_065A82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027289" y="4776597"/>
            <a:ext cx="276606" cy="276606"/>
          </a:xfrm>
          <a:prstGeom prst="rect">
            <a:avLst/>
          </a:prstGeom>
        </p:spPr>
      </p:pic>
      <p:sp>
        <p:nvSpPr>
          <p:cNvPr id="46" name="Text 33"/>
          <p:cNvSpPr/>
          <p:nvPr/>
        </p:nvSpPr>
        <p:spPr>
          <a:xfrm>
            <a:off x="8462772" y="4480560"/>
            <a:ext cx="1307592" cy="8686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Sanitation</a:t>
            </a:r>
            <a:endParaRPr lang="en-US" sz="1050" dirty="0"/>
          </a:p>
        </p:txBody>
      </p:sp>
      <p:sp>
        <p:nvSpPr>
          <p:cNvPr id="47" name="Shape 34"/>
          <p:cNvSpPr/>
          <p:nvPr/>
        </p:nvSpPr>
        <p:spPr>
          <a:xfrm>
            <a:off x="9633204" y="4663440"/>
            <a:ext cx="502920" cy="502920"/>
          </a:xfrm>
          <a:prstGeom prst="ellipse">
            <a:avLst/>
          </a:prstGeom>
          <a:solidFill>
            <a:srgbClr val="FFFFFF"/>
          </a:solidFill>
        </p:spPr>
      </p:sp>
      <p:pic>
        <p:nvPicPr>
          <p:cNvPr id="48" name="Image 11" descr="/home/claude/civicpulse/icons/building_065A82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9746361" y="4776597"/>
            <a:ext cx="276606" cy="276606"/>
          </a:xfrm>
          <a:prstGeom prst="rect">
            <a:avLst/>
          </a:prstGeom>
        </p:spPr>
      </p:pic>
      <p:sp>
        <p:nvSpPr>
          <p:cNvPr id="49" name="Text 35"/>
          <p:cNvSpPr/>
          <p:nvPr/>
        </p:nvSpPr>
        <p:spPr>
          <a:xfrm>
            <a:off x="10181844" y="4480560"/>
            <a:ext cx="1307592" cy="8686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Others</a:t>
            </a:r>
            <a:endParaRPr lang="en-US" sz="1050" dirty="0"/>
          </a:p>
        </p:txBody>
      </p:sp>
      <p:sp>
        <p:nvSpPr>
          <p:cNvPr id="50" name="Shape 36"/>
          <p:cNvSpPr/>
          <p:nvPr/>
        </p:nvSpPr>
        <p:spPr>
          <a:xfrm rot="10800000">
            <a:off x="5989320" y="4361688"/>
            <a:ext cx="182880" cy="118872"/>
          </a:xfrm>
          <a:prstGeom prst="triangle">
            <a:avLst/>
          </a:prstGeom>
          <a:solidFill>
            <a:srgbClr val="5C7080"/>
          </a:solidFill>
        </p:spPr>
      </p:sp>
      <p:sp>
        <p:nvSpPr>
          <p:cNvPr id="51" name="Shape 37"/>
          <p:cNvSpPr/>
          <p:nvPr/>
        </p:nvSpPr>
        <p:spPr>
          <a:xfrm>
            <a:off x="640080" y="5532120"/>
            <a:ext cx="10881360" cy="685800"/>
          </a:xfrm>
          <a:prstGeom prst="roundRect">
            <a:avLst>
              <a:gd name="adj" fmla="val 8000"/>
            </a:avLst>
          </a:prstGeom>
          <a:solidFill>
            <a:srgbClr val="1C7293"/>
          </a:solidFill>
        </p:spPr>
      </p:sp>
      <p:sp>
        <p:nvSpPr>
          <p:cNvPr id="52" name="Text 38"/>
          <p:cNvSpPr/>
          <p:nvPr/>
        </p:nvSpPr>
        <p:spPr>
          <a:xfrm>
            <a:off x="822960" y="5532120"/>
            <a:ext cx="1828800" cy="685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DATA LAYER</a:t>
            </a:r>
            <a:endParaRPr lang="en-US" sz="1050" dirty="0"/>
          </a:p>
        </p:txBody>
      </p:sp>
      <p:sp>
        <p:nvSpPr>
          <p:cNvPr id="53" name="Shape 39"/>
          <p:cNvSpPr/>
          <p:nvPr/>
        </p:nvSpPr>
        <p:spPr>
          <a:xfrm>
            <a:off x="4069080" y="5646420"/>
            <a:ext cx="457200" cy="457200"/>
          </a:xfrm>
          <a:prstGeom prst="ellipse">
            <a:avLst/>
          </a:prstGeom>
          <a:solidFill>
            <a:srgbClr val="FFFFFF"/>
          </a:solidFill>
        </p:spPr>
      </p:sp>
      <p:pic>
        <p:nvPicPr>
          <p:cNvPr id="54" name="Image 12" descr="/home/claude/civicpulse/icons/database_1C7293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4171950" y="5749290"/>
            <a:ext cx="251460" cy="251460"/>
          </a:xfrm>
          <a:prstGeom prst="rect">
            <a:avLst/>
          </a:prstGeom>
        </p:spPr>
      </p:pic>
      <p:sp>
        <p:nvSpPr>
          <p:cNvPr id="55" name="Text 40"/>
          <p:cNvSpPr/>
          <p:nvPr/>
        </p:nvSpPr>
        <p:spPr>
          <a:xfrm>
            <a:off x="4572000" y="5532120"/>
            <a:ext cx="3931920" cy="685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Centralized Database</a:t>
            </a:r>
            <a:endParaRPr lang="en-US" sz="1050" dirty="0"/>
          </a:p>
        </p:txBody>
      </p:sp>
      <p:sp>
        <p:nvSpPr>
          <p:cNvPr id="56" name="Shape 41"/>
          <p:cNvSpPr/>
          <p:nvPr/>
        </p:nvSpPr>
        <p:spPr>
          <a:xfrm>
            <a:off x="8366760" y="5646420"/>
            <a:ext cx="457200" cy="457200"/>
          </a:xfrm>
          <a:prstGeom prst="ellipse">
            <a:avLst/>
          </a:prstGeom>
          <a:solidFill>
            <a:srgbClr val="FFFFFF"/>
          </a:solidFill>
        </p:spPr>
      </p:sp>
      <p:pic>
        <p:nvPicPr>
          <p:cNvPr id="57" name="Image 13" descr="/home/claude/civicpulse/icons/cloud_1C7293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8469630" y="5749290"/>
            <a:ext cx="251460" cy="251460"/>
          </a:xfrm>
          <a:prstGeom prst="rect">
            <a:avLst/>
          </a:prstGeom>
        </p:spPr>
      </p:pic>
      <p:sp>
        <p:nvSpPr>
          <p:cNvPr id="58" name="Text 42"/>
          <p:cNvSpPr/>
          <p:nvPr/>
        </p:nvSpPr>
        <p:spPr>
          <a:xfrm>
            <a:off x="8869680" y="5532120"/>
            <a:ext cx="3931920" cy="685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Cloud Storage</a:t>
            </a:r>
            <a:endParaRPr lang="en-US" sz="1050" dirty="0"/>
          </a:p>
        </p:txBody>
      </p:sp>
      <p:sp>
        <p:nvSpPr>
          <p:cNvPr id="59" name="Shape 43"/>
          <p:cNvSpPr/>
          <p:nvPr/>
        </p:nvSpPr>
        <p:spPr>
          <a:xfrm rot="10800000">
            <a:off x="5989320" y="5413248"/>
            <a:ext cx="182880" cy="118872"/>
          </a:xfrm>
          <a:prstGeom prst="triangle">
            <a:avLst/>
          </a:prstGeom>
          <a:solidFill>
            <a:srgbClr val="5C7080"/>
          </a:solidFill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r>
              <a:rPr lang="en-US" sz="3600" b="1" dirty="0">
                <a:solidFill>
                  <a:srgbClr val="21295C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Unique Features</a:t>
            </a:r>
            <a:r>
              <a:rPr lang="en-IN" sz="3600" dirty="0"/>
              <a:t> 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73152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r>
              <a:rPr lang="en-IN" sz="1400" dirty="0">
                <a:solidFill>
                  <a:schemeClr val="bg1">
                    <a:lumMod val="50000"/>
                  </a:schemeClr>
                </a:solidFill>
              </a:rPr>
              <a:t>emphasizes what makes your project different</a:t>
            </a:r>
            <a:endParaRPr lang="en-US" sz="14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5349240" cy="4754880"/>
          </a:xfrm>
          <a:prstGeom prst="roundRect">
            <a:avLst>
              <a:gd name="adj" fmla="val 1538"/>
            </a:avLst>
          </a:prstGeom>
          <a:solidFill>
            <a:srgbClr val="F4F7F9"/>
          </a:solidFill>
        </p:spPr>
        <p:txBody>
          <a:bodyPr/>
          <a:lstStyle/>
          <a:p>
            <a:endParaRPr lang="en-IN" dirty="0"/>
          </a:p>
        </p:txBody>
      </p:sp>
      <p:sp>
        <p:nvSpPr>
          <p:cNvPr id="5" name="Shape 3"/>
          <p:cNvSpPr/>
          <p:nvPr/>
        </p:nvSpPr>
        <p:spPr>
          <a:xfrm>
            <a:off x="868680" y="1783080"/>
            <a:ext cx="640080" cy="640080"/>
          </a:xfrm>
          <a:prstGeom prst="ellipse">
            <a:avLst/>
          </a:prstGeom>
          <a:solidFill>
            <a:srgbClr val="065A82"/>
          </a:solidFill>
        </p:spPr>
      </p:sp>
      <p:pic>
        <p:nvPicPr>
          <p:cNvPr id="6" name="Image 0" descr="/home/claude/civicpulse/icons/user_FFFF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8700" y="1943100"/>
            <a:ext cx="320040" cy="32004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45920" y="1828800"/>
            <a:ext cx="365760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21295C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User Module</a:t>
            </a:r>
            <a:endParaRPr lang="en-US" sz="2000" dirty="0"/>
          </a:p>
        </p:txBody>
      </p:sp>
      <p:pic>
        <p:nvPicPr>
          <p:cNvPr id="8" name="Image 1" descr="/home/claude/civicpulse/icons/checkCircle_1C729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8680" y="2651760"/>
            <a:ext cx="256032" cy="256032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234440" y="2569464"/>
            <a:ext cx="4434840" cy="5486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A2B3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Register / login with secure credentials</a:t>
            </a:r>
            <a:endParaRPr lang="en-US" sz="1300" dirty="0"/>
          </a:p>
        </p:txBody>
      </p:sp>
      <p:pic>
        <p:nvPicPr>
          <p:cNvPr id="10" name="Image 2" descr="/home/claude/civicpulse/icons/checkCircle_1C729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8680" y="3273552"/>
            <a:ext cx="256032" cy="256032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1234440" y="3191256"/>
            <a:ext cx="4434840" cy="5486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A2B3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File complaints with category, location &amp; photo evidence</a:t>
            </a:r>
            <a:endParaRPr lang="en-US" sz="1300" dirty="0"/>
          </a:p>
        </p:txBody>
      </p:sp>
      <p:pic>
        <p:nvPicPr>
          <p:cNvPr id="12" name="Image 3" descr="/home/claude/civicpulse/icons/checkCircle_1C729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8680" y="3895344"/>
            <a:ext cx="256032" cy="256032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1234440" y="3813048"/>
            <a:ext cx="4434840" cy="5486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A2B3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Track real-time status with a unique complaint ID</a:t>
            </a:r>
            <a:endParaRPr lang="en-US" sz="1300" dirty="0"/>
          </a:p>
        </p:txBody>
      </p:sp>
      <p:pic>
        <p:nvPicPr>
          <p:cNvPr id="14" name="Image 4" descr="/home/claude/civicpulse/icons/checkCircle_1C729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8680" y="4517136"/>
            <a:ext cx="256032" cy="256032"/>
          </a:xfrm>
          <a:prstGeom prst="rect">
            <a:avLst/>
          </a:prstGeom>
        </p:spPr>
      </p:pic>
      <p:sp>
        <p:nvSpPr>
          <p:cNvPr id="15" name="Text 8"/>
          <p:cNvSpPr/>
          <p:nvPr/>
        </p:nvSpPr>
        <p:spPr>
          <a:xfrm>
            <a:off x="1234440" y="4434840"/>
            <a:ext cx="4434840" cy="5486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A2B3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Receive SMS / email notifications on updates</a:t>
            </a:r>
            <a:endParaRPr lang="en-US" sz="1300" dirty="0"/>
          </a:p>
        </p:txBody>
      </p:sp>
      <p:pic>
        <p:nvPicPr>
          <p:cNvPr id="16" name="Image 5" descr="/home/claude/civicpulse/icons/checkCircle_1C729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8680" y="5138928"/>
            <a:ext cx="256032" cy="256032"/>
          </a:xfrm>
          <a:prstGeom prst="rect">
            <a:avLst/>
          </a:prstGeom>
        </p:spPr>
      </p:pic>
      <p:sp>
        <p:nvSpPr>
          <p:cNvPr id="17" name="Text 9"/>
          <p:cNvSpPr/>
          <p:nvPr/>
        </p:nvSpPr>
        <p:spPr>
          <a:xfrm>
            <a:off x="1234440" y="5056632"/>
            <a:ext cx="4434840" cy="5486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A2B3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Rate resolution &amp; give feedback</a:t>
            </a:r>
            <a:endParaRPr lang="en-US" sz="1300" dirty="0"/>
          </a:p>
        </p:txBody>
      </p:sp>
      <p:pic>
        <p:nvPicPr>
          <p:cNvPr id="18" name="Image 6" descr="/home/claude/civicpulse/icons/checkCircle_1C729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8680" y="5760720"/>
            <a:ext cx="256032" cy="256032"/>
          </a:xfrm>
          <a:prstGeom prst="rect">
            <a:avLst/>
          </a:prstGeom>
        </p:spPr>
      </p:pic>
      <p:sp>
        <p:nvSpPr>
          <p:cNvPr id="19" name="Text 10"/>
          <p:cNvSpPr/>
          <p:nvPr/>
        </p:nvSpPr>
        <p:spPr>
          <a:xfrm>
            <a:off x="1234440" y="5678424"/>
            <a:ext cx="4434840" cy="5486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A2B3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View complaint history</a:t>
            </a:r>
            <a:endParaRPr lang="en-US" sz="1300" dirty="0"/>
          </a:p>
        </p:txBody>
      </p:sp>
      <p:sp>
        <p:nvSpPr>
          <p:cNvPr id="20" name="Shape 11"/>
          <p:cNvSpPr/>
          <p:nvPr/>
        </p:nvSpPr>
        <p:spPr>
          <a:xfrm>
            <a:off x="548640" y="1600200"/>
            <a:ext cx="11094720" cy="4626864"/>
          </a:xfrm>
          <a:prstGeom prst="roundRect">
            <a:avLst>
              <a:gd name="adj" fmla="val 1538"/>
            </a:avLst>
          </a:prstGeom>
          <a:solidFill>
            <a:srgbClr val="21295C"/>
          </a:solidFill>
        </p:spPr>
        <p:txBody>
          <a:bodyPr/>
          <a:lstStyle/>
          <a:p>
            <a:endParaRPr lang="en-IN" dirty="0"/>
          </a:p>
        </p:txBody>
      </p:sp>
      <p:sp>
        <p:nvSpPr>
          <p:cNvPr id="21" name="Shape 12"/>
          <p:cNvSpPr/>
          <p:nvPr/>
        </p:nvSpPr>
        <p:spPr>
          <a:xfrm>
            <a:off x="6492240" y="1783080"/>
            <a:ext cx="640080" cy="640080"/>
          </a:xfrm>
          <a:prstGeom prst="ellipse">
            <a:avLst/>
          </a:prstGeom>
          <a:solidFill>
            <a:srgbClr val="F2A65A"/>
          </a:solidFill>
        </p:spPr>
      </p:sp>
      <p:pic>
        <p:nvPicPr>
          <p:cNvPr id="22" name="Image 7" descr="/home/claude/civicpulse/icons/userShield_21295C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52260" y="1943100"/>
            <a:ext cx="320040" cy="320040"/>
          </a:xfrm>
          <a:prstGeom prst="rect">
            <a:avLst/>
          </a:prstGeom>
        </p:spPr>
      </p:pic>
      <p:sp>
        <p:nvSpPr>
          <p:cNvPr id="23" name="Text 13"/>
          <p:cNvSpPr/>
          <p:nvPr/>
        </p:nvSpPr>
        <p:spPr>
          <a:xfrm>
            <a:off x="7269480" y="1828800"/>
            <a:ext cx="365760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Admin Module</a:t>
            </a:r>
            <a:endParaRPr lang="en-US" sz="2000" dirty="0"/>
          </a:p>
        </p:txBody>
      </p:sp>
      <p:pic>
        <p:nvPicPr>
          <p:cNvPr id="24" name="Image 8" descr="/home/claude/civicpulse/icons/checkCircle_F2A65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92240" y="2651760"/>
            <a:ext cx="256032" cy="256032"/>
          </a:xfrm>
          <a:prstGeom prst="rect">
            <a:avLst/>
          </a:prstGeom>
        </p:spPr>
      </p:pic>
      <p:sp>
        <p:nvSpPr>
          <p:cNvPr id="25" name="Text 14"/>
          <p:cNvSpPr/>
          <p:nvPr/>
        </p:nvSpPr>
        <p:spPr>
          <a:xfrm>
            <a:off x="6858000" y="2569464"/>
            <a:ext cx="4434840" cy="5486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E4E9F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Department-wise login (Water, Roads, Electricity, etc.)</a:t>
            </a:r>
            <a:endParaRPr lang="en-US" sz="1300" dirty="0"/>
          </a:p>
        </p:txBody>
      </p:sp>
      <p:pic>
        <p:nvPicPr>
          <p:cNvPr id="26" name="Image 9" descr="/home/claude/civicpulse/icons/checkCircle_F2A65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92240" y="3273552"/>
            <a:ext cx="256032" cy="256032"/>
          </a:xfrm>
          <a:prstGeom prst="rect">
            <a:avLst/>
          </a:prstGeom>
        </p:spPr>
      </p:pic>
      <p:sp>
        <p:nvSpPr>
          <p:cNvPr id="27" name="Text 15"/>
          <p:cNvSpPr/>
          <p:nvPr/>
        </p:nvSpPr>
        <p:spPr>
          <a:xfrm>
            <a:off x="6858000" y="3191256"/>
            <a:ext cx="4434840" cy="5486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E4E9F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View &amp; filter complaints assigned to their department</a:t>
            </a:r>
            <a:endParaRPr lang="en-US" sz="1300" dirty="0"/>
          </a:p>
        </p:txBody>
      </p:sp>
      <p:pic>
        <p:nvPicPr>
          <p:cNvPr id="28" name="Image 10" descr="/home/claude/civicpulse/icons/checkCircle_F2A65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92240" y="3895344"/>
            <a:ext cx="256032" cy="256032"/>
          </a:xfrm>
          <a:prstGeom prst="rect">
            <a:avLst/>
          </a:prstGeom>
        </p:spPr>
      </p:pic>
      <p:sp>
        <p:nvSpPr>
          <p:cNvPr id="29" name="Text 16"/>
          <p:cNvSpPr/>
          <p:nvPr/>
        </p:nvSpPr>
        <p:spPr>
          <a:xfrm>
            <a:off x="6858000" y="3813048"/>
            <a:ext cx="4434840" cy="5486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E4E9F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Update status: Assigned → In Progress → Resolved</a:t>
            </a:r>
            <a:endParaRPr lang="en-US" sz="1300" dirty="0"/>
          </a:p>
        </p:txBody>
      </p:sp>
      <p:pic>
        <p:nvPicPr>
          <p:cNvPr id="30" name="Image 11" descr="/home/claude/civicpulse/icons/checkCircle_F2A65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92240" y="4517136"/>
            <a:ext cx="256032" cy="256032"/>
          </a:xfrm>
          <a:prstGeom prst="rect">
            <a:avLst/>
          </a:prstGeom>
        </p:spPr>
      </p:pic>
      <p:sp>
        <p:nvSpPr>
          <p:cNvPr id="31" name="Text 17"/>
          <p:cNvSpPr/>
          <p:nvPr/>
        </p:nvSpPr>
        <p:spPr>
          <a:xfrm>
            <a:off x="6858000" y="4434840"/>
            <a:ext cx="4434840" cy="5486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E4E9F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Escalate overdue complaints breaching SLA</a:t>
            </a:r>
            <a:endParaRPr lang="en-US" sz="1300" dirty="0"/>
          </a:p>
        </p:txBody>
      </p:sp>
      <p:pic>
        <p:nvPicPr>
          <p:cNvPr id="32" name="Image 12" descr="/home/claude/civicpulse/icons/checkCircle_F2A65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92240" y="5138928"/>
            <a:ext cx="256032" cy="256032"/>
          </a:xfrm>
          <a:prstGeom prst="rect">
            <a:avLst/>
          </a:prstGeom>
        </p:spPr>
      </p:pic>
      <p:sp>
        <p:nvSpPr>
          <p:cNvPr id="33" name="Text 18"/>
          <p:cNvSpPr/>
          <p:nvPr/>
        </p:nvSpPr>
        <p:spPr>
          <a:xfrm>
            <a:off x="6858000" y="5056632"/>
            <a:ext cx="4434840" cy="5486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E4E9F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Access analytics on department performance</a:t>
            </a:r>
            <a:endParaRPr lang="en-US" sz="1300" dirty="0"/>
          </a:p>
        </p:txBody>
      </p:sp>
      <p:pic>
        <p:nvPicPr>
          <p:cNvPr id="34" name="Image 13" descr="/home/claude/civicpulse/icons/checkCircle_F2A65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92240" y="5760720"/>
            <a:ext cx="256032" cy="256032"/>
          </a:xfrm>
          <a:prstGeom prst="rect">
            <a:avLst/>
          </a:prstGeom>
        </p:spPr>
      </p:pic>
      <p:sp>
        <p:nvSpPr>
          <p:cNvPr id="35" name="Text 19"/>
          <p:cNvSpPr/>
          <p:nvPr/>
        </p:nvSpPr>
        <p:spPr>
          <a:xfrm>
            <a:off x="6858000" y="5678424"/>
            <a:ext cx="4434840" cy="5486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E4E9F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Super-admin view across all departments</a:t>
            </a:r>
            <a:endParaRPr lang="en-US" sz="1300" dirty="0"/>
          </a:p>
        </p:txBody>
      </p:sp>
      <p:sp>
        <p:nvSpPr>
          <p:cNvPr id="37" name="Shape 2">
            <a:extLst>
              <a:ext uri="{FF2B5EF4-FFF2-40B4-BE49-F238E27FC236}">
                <a16:creationId xmlns:a16="http://schemas.microsoft.com/office/drawing/2014/main" id="{D140A46A-B513-C164-0760-7BB280E33A96}"/>
              </a:ext>
            </a:extLst>
          </p:cNvPr>
          <p:cNvSpPr/>
          <p:nvPr/>
        </p:nvSpPr>
        <p:spPr>
          <a:xfrm>
            <a:off x="548640" y="1530608"/>
            <a:ext cx="5349240" cy="4754880"/>
          </a:xfrm>
          <a:prstGeom prst="roundRect">
            <a:avLst>
              <a:gd name="adj" fmla="val 1538"/>
            </a:avLst>
          </a:prstGeom>
          <a:solidFill>
            <a:srgbClr val="F4F7F9"/>
          </a:solidFill>
        </p:spPr>
        <p:txBody>
          <a:bodyPr/>
          <a:lstStyle/>
          <a:p>
            <a:r>
              <a:rPr lang="en-US"/>
              <a:t>*1. Auto-Forward if No Action If an officer doesn't respond within 2 days, the complaint automatically escalates to their senior. Keeps complaints from getting silently ignored.*</a:t>
            </a:r>
          </a:p>
          <a:p>
            <a:r>
              <a:rPr lang="en-US"/>
              <a:t>2. Reopen a "Fixed" Complaint Citizens can reopen a resolved complaint within 5 days if the issue reoccurs, instead of filing a new one. Prevents repeat problems from being treated as fresh, unrelated tickets.</a:t>
            </a:r>
          </a:p>
          <a:p>
            <a:endParaRPr lang="en-US"/>
          </a:p>
          <a:p>
            <a:r>
              <a:rPr lang="en-US"/>
              <a:t>3. Group Officer Actions*Officers can select multiple similar complaints in the same area and mark them all resolved in one action. Saves time on repetitive, one-by-one updates.</a:t>
            </a:r>
            <a:endParaRPr lang="en-IN" dirty="0"/>
          </a:p>
        </p:txBody>
      </p:sp>
      <p:sp>
        <p:nvSpPr>
          <p:cNvPr id="43" name="Shape 11">
            <a:extLst>
              <a:ext uri="{FF2B5EF4-FFF2-40B4-BE49-F238E27FC236}">
                <a16:creationId xmlns:a16="http://schemas.microsoft.com/office/drawing/2014/main" id="{F926D580-097E-6B8D-8865-59360B496FC7}"/>
              </a:ext>
            </a:extLst>
          </p:cNvPr>
          <p:cNvSpPr/>
          <p:nvPr/>
        </p:nvSpPr>
        <p:spPr>
          <a:xfrm>
            <a:off x="548640" y="1600200"/>
            <a:ext cx="10982510" cy="4626864"/>
          </a:xfrm>
          <a:prstGeom prst="roundRect">
            <a:avLst>
              <a:gd name="adj" fmla="val 1538"/>
            </a:avLst>
          </a:prstGeom>
          <a:solidFill>
            <a:srgbClr val="21295C"/>
          </a:solidFill>
        </p:spPr>
        <p:txBody>
          <a:bodyPr/>
          <a:lstStyle/>
          <a:p>
            <a:endParaRPr lang="en-IN" dirty="0">
              <a:solidFill>
                <a:schemeClr val="bg1"/>
              </a:solidFill>
            </a:endParaRP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90361D5E-2C6F-00E8-E42A-E2106E08123D}"/>
              </a:ext>
            </a:extLst>
          </p:cNvPr>
          <p:cNvSpPr txBox="1"/>
          <p:nvPr/>
        </p:nvSpPr>
        <p:spPr>
          <a:xfrm>
            <a:off x="1124712" y="2098289"/>
            <a:ext cx="10038588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000" dirty="0">
                <a:solidFill>
                  <a:schemeClr val="bg1"/>
                </a:solidFill>
              </a:rPr>
              <a:t>1. Auto-Forward if No Action : If an officer doesn't respond within 2 days, the complaint automatically escalates to their senior. Keeps complaints from getting silently ignored.</a:t>
            </a:r>
          </a:p>
          <a:p>
            <a:endParaRPr lang="en-IN" sz="2000" dirty="0">
              <a:solidFill>
                <a:schemeClr val="bg1"/>
              </a:solidFill>
            </a:endParaRPr>
          </a:p>
          <a:p>
            <a:r>
              <a:rPr lang="en-IN" sz="2000" dirty="0">
                <a:solidFill>
                  <a:schemeClr val="bg1"/>
                </a:solidFill>
              </a:rPr>
              <a:t>2. Reopen a "Fixed" Complaint : Citizens can reopen a resolved complaint within 5 days if the issue reoccurs, instead of filing a new one. Prevents repeat problems from being treated as fresh, unrelated tickets.</a:t>
            </a:r>
          </a:p>
          <a:p>
            <a:endParaRPr lang="en-IN" sz="2000" dirty="0">
              <a:solidFill>
                <a:schemeClr val="bg1"/>
              </a:solidFill>
            </a:endParaRPr>
          </a:p>
          <a:p>
            <a:r>
              <a:rPr lang="en-IN" sz="2000" dirty="0">
                <a:solidFill>
                  <a:schemeClr val="bg1"/>
                </a:solidFill>
              </a:rPr>
              <a:t>3. Group Officer Actions : Officers can select multiple similar complaints in the same area and mark them all resolved in one action. Saves time on repetitive, one-by-one updates.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9F3A4C4-130A-D614-890F-D5C0DA5C94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A09267FB-9353-8B7C-E605-88B55FB11647}"/>
              </a:ext>
            </a:extLst>
          </p:cNvPr>
          <p:cNvSpPr/>
          <p:nvPr/>
        </p:nvSpPr>
        <p:spPr>
          <a:xfrm>
            <a:off x="548640" y="411480"/>
            <a:ext cx="731520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r>
              <a:rPr lang="en-US" sz="3600" b="1" dirty="0">
                <a:solidFill>
                  <a:srgbClr val="21295C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Unique Features</a:t>
            </a:r>
            <a:r>
              <a:rPr lang="en-IN" sz="3600" dirty="0"/>
              <a:t> </a:t>
            </a:r>
            <a:endParaRPr lang="en-US" sz="3400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DDC3EE89-4F7C-582D-6778-B3B9AE512166}"/>
              </a:ext>
            </a:extLst>
          </p:cNvPr>
          <p:cNvSpPr/>
          <p:nvPr/>
        </p:nvSpPr>
        <p:spPr>
          <a:xfrm>
            <a:off x="548640" y="960120"/>
            <a:ext cx="73152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r>
              <a:rPr lang="en-IN" sz="1400" dirty="0">
                <a:solidFill>
                  <a:schemeClr val="bg1">
                    <a:lumMod val="50000"/>
                  </a:schemeClr>
                </a:solidFill>
              </a:rPr>
              <a:t>emphasizes what makes your project different</a:t>
            </a:r>
            <a:endParaRPr lang="en-US" sz="14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7C1A8580-9D19-39B4-D15F-13F408A37B4F}"/>
              </a:ext>
            </a:extLst>
          </p:cNvPr>
          <p:cNvSpPr/>
          <p:nvPr/>
        </p:nvSpPr>
        <p:spPr>
          <a:xfrm>
            <a:off x="548640" y="1508760"/>
            <a:ext cx="5349240" cy="4754880"/>
          </a:xfrm>
          <a:prstGeom prst="roundRect">
            <a:avLst>
              <a:gd name="adj" fmla="val 1538"/>
            </a:avLst>
          </a:prstGeom>
          <a:solidFill>
            <a:srgbClr val="F4F7F9"/>
          </a:solidFill>
        </p:spPr>
        <p:txBody>
          <a:bodyPr/>
          <a:lstStyle/>
          <a:p>
            <a:endParaRPr lang="en-IN" dirty="0"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32D4FB70-5918-7EA6-0D13-04D69B1F96BD}"/>
              </a:ext>
            </a:extLst>
          </p:cNvPr>
          <p:cNvSpPr/>
          <p:nvPr/>
        </p:nvSpPr>
        <p:spPr>
          <a:xfrm>
            <a:off x="868680" y="1783080"/>
            <a:ext cx="640080" cy="640080"/>
          </a:xfrm>
          <a:prstGeom prst="ellipse">
            <a:avLst/>
          </a:prstGeom>
          <a:solidFill>
            <a:srgbClr val="065A82"/>
          </a:solidFill>
        </p:spPr>
      </p:sp>
      <p:pic>
        <p:nvPicPr>
          <p:cNvPr id="6" name="Image 0" descr="/home/claude/civicpulse/icons/user_FFFFFF.png">
            <a:extLst>
              <a:ext uri="{FF2B5EF4-FFF2-40B4-BE49-F238E27FC236}">
                <a16:creationId xmlns:a16="http://schemas.microsoft.com/office/drawing/2014/main" id="{D22A7809-9599-1F74-04CD-B32CE5D493F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8700" y="1943100"/>
            <a:ext cx="320040" cy="320040"/>
          </a:xfrm>
          <a:prstGeom prst="rect">
            <a:avLst/>
          </a:prstGeom>
        </p:spPr>
      </p:pic>
      <p:sp>
        <p:nvSpPr>
          <p:cNvPr id="7" name="Text 4">
            <a:extLst>
              <a:ext uri="{FF2B5EF4-FFF2-40B4-BE49-F238E27FC236}">
                <a16:creationId xmlns:a16="http://schemas.microsoft.com/office/drawing/2014/main" id="{C3B2A650-0A03-BC47-72C6-6BD4B6A1C291}"/>
              </a:ext>
            </a:extLst>
          </p:cNvPr>
          <p:cNvSpPr/>
          <p:nvPr/>
        </p:nvSpPr>
        <p:spPr>
          <a:xfrm>
            <a:off x="1645920" y="1828800"/>
            <a:ext cx="365760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21295C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User Module</a:t>
            </a:r>
            <a:endParaRPr lang="en-US" sz="2000" dirty="0"/>
          </a:p>
        </p:txBody>
      </p:sp>
      <p:pic>
        <p:nvPicPr>
          <p:cNvPr id="8" name="Image 1" descr="/home/claude/civicpulse/icons/checkCircle_1C7293.png">
            <a:extLst>
              <a:ext uri="{FF2B5EF4-FFF2-40B4-BE49-F238E27FC236}">
                <a16:creationId xmlns:a16="http://schemas.microsoft.com/office/drawing/2014/main" id="{D70D1859-1FC5-7F2C-6035-6DBD33BD248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8680" y="2651760"/>
            <a:ext cx="256032" cy="256032"/>
          </a:xfrm>
          <a:prstGeom prst="rect">
            <a:avLst/>
          </a:prstGeom>
        </p:spPr>
      </p:pic>
      <p:sp>
        <p:nvSpPr>
          <p:cNvPr id="9" name="Text 5">
            <a:extLst>
              <a:ext uri="{FF2B5EF4-FFF2-40B4-BE49-F238E27FC236}">
                <a16:creationId xmlns:a16="http://schemas.microsoft.com/office/drawing/2014/main" id="{05816BC2-1BAA-4F77-97D4-96FD393E8821}"/>
              </a:ext>
            </a:extLst>
          </p:cNvPr>
          <p:cNvSpPr/>
          <p:nvPr/>
        </p:nvSpPr>
        <p:spPr>
          <a:xfrm>
            <a:off x="1234440" y="2569464"/>
            <a:ext cx="4434840" cy="5486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A2B3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Register / login with secure credentials</a:t>
            </a:r>
            <a:endParaRPr lang="en-US" sz="1300" dirty="0"/>
          </a:p>
        </p:txBody>
      </p:sp>
      <p:pic>
        <p:nvPicPr>
          <p:cNvPr id="10" name="Image 2" descr="/home/claude/civicpulse/icons/checkCircle_1C7293.png">
            <a:extLst>
              <a:ext uri="{FF2B5EF4-FFF2-40B4-BE49-F238E27FC236}">
                <a16:creationId xmlns:a16="http://schemas.microsoft.com/office/drawing/2014/main" id="{EB442A5E-25DB-0017-4E27-2D2D9273AA9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8680" y="3273552"/>
            <a:ext cx="256032" cy="256032"/>
          </a:xfrm>
          <a:prstGeom prst="rect">
            <a:avLst/>
          </a:prstGeom>
        </p:spPr>
      </p:pic>
      <p:sp>
        <p:nvSpPr>
          <p:cNvPr id="11" name="Text 6">
            <a:extLst>
              <a:ext uri="{FF2B5EF4-FFF2-40B4-BE49-F238E27FC236}">
                <a16:creationId xmlns:a16="http://schemas.microsoft.com/office/drawing/2014/main" id="{FE3BC6AB-FF25-C520-49FC-DFE90C840417}"/>
              </a:ext>
            </a:extLst>
          </p:cNvPr>
          <p:cNvSpPr/>
          <p:nvPr/>
        </p:nvSpPr>
        <p:spPr>
          <a:xfrm>
            <a:off x="1234440" y="3191256"/>
            <a:ext cx="4434840" cy="5486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A2B3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File complaints with category, location &amp; photo evidence</a:t>
            </a:r>
            <a:endParaRPr lang="en-US" sz="1300" dirty="0"/>
          </a:p>
        </p:txBody>
      </p:sp>
      <p:pic>
        <p:nvPicPr>
          <p:cNvPr id="12" name="Image 3" descr="/home/claude/civicpulse/icons/checkCircle_1C7293.png">
            <a:extLst>
              <a:ext uri="{FF2B5EF4-FFF2-40B4-BE49-F238E27FC236}">
                <a16:creationId xmlns:a16="http://schemas.microsoft.com/office/drawing/2014/main" id="{A212868C-D06E-30CE-6056-60AE94ADCEB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8680" y="3895344"/>
            <a:ext cx="256032" cy="256032"/>
          </a:xfrm>
          <a:prstGeom prst="rect">
            <a:avLst/>
          </a:prstGeom>
        </p:spPr>
      </p:pic>
      <p:sp>
        <p:nvSpPr>
          <p:cNvPr id="13" name="Text 7">
            <a:extLst>
              <a:ext uri="{FF2B5EF4-FFF2-40B4-BE49-F238E27FC236}">
                <a16:creationId xmlns:a16="http://schemas.microsoft.com/office/drawing/2014/main" id="{9BB5C9A4-A2AF-8039-DB46-703ADF573EE1}"/>
              </a:ext>
            </a:extLst>
          </p:cNvPr>
          <p:cNvSpPr/>
          <p:nvPr/>
        </p:nvSpPr>
        <p:spPr>
          <a:xfrm>
            <a:off x="1234440" y="3813048"/>
            <a:ext cx="4434840" cy="5486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A2B3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Track real-time status with a unique complaint ID</a:t>
            </a:r>
            <a:endParaRPr lang="en-US" sz="1300" dirty="0"/>
          </a:p>
        </p:txBody>
      </p:sp>
      <p:pic>
        <p:nvPicPr>
          <p:cNvPr id="14" name="Image 4" descr="/home/claude/civicpulse/icons/checkCircle_1C7293.png">
            <a:extLst>
              <a:ext uri="{FF2B5EF4-FFF2-40B4-BE49-F238E27FC236}">
                <a16:creationId xmlns:a16="http://schemas.microsoft.com/office/drawing/2014/main" id="{09094E61-F826-6758-D123-3CA1D592DCD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8680" y="4517136"/>
            <a:ext cx="256032" cy="256032"/>
          </a:xfrm>
          <a:prstGeom prst="rect">
            <a:avLst/>
          </a:prstGeom>
        </p:spPr>
      </p:pic>
      <p:sp>
        <p:nvSpPr>
          <p:cNvPr id="15" name="Text 8">
            <a:extLst>
              <a:ext uri="{FF2B5EF4-FFF2-40B4-BE49-F238E27FC236}">
                <a16:creationId xmlns:a16="http://schemas.microsoft.com/office/drawing/2014/main" id="{5D264626-4648-A38B-9BA0-6F002A6F08AA}"/>
              </a:ext>
            </a:extLst>
          </p:cNvPr>
          <p:cNvSpPr/>
          <p:nvPr/>
        </p:nvSpPr>
        <p:spPr>
          <a:xfrm>
            <a:off x="1234440" y="4434840"/>
            <a:ext cx="4434840" cy="5486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A2B3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Receive SMS / email notifications on updates</a:t>
            </a:r>
            <a:endParaRPr lang="en-US" sz="1300" dirty="0"/>
          </a:p>
        </p:txBody>
      </p:sp>
      <p:pic>
        <p:nvPicPr>
          <p:cNvPr id="16" name="Image 5" descr="/home/claude/civicpulse/icons/checkCircle_1C7293.png">
            <a:extLst>
              <a:ext uri="{FF2B5EF4-FFF2-40B4-BE49-F238E27FC236}">
                <a16:creationId xmlns:a16="http://schemas.microsoft.com/office/drawing/2014/main" id="{1431CBD3-0721-E255-07E0-EC5433765FF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8680" y="5138928"/>
            <a:ext cx="256032" cy="256032"/>
          </a:xfrm>
          <a:prstGeom prst="rect">
            <a:avLst/>
          </a:prstGeom>
        </p:spPr>
      </p:pic>
      <p:sp>
        <p:nvSpPr>
          <p:cNvPr id="17" name="Text 9">
            <a:extLst>
              <a:ext uri="{FF2B5EF4-FFF2-40B4-BE49-F238E27FC236}">
                <a16:creationId xmlns:a16="http://schemas.microsoft.com/office/drawing/2014/main" id="{D074B379-7722-2771-B565-B3DE1BAB8DB2}"/>
              </a:ext>
            </a:extLst>
          </p:cNvPr>
          <p:cNvSpPr/>
          <p:nvPr/>
        </p:nvSpPr>
        <p:spPr>
          <a:xfrm>
            <a:off x="1234440" y="5056632"/>
            <a:ext cx="4434840" cy="5486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A2B3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Rate resolution &amp; give feedback</a:t>
            </a:r>
            <a:endParaRPr lang="en-US" sz="1300" dirty="0"/>
          </a:p>
        </p:txBody>
      </p:sp>
      <p:pic>
        <p:nvPicPr>
          <p:cNvPr id="18" name="Image 6" descr="/home/claude/civicpulse/icons/checkCircle_1C7293.png">
            <a:extLst>
              <a:ext uri="{FF2B5EF4-FFF2-40B4-BE49-F238E27FC236}">
                <a16:creationId xmlns:a16="http://schemas.microsoft.com/office/drawing/2014/main" id="{60069256-2000-503B-0A99-E4EB51A694D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8680" y="5760720"/>
            <a:ext cx="256032" cy="256032"/>
          </a:xfrm>
          <a:prstGeom prst="rect">
            <a:avLst/>
          </a:prstGeom>
        </p:spPr>
      </p:pic>
      <p:sp>
        <p:nvSpPr>
          <p:cNvPr id="19" name="Text 10">
            <a:extLst>
              <a:ext uri="{FF2B5EF4-FFF2-40B4-BE49-F238E27FC236}">
                <a16:creationId xmlns:a16="http://schemas.microsoft.com/office/drawing/2014/main" id="{27FA1A4C-22E9-61D9-A00E-6971A14BDC02}"/>
              </a:ext>
            </a:extLst>
          </p:cNvPr>
          <p:cNvSpPr/>
          <p:nvPr/>
        </p:nvSpPr>
        <p:spPr>
          <a:xfrm>
            <a:off x="1234440" y="5678424"/>
            <a:ext cx="4434840" cy="5486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A2B3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View complaint history</a:t>
            </a:r>
            <a:endParaRPr lang="en-US" sz="1300" dirty="0"/>
          </a:p>
        </p:txBody>
      </p:sp>
      <p:sp>
        <p:nvSpPr>
          <p:cNvPr id="20" name="Shape 11">
            <a:extLst>
              <a:ext uri="{FF2B5EF4-FFF2-40B4-BE49-F238E27FC236}">
                <a16:creationId xmlns:a16="http://schemas.microsoft.com/office/drawing/2014/main" id="{9168BA50-88F5-8093-E844-D9F97D70374E}"/>
              </a:ext>
            </a:extLst>
          </p:cNvPr>
          <p:cNvSpPr/>
          <p:nvPr/>
        </p:nvSpPr>
        <p:spPr>
          <a:xfrm>
            <a:off x="548640" y="1600200"/>
            <a:ext cx="11094720" cy="4626864"/>
          </a:xfrm>
          <a:prstGeom prst="roundRect">
            <a:avLst>
              <a:gd name="adj" fmla="val 1538"/>
            </a:avLst>
          </a:prstGeom>
          <a:solidFill>
            <a:srgbClr val="21295C"/>
          </a:solidFill>
        </p:spPr>
        <p:txBody>
          <a:bodyPr/>
          <a:lstStyle/>
          <a:p>
            <a:endParaRPr lang="en-IN" dirty="0"/>
          </a:p>
        </p:txBody>
      </p:sp>
      <p:sp>
        <p:nvSpPr>
          <p:cNvPr id="21" name="Shape 12">
            <a:extLst>
              <a:ext uri="{FF2B5EF4-FFF2-40B4-BE49-F238E27FC236}">
                <a16:creationId xmlns:a16="http://schemas.microsoft.com/office/drawing/2014/main" id="{94DD6B4A-9E57-A64F-059D-4E987CADE980}"/>
              </a:ext>
            </a:extLst>
          </p:cNvPr>
          <p:cNvSpPr/>
          <p:nvPr/>
        </p:nvSpPr>
        <p:spPr>
          <a:xfrm>
            <a:off x="6492240" y="1783080"/>
            <a:ext cx="640080" cy="640080"/>
          </a:xfrm>
          <a:prstGeom prst="ellipse">
            <a:avLst/>
          </a:prstGeom>
          <a:solidFill>
            <a:srgbClr val="F2A65A"/>
          </a:solidFill>
        </p:spPr>
      </p:sp>
      <p:pic>
        <p:nvPicPr>
          <p:cNvPr id="22" name="Image 7" descr="/home/claude/civicpulse/icons/userShield_21295C.png">
            <a:extLst>
              <a:ext uri="{FF2B5EF4-FFF2-40B4-BE49-F238E27FC236}">
                <a16:creationId xmlns:a16="http://schemas.microsoft.com/office/drawing/2014/main" id="{00864A6E-3EEA-91A9-D007-4DE85A6AF92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52260" y="1943100"/>
            <a:ext cx="320040" cy="320040"/>
          </a:xfrm>
          <a:prstGeom prst="rect">
            <a:avLst/>
          </a:prstGeom>
        </p:spPr>
      </p:pic>
      <p:sp>
        <p:nvSpPr>
          <p:cNvPr id="23" name="Text 13">
            <a:extLst>
              <a:ext uri="{FF2B5EF4-FFF2-40B4-BE49-F238E27FC236}">
                <a16:creationId xmlns:a16="http://schemas.microsoft.com/office/drawing/2014/main" id="{7BF5FBDA-4E03-7964-3D0F-0D5704B02F51}"/>
              </a:ext>
            </a:extLst>
          </p:cNvPr>
          <p:cNvSpPr/>
          <p:nvPr/>
        </p:nvSpPr>
        <p:spPr>
          <a:xfrm>
            <a:off x="7269480" y="1828800"/>
            <a:ext cx="365760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Admin Module</a:t>
            </a:r>
            <a:endParaRPr lang="en-US" sz="2000" dirty="0"/>
          </a:p>
        </p:txBody>
      </p:sp>
      <p:pic>
        <p:nvPicPr>
          <p:cNvPr id="24" name="Image 8" descr="/home/claude/civicpulse/icons/checkCircle_F2A65A.png">
            <a:extLst>
              <a:ext uri="{FF2B5EF4-FFF2-40B4-BE49-F238E27FC236}">
                <a16:creationId xmlns:a16="http://schemas.microsoft.com/office/drawing/2014/main" id="{EB570805-A818-F469-A0B9-E3E55074165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92240" y="2651760"/>
            <a:ext cx="256032" cy="256032"/>
          </a:xfrm>
          <a:prstGeom prst="rect">
            <a:avLst/>
          </a:prstGeom>
        </p:spPr>
      </p:pic>
      <p:sp>
        <p:nvSpPr>
          <p:cNvPr id="25" name="Text 14">
            <a:extLst>
              <a:ext uri="{FF2B5EF4-FFF2-40B4-BE49-F238E27FC236}">
                <a16:creationId xmlns:a16="http://schemas.microsoft.com/office/drawing/2014/main" id="{FB8367A3-E387-D679-CF22-F1DC4A85CEF5}"/>
              </a:ext>
            </a:extLst>
          </p:cNvPr>
          <p:cNvSpPr/>
          <p:nvPr/>
        </p:nvSpPr>
        <p:spPr>
          <a:xfrm>
            <a:off x="6858000" y="2569464"/>
            <a:ext cx="4434840" cy="5486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E4E9F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Department-wise login (Water, Roads, Electricity, etc.)</a:t>
            </a:r>
            <a:endParaRPr lang="en-US" sz="1300" dirty="0"/>
          </a:p>
        </p:txBody>
      </p:sp>
      <p:pic>
        <p:nvPicPr>
          <p:cNvPr id="26" name="Image 9" descr="/home/claude/civicpulse/icons/checkCircle_F2A65A.png">
            <a:extLst>
              <a:ext uri="{FF2B5EF4-FFF2-40B4-BE49-F238E27FC236}">
                <a16:creationId xmlns:a16="http://schemas.microsoft.com/office/drawing/2014/main" id="{8D0CBE47-6E7E-3444-C544-944FD150944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92240" y="3273552"/>
            <a:ext cx="256032" cy="256032"/>
          </a:xfrm>
          <a:prstGeom prst="rect">
            <a:avLst/>
          </a:prstGeom>
        </p:spPr>
      </p:pic>
      <p:sp>
        <p:nvSpPr>
          <p:cNvPr id="27" name="Text 15">
            <a:extLst>
              <a:ext uri="{FF2B5EF4-FFF2-40B4-BE49-F238E27FC236}">
                <a16:creationId xmlns:a16="http://schemas.microsoft.com/office/drawing/2014/main" id="{714A6716-3DCF-2746-F5EC-261B1CBFE545}"/>
              </a:ext>
            </a:extLst>
          </p:cNvPr>
          <p:cNvSpPr/>
          <p:nvPr/>
        </p:nvSpPr>
        <p:spPr>
          <a:xfrm>
            <a:off x="6858000" y="3191256"/>
            <a:ext cx="4434840" cy="5486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E4E9F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View &amp; filter complaints assigned to their department</a:t>
            </a:r>
            <a:endParaRPr lang="en-US" sz="1300" dirty="0"/>
          </a:p>
        </p:txBody>
      </p:sp>
      <p:pic>
        <p:nvPicPr>
          <p:cNvPr id="28" name="Image 10" descr="/home/claude/civicpulse/icons/checkCircle_F2A65A.png">
            <a:extLst>
              <a:ext uri="{FF2B5EF4-FFF2-40B4-BE49-F238E27FC236}">
                <a16:creationId xmlns:a16="http://schemas.microsoft.com/office/drawing/2014/main" id="{DB81936D-4090-8334-48BD-8F4151896BC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92240" y="3895344"/>
            <a:ext cx="256032" cy="256032"/>
          </a:xfrm>
          <a:prstGeom prst="rect">
            <a:avLst/>
          </a:prstGeom>
        </p:spPr>
      </p:pic>
      <p:sp>
        <p:nvSpPr>
          <p:cNvPr id="29" name="Text 16">
            <a:extLst>
              <a:ext uri="{FF2B5EF4-FFF2-40B4-BE49-F238E27FC236}">
                <a16:creationId xmlns:a16="http://schemas.microsoft.com/office/drawing/2014/main" id="{4D9EAC62-5D04-3264-0E9B-732E09BB05E0}"/>
              </a:ext>
            </a:extLst>
          </p:cNvPr>
          <p:cNvSpPr/>
          <p:nvPr/>
        </p:nvSpPr>
        <p:spPr>
          <a:xfrm>
            <a:off x="6858000" y="3813048"/>
            <a:ext cx="4434840" cy="5486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E4E9F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Update status: Assigned → In Progress → Resolved</a:t>
            </a:r>
            <a:endParaRPr lang="en-US" sz="1300" dirty="0"/>
          </a:p>
        </p:txBody>
      </p:sp>
      <p:pic>
        <p:nvPicPr>
          <p:cNvPr id="30" name="Image 11" descr="/home/claude/civicpulse/icons/checkCircle_F2A65A.png">
            <a:extLst>
              <a:ext uri="{FF2B5EF4-FFF2-40B4-BE49-F238E27FC236}">
                <a16:creationId xmlns:a16="http://schemas.microsoft.com/office/drawing/2014/main" id="{7595C2DE-73CA-3C62-90F3-FADAA3A905B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92240" y="4517136"/>
            <a:ext cx="256032" cy="256032"/>
          </a:xfrm>
          <a:prstGeom prst="rect">
            <a:avLst/>
          </a:prstGeom>
        </p:spPr>
      </p:pic>
      <p:sp>
        <p:nvSpPr>
          <p:cNvPr id="31" name="Text 17">
            <a:extLst>
              <a:ext uri="{FF2B5EF4-FFF2-40B4-BE49-F238E27FC236}">
                <a16:creationId xmlns:a16="http://schemas.microsoft.com/office/drawing/2014/main" id="{4D0572F5-E9DB-901D-3839-01E59BFF2628}"/>
              </a:ext>
            </a:extLst>
          </p:cNvPr>
          <p:cNvSpPr/>
          <p:nvPr/>
        </p:nvSpPr>
        <p:spPr>
          <a:xfrm>
            <a:off x="6858000" y="4434840"/>
            <a:ext cx="4434840" cy="5486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E4E9F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Escalate overdue complaints breaching SLA</a:t>
            </a:r>
            <a:endParaRPr lang="en-US" sz="1300" dirty="0"/>
          </a:p>
        </p:txBody>
      </p:sp>
      <p:pic>
        <p:nvPicPr>
          <p:cNvPr id="32" name="Image 12" descr="/home/claude/civicpulse/icons/checkCircle_F2A65A.png">
            <a:extLst>
              <a:ext uri="{FF2B5EF4-FFF2-40B4-BE49-F238E27FC236}">
                <a16:creationId xmlns:a16="http://schemas.microsoft.com/office/drawing/2014/main" id="{F2DDF64C-5FC3-CA99-1100-D5F37F8E271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92240" y="5138928"/>
            <a:ext cx="256032" cy="256032"/>
          </a:xfrm>
          <a:prstGeom prst="rect">
            <a:avLst/>
          </a:prstGeom>
        </p:spPr>
      </p:pic>
      <p:sp>
        <p:nvSpPr>
          <p:cNvPr id="33" name="Text 18">
            <a:extLst>
              <a:ext uri="{FF2B5EF4-FFF2-40B4-BE49-F238E27FC236}">
                <a16:creationId xmlns:a16="http://schemas.microsoft.com/office/drawing/2014/main" id="{C25FC92B-98C5-152A-EA7D-6FE25B3B6108}"/>
              </a:ext>
            </a:extLst>
          </p:cNvPr>
          <p:cNvSpPr/>
          <p:nvPr/>
        </p:nvSpPr>
        <p:spPr>
          <a:xfrm>
            <a:off x="6858000" y="5056632"/>
            <a:ext cx="4434840" cy="5486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E4E9F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Access analytics on department performance</a:t>
            </a:r>
            <a:endParaRPr lang="en-US" sz="1300" dirty="0"/>
          </a:p>
        </p:txBody>
      </p:sp>
      <p:pic>
        <p:nvPicPr>
          <p:cNvPr id="34" name="Image 13" descr="/home/claude/civicpulse/icons/checkCircle_F2A65A.png">
            <a:extLst>
              <a:ext uri="{FF2B5EF4-FFF2-40B4-BE49-F238E27FC236}">
                <a16:creationId xmlns:a16="http://schemas.microsoft.com/office/drawing/2014/main" id="{F26ED205-5603-4B68-37C0-55F83B6893F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92240" y="5760720"/>
            <a:ext cx="256032" cy="256032"/>
          </a:xfrm>
          <a:prstGeom prst="rect">
            <a:avLst/>
          </a:prstGeom>
        </p:spPr>
      </p:pic>
      <p:sp>
        <p:nvSpPr>
          <p:cNvPr id="35" name="Text 19">
            <a:extLst>
              <a:ext uri="{FF2B5EF4-FFF2-40B4-BE49-F238E27FC236}">
                <a16:creationId xmlns:a16="http://schemas.microsoft.com/office/drawing/2014/main" id="{947863F9-ABAE-925F-1924-FE6B6FE9BEBE}"/>
              </a:ext>
            </a:extLst>
          </p:cNvPr>
          <p:cNvSpPr/>
          <p:nvPr/>
        </p:nvSpPr>
        <p:spPr>
          <a:xfrm>
            <a:off x="6858000" y="5678424"/>
            <a:ext cx="4434840" cy="5486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E4E9F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Super-admin view across all departments</a:t>
            </a:r>
            <a:endParaRPr lang="en-US" sz="1300" dirty="0"/>
          </a:p>
        </p:txBody>
      </p:sp>
      <p:sp>
        <p:nvSpPr>
          <p:cNvPr id="37" name="Shape 2">
            <a:extLst>
              <a:ext uri="{FF2B5EF4-FFF2-40B4-BE49-F238E27FC236}">
                <a16:creationId xmlns:a16="http://schemas.microsoft.com/office/drawing/2014/main" id="{5041A076-92EE-B61E-DCDC-E046AD39A0EB}"/>
              </a:ext>
            </a:extLst>
          </p:cNvPr>
          <p:cNvSpPr/>
          <p:nvPr/>
        </p:nvSpPr>
        <p:spPr>
          <a:xfrm>
            <a:off x="548640" y="1530608"/>
            <a:ext cx="5349240" cy="4754880"/>
          </a:xfrm>
          <a:prstGeom prst="roundRect">
            <a:avLst>
              <a:gd name="adj" fmla="val 1538"/>
            </a:avLst>
          </a:prstGeom>
          <a:solidFill>
            <a:srgbClr val="F4F7F9"/>
          </a:solidFill>
        </p:spPr>
        <p:txBody>
          <a:bodyPr/>
          <a:lstStyle/>
          <a:p>
            <a:r>
              <a:rPr lang="en-US"/>
              <a:t>*1. Auto-Forward if No Action If an officer doesn't respond within 2 days, the complaint automatically escalates to their senior. Keeps complaints from getting silently ignored.*</a:t>
            </a:r>
          </a:p>
          <a:p>
            <a:r>
              <a:rPr lang="en-US"/>
              <a:t>2. Reopen a "Fixed" Complaint Citizens can reopen a resolved complaint within 5 days if the issue reoccurs, instead of filing a new one. Prevents repeat problems from being treated as fresh, unrelated tickets.</a:t>
            </a:r>
          </a:p>
          <a:p>
            <a:endParaRPr lang="en-US"/>
          </a:p>
          <a:p>
            <a:r>
              <a:rPr lang="en-US"/>
              <a:t>3. Group Officer Actions*Officers can select multiple similar complaints in the same area and mark them all resolved in one action. Saves time on repetitive, one-by-one updates.</a:t>
            </a:r>
            <a:endParaRPr lang="en-IN" dirty="0"/>
          </a:p>
        </p:txBody>
      </p:sp>
      <p:sp>
        <p:nvSpPr>
          <p:cNvPr id="43" name="Shape 11">
            <a:extLst>
              <a:ext uri="{FF2B5EF4-FFF2-40B4-BE49-F238E27FC236}">
                <a16:creationId xmlns:a16="http://schemas.microsoft.com/office/drawing/2014/main" id="{0E8D5AB1-D8D7-41A7-F150-56F2B9DACB80}"/>
              </a:ext>
            </a:extLst>
          </p:cNvPr>
          <p:cNvSpPr/>
          <p:nvPr/>
        </p:nvSpPr>
        <p:spPr>
          <a:xfrm>
            <a:off x="548640" y="1600200"/>
            <a:ext cx="10982510" cy="4626864"/>
          </a:xfrm>
          <a:prstGeom prst="roundRect">
            <a:avLst>
              <a:gd name="adj" fmla="val 1538"/>
            </a:avLst>
          </a:prstGeom>
          <a:solidFill>
            <a:srgbClr val="21295C"/>
          </a:solidFill>
        </p:spPr>
        <p:txBody>
          <a:bodyPr/>
          <a:lstStyle/>
          <a:p>
            <a:endParaRPr lang="en-IN" dirty="0">
              <a:solidFill>
                <a:schemeClr val="bg1"/>
              </a:solidFill>
            </a:endParaRP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CBA64BB9-B7AA-36FE-2141-6B24421CD78B}"/>
              </a:ext>
            </a:extLst>
          </p:cNvPr>
          <p:cNvSpPr txBox="1"/>
          <p:nvPr/>
        </p:nvSpPr>
        <p:spPr>
          <a:xfrm>
            <a:off x="1124712" y="2098289"/>
            <a:ext cx="10038588" cy="53245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000" b="1" dirty="0">
                <a:solidFill>
                  <a:schemeClr val="bg1"/>
                </a:solidFill>
                <a:cs typeface="Times New Roman" panose="02020603050405020304" pitchFamily="18" charset="0"/>
              </a:rPr>
              <a:t>AI-Powered Complaint Analysis</a:t>
            </a:r>
            <a:br>
              <a:rPr lang="en-IN" sz="2000" b="1" dirty="0">
                <a:solidFill>
                  <a:schemeClr val="bg1"/>
                </a:solidFill>
                <a:cs typeface="Times New Roman" panose="02020603050405020304" pitchFamily="18" charset="0"/>
              </a:rPr>
            </a:br>
            <a:br>
              <a:rPr lang="en-IN" sz="2000" b="1" dirty="0">
                <a:solidFill>
                  <a:schemeClr val="bg1"/>
                </a:solidFill>
                <a:cs typeface="Times New Roman" panose="02020603050405020304" pitchFamily="18" charset="0"/>
              </a:rPr>
            </a:br>
            <a:br>
              <a:rPr lang="en-IN" sz="2000" b="1" dirty="0">
                <a:solidFill>
                  <a:schemeClr val="bg1"/>
                </a:solidFill>
                <a:cs typeface="Times New Roman" panose="02020603050405020304" pitchFamily="18" charset="0"/>
              </a:rPr>
            </a:br>
            <a:br>
              <a:rPr lang="en-IN" sz="2000" b="1" dirty="0">
                <a:solidFill>
                  <a:schemeClr val="bg1"/>
                </a:solidFill>
                <a:cs typeface="Times New Roman" panose="02020603050405020304" pitchFamily="18" charset="0"/>
              </a:rPr>
            </a:br>
            <a:br>
              <a:rPr lang="en-IN" sz="2000" b="1" dirty="0">
                <a:solidFill>
                  <a:schemeClr val="bg1"/>
                </a:solidFill>
                <a:cs typeface="Times New Roman" panose="02020603050405020304" pitchFamily="18" charset="0"/>
              </a:rPr>
            </a:br>
            <a:br>
              <a:rPr lang="en-IN" sz="2000" b="1" dirty="0">
                <a:solidFill>
                  <a:schemeClr val="bg1"/>
                </a:solidFill>
                <a:cs typeface="Times New Roman" panose="02020603050405020304" pitchFamily="18" charset="0"/>
              </a:rPr>
            </a:br>
            <a:br>
              <a:rPr lang="en-IN" sz="2000" b="1" dirty="0">
                <a:solidFill>
                  <a:schemeClr val="bg1"/>
                </a:solidFill>
                <a:cs typeface="Times New Roman" panose="02020603050405020304" pitchFamily="18" charset="0"/>
              </a:rPr>
            </a:br>
            <a:br>
              <a:rPr lang="en-IN" sz="2000" b="1" dirty="0">
                <a:solidFill>
                  <a:schemeClr val="bg1"/>
                </a:solidFill>
                <a:cs typeface="Times New Roman" panose="02020603050405020304" pitchFamily="18" charset="0"/>
              </a:rPr>
            </a:br>
            <a:br>
              <a:rPr lang="en-IN" sz="2000" b="1" dirty="0">
                <a:solidFill>
                  <a:schemeClr val="bg1"/>
                </a:solidFill>
                <a:cs typeface="Times New Roman" panose="02020603050405020304" pitchFamily="18" charset="0"/>
              </a:rPr>
            </a:br>
            <a:br>
              <a:rPr lang="en-IN" sz="2000" b="1" dirty="0">
                <a:solidFill>
                  <a:schemeClr val="bg1"/>
                </a:solidFill>
                <a:cs typeface="Times New Roman" panose="02020603050405020304" pitchFamily="18" charset="0"/>
              </a:rPr>
            </a:br>
            <a:br>
              <a:rPr lang="en-IN" sz="2000" b="1" dirty="0">
                <a:solidFill>
                  <a:schemeClr val="bg1"/>
                </a:solidFill>
                <a:cs typeface="Times New Roman" panose="02020603050405020304" pitchFamily="18" charset="0"/>
              </a:rPr>
            </a:br>
            <a:br>
              <a:rPr lang="en-IN" sz="2000" b="1" dirty="0">
                <a:solidFill>
                  <a:schemeClr val="bg1"/>
                </a:solidFill>
                <a:cs typeface="Times New Roman" panose="02020603050405020304" pitchFamily="18" charset="0"/>
              </a:rPr>
            </a:br>
            <a:br>
              <a:rPr lang="en-IN" sz="2000" b="1" dirty="0">
                <a:solidFill>
                  <a:schemeClr val="bg1"/>
                </a:solidFill>
                <a:cs typeface="Times New Roman" panose="02020603050405020304" pitchFamily="18" charset="0"/>
              </a:rPr>
            </a:br>
            <a:br>
              <a:rPr lang="en-IN" sz="2000" b="1" dirty="0">
                <a:solidFill>
                  <a:schemeClr val="bg1"/>
                </a:solidFill>
                <a:cs typeface="Times New Roman" panose="02020603050405020304" pitchFamily="18" charset="0"/>
              </a:rPr>
            </a:br>
            <a:br>
              <a:rPr lang="en-IN" sz="2000" b="1" dirty="0">
                <a:solidFill>
                  <a:schemeClr val="bg1"/>
                </a:solidFill>
                <a:cs typeface="Times New Roman" panose="02020603050405020304" pitchFamily="18" charset="0"/>
              </a:rPr>
            </a:br>
            <a:br>
              <a:rPr lang="en-IN" sz="2000" b="1" dirty="0">
                <a:solidFill>
                  <a:schemeClr val="bg1"/>
                </a:solidFill>
                <a:cs typeface="Times New Roman" panose="02020603050405020304" pitchFamily="18" charset="0"/>
              </a:rPr>
            </a:br>
            <a:endParaRPr lang="en-IN" sz="2000" b="1" dirty="0">
              <a:solidFill>
                <a:schemeClr val="bg1"/>
              </a:solidFill>
              <a:cs typeface="Times New Roman" panose="02020603050405020304" pitchFamily="18" charset="0"/>
            </a:endParaRPr>
          </a:p>
        </p:txBody>
      </p:sp>
      <p:pic>
        <p:nvPicPr>
          <p:cNvPr id="42" name="Picture 41">
            <a:extLst>
              <a:ext uri="{FF2B5EF4-FFF2-40B4-BE49-F238E27FC236}">
                <a16:creationId xmlns:a16="http://schemas.microsoft.com/office/drawing/2014/main" id="{BBA3ACCA-BAAE-902E-D2D4-17B497A2CDD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34440" y="2907788"/>
            <a:ext cx="9108440" cy="23500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0635429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A5831BC-ECE8-49DA-3E74-ABE814455B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333C27C4-F09A-F0BC-89A4-D1C0915408AA}"/>
              </a:ext>
            </a:extLst>
          </p:cNvPr>
          <p:cNvSpPr/>
          <p:nvPr/>
        </p:nvSpPr>
        <p:spPr>
          <a:xfrm>
            <a:off x="548640" y="411480"/>
            <a:ext cx="731520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r>
              <a:rPr lang="en-US" sz="3600" b="1" dirty="0">
                <a:solidFill>
                  <a:srgbClr val="21295C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Unique Features</a:t>
            </a:r>
            <a:r>
              <a:rPr lang="en-IN" sz="3600" dirty="0"/>
              <a:t> </a:t>
            </a:r>
            <a:endParaRPr lang="en-US" sz="3400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7BCFA95F-5C65-28A3-C274-8926624239BC}"/>
              </a:ext>
            </a:extLst>
          </p:cNvPr>
          <p:cNvSpPr/>
          <p:nvPr/>
        </p:nvSpPr>
        <p:spPr>
          <a:xfrm>
            <a:off x="548640" y="960120"/>
            <a:ext cx="73152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r>
              <a:rPr lang="en-IN" sz="1400" dirty="0">
                <a:solidFill>
                  <a:schemeClr val="bg1">
                    <a:lumMod val="50000"/>
                  </a:schemeClr>
                </a:solidFill>
              </a:rPr>
              <a:t>emphasizes what makes your project different</a:t>
            </a:r>
            <a:endParaRPr lang="en-US" sz="14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59D3D3D2-EA3D-ADBF-5EBE-8F8A1C40770C}"/>
              </a:ext>
            </a:extLst>
          </p:cNvPr>
          <p:cNvSpPr/>
          <p:nvPr/>
        </p:nvSpPr>
        <p:spPr>
          <a:xfrm>
            <a:off x="548640" y="1508760"/>
            <a:ext cx="5349240" cy="4754880"/>
          </a:xfrm>
          <a:prstGeom prst="roundRect">
            <a:avLst>
              <a:gd name="adj" fmla="val 1538"/>
            </a:avLst>
          </a:prstGeom>
          <a:solidFill>
            <a:srgbClr val="F4F7F9"/>
          </a:solidFill>
        </p:spPr>
        <p:txBody>
          <a:bodyPr/>
          <a:lstStyle/>
          <a:p>
            <a:endParaRPr lang="en-IN" dirty="0"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BBBC8BE4-22A7-D5CE-8E0F-D7E30AD2A667}"/>
              </a:ext>
            </a:extLst>
          </p:cNvPr>
          <p:cNvSpPr/>
          <p:nvPr/>
        </p:nvSpPr>
        <p:spPr>
          <a:xfrm>
            <a:off x="868680" y="1783080"/>
            <a:ext cx="640080" cy="640080"/>
          </a:xfrm>
          <a:prstGeom prst="ellipse">
            <a:avLst/>
          </a:prstGeom>
          <a:solidFill>
            <a:srgbClr val="065A82"/>
          </a:solidFill>
        </p:spPr>
      </p:sp>
      <p:pic>
        <p:nvPicPr>
          <p:cNvPr id="6" name="Image 0" descr="/home/claude/civicpulse/icons/user_FFFFFF.png">
            <a:extLst>
              <a:ext uri="{FF2B5EF4-FFF2-40B4-BE49-F238E27FC236}">
                <a16:creationId xmlns:a16="http://schemas.microsoft.com/office/drawing/2014/main" id="{6A212307-9F3D-BB85-BA69-C96CB6A326A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8700" y="1943100"/>
            <a:ext cx="320040" cy="320040"/>
          </a:xfrm>
          <a:prstGeom prst="rect">
            <a:avLst/>
          </a:prstGeom>
        </p:spPr>
      </p:pic>
      <p:sp>
        <p:nvSpPr>
          <p:cNvPr id="7" name="Text 4">
            <a:extLst>
              <a:ext uri="{FF2B5EF4-FFF2-40B4-BE49-F238E27FC236}">
                <a16:creationId xmlns:a16="http://schemas.microsoft.com/office/drawing/2014/main" id="{0923A94C-2F9A-439A-6966-5A85B22C559D}"/>
              </a:ext>
            </a:extLst>
          </p:cNvPr>
          <p:cNvSpPr/>
          <p:nvPr/>
        </p:nvSpPr>
        <p:spPr>
          <a:xfrm>
            <a:off x="1645920" y="1828800"/>
            <a:ext cx="365760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21295C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User Module</a:t>
            </a:r>
            <a:endParaRPr lang="en-US" sz="2000" dirty="0"/>
          </a:p>
        </p:txBody>
      </p:sp>
      <p:pic>
        <p:nvPicPr>
          <p:cNvPr id="8" name="Image 1" descr="/home/claude/civicpulse/icons/checkCircle_1C7293.png">
            <a:extLst>
              <a:ext uri="{FF2B5EF4-FFF2-40B4-BE49-F238E27FC236}">
                <a16:creationId xmlns:a16="http://schemas.microsoft.com/office/drawing/2014/main" id="{B111C2D2-540E-E36D-AE8D-757EB5E7B42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8680" y="2651760"/>
            <a:ext cx="256032" cy="256032"/>
          </a:xfrm>
          <a:prstGeom prst="rect">
            <a:avLst/>
          </a:prstGeom>
        </p:spPr>
      </p:pic>
      <p:sp>
        <p:nvSpPr>
          <p:cNvPr id="9" name="Text 5">
            <a:extLst>
              <a:ext uri="{FF2B5EF4-FFF2-40B4-BE49-F238E27FC236}">
                <a16:creationId xmlns:a16="http://schemas.microsoft.com/office/drawing/2014/main" id="{E9896DB1-182C-08FC-1101-B9BC32F6CECB}"/>
              </a:ext>
            </a:extLst>
          </p:cNvPr>
          <p:cNvSpPr/>
          <p:nvPr/>
        </p:nvSpPr>
        <p:spPr>
          <a:xfrm>
            <a:off x="1234440" y="2569464"/>
            <a:ext cx="4434840" cy="5486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A2B3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Register / login with secure credentials</a:t>
            </a:r>
            <a:endParaRPr lang="en-US" sz="1300" dirty="0"/>
          </a:p>
        </p:txBody>
      </p:sp>
      <p:pic>
        <p:nvPicPr>
          <p:cNvPr id="10" name="Image 2" descr="/home/claude/civicpulse/icons/checkCircle_1C7293.png">
            <a:extLst>
              <a:ext uri="{FF2B5EF4-FFF2-40B4-BE49-F238E27FC236}">
                <a16:creationId xmlns:a16="http://schemas.microsoft.com/office/drawing/2014/main" id="{1FF09C00-8F41-E4FA-8AAC-8EA9D93FE77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8680" y="3273552"/>
            <a:ext cx="256032" cy="256032"/>
          </a:xfrm>
          <a:prstGeom prst="rect">
            <a:avLst/>
          </a:prstGeom>
        </p:spPr>
      </p:pic>
      <p:sp>
        <p:nvSpPr>
          <p:cNvPr id="11" name="Text 6">
            <a:extLst>
              <a:ext uri="{FF2B5EF4-FFF2-40B4-BE49-F238E27FC236}">
                <a16:creationId xmlns:a16="http://schemas.microsoft.com/office/drawing/2014/main" id="{6D063EB9-4D8E-E90F-CBF4-AD793CF05C8F}"/>
              </a:ext>
            </a:extLst>
          </p:cNvPr>
          <p:cNvSpPr/>
          <p:nvPr/>
        </p:nvSpPr>
        <p:spPr>
          <a:xfrm>
            <a:off x="1234440" y="3191256"/>
            <a:ext cx="4434840" cy="5486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A2B3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File complaints with category, location &amp; photo evidence</a:t>
            </a:r>
            <a:endParaRPr lang="en-US" sz="1300" dirty="0"/>
          </a:p>
        </p:txBody>
      </p:sp>
      <p:pic>
        <p:nvPicPr>
          <p:cNvPr id="12" name="Image 3" descr="/home/claude/civicpulse/icons/checkCircle_1C7293.png">
            <a:extLst>
              <a:ext uri="{FF2B5EF4-FFF2-40B4-BE49-F238E27FC236}">
                <a16:creationId xmlns:a16="http://schemas.microsoft.com/office/drawing/2014/main" id="{1284905A-BF1D-272F-099C-B05E2F2A02B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8680" y="3895344"/>
            <a:ext cx="256032" cy="256032"/>
          </a:xfrm>
          <a:prstGeom prst="rect">
            <a:avLst/>
          </a:prstGeom>
        </p:spPr>
      </p:pic>
      <p:sp>
        <p:nvSpPr>
          <p:cNvPr id="13" name="Text 7">
            <a:extLst>
              <a:ext uri="{FF2B5EF4-FFF2-40B4-BE49-F238E27FC236}">
                <a16:creationId xmlns:a16="http://schemas.microsoft.com/office/drawing/2014/main" id="{DD9FBDF4-61F3-9F3B-0DA8-73363525BB2E}"/>
              </a:ext>
            </a:extLst>
          </p:cNvPr>
          <p:cNvSpPr/>
          <p:nvPr/>
        </p:nvSpPr>
        <p:spPr>
          <a:xfrm>
            <a:off x="1234440" y="3813048"/>
            <a:ext cx="4434840" cy="5486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A2B3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Track real-time status with a unique complaint ID</a:t>
            </a:r>
            <a:endParaRPr lang="en-US" sz="1300" dirty="0"/>
          </a:p>
        </p:txBody>
      </p:sp>
      <p:pic>
        <p:nvPicPr>
          <p:cNvPr id="14" name="Image 4" descr="/home/claude/civicpulse/icons/checkCircle_1C7293.png">
            <a:extLst>
              <a:ext uri="{FF2B5EF4-FFF2-40B4-BE49-F238E27FC236}">
                <a16:creationId xmlns:a16="http://schemas.microsoft.com/office/drawing/2014/main" id="{09F4FFF7-0D98-0507-7AC9-AAF95C11ACF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8680" y="4517136"/>
            <a:ext cx="256032" cy="256032"/>
          </a:xfrm>
          <a:prstGeom prst="rect">
            <a:avLst/>
          </a:prstGeom>
        </p:spPr>
      </p:pic>
      <p:sp>
        <p:nvSpPr>
          <p:cNvPr id="15" name="Text 8">
            <a:extLst>
              <a:ext uri="{FF2B5EF4-FFF2-40B4-BE49-F238E27FC236}">
                <a16:creationId xmlns:a16="http://schemas.microsoft.com/office/drawing/2014/main" id="{FCF8F6FF-0E3C-58CC-D467-91787EED84E2}"/>
              </a:ext>
            </a:extLst>
          </p:cNvPr>
          <p:cNvSpPr/>
          <p:nvPr/>
        </p:nvSpPr>
        <p:spPr>
          <a:xfrm>
            <a:off x="1234440" y="4434840"/>
            <a:ext cx="4434840" cy="5486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A2B3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Receive SMS / email notifications on updates</a:t>
            </a:r>
            <a:endParaRPr lang="en-US" sz="1300" dirty="0"/>
          </a:p>
        </p:txBody>
      </p:sp>
      <p:pic>
        <p:nvPicPr>
          <p:cNvPr id="16" name="Image 5" descr="/home/claude/civicpulse/icons/checkCircle_1C7293.png">
            <a:extLst>
              <a:ext uri="{FF2B5EF4-FFF2-40B4-BE49-F238E27FC236}">
                <a16:creationId xmlns:a16="http://schemas.microsoft.com/office/drawing/2014/main" id="{4EE740B2-2841-4F6A-7F2D-A48C32BF85C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8680" y="5138928"/>
            <a:ext cx="256032" cy="256032"/>
          </a:xfrm>
          <a:prstGeom prst="rect">
            <a:avLst/>
          </a:prstGeom>
        </p:spPr>
      </p:pic>
      <p:sp>
        <p:nvSpPr>
          <p:cNvPr id="17" name="Text 9">
            <a:extLst>
              <a:ext uri="{FF2B5EF4-FFF2-40B4-BE49-F238E27FC236}">
                <a16:creationId xmlns:a16="http://schemas.microsoft.com/office/drawing/2014/main" id="{255415FE-C8CE-468B-39A8-817D6ED1A700}"/>
              </a:ext>
            </a:extLst>
          </p:cNvPr>
          <p:cNvSpPr/>
          <p:nvPr/>
        </p:nvSpPr>
        <p:spPr>
          <a:xfrm>
            <a:off x="1234440" y="5056632"/>
            <a:ext cx="4434840" cy="5486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A2B3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Rate resolution &amp; give feedback</a:t>
            </a:r>
            <a:endParaRPr lang="en-US" sz="1300" dirty="0"/>
          </a:p>
        </p:txBody>
      </p:sp>
      <p:pic>
        <p:nvPicPr>
          <p:cNvPr id="18" name="Image 6" descr="/home/claude/civicpulse/icons/checkCircle_1C7293.png">
            <a:extLst>
              <a:ext uri="{FF2B5EF4-FFF2-40B4-BE49-F238E27FC236}">
                <a16:creationId xmlns:a16="http://schemas.microsoft.com/office/drawing/2014/main" id="{44DC6465-57EC-D01C-A9FC-C1D9A9C2A62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8680" y="5760720"/>
            <a:ext cx="256032" cy="256032"/>
          </a:xfrm>
          <a:prstGeom prst="rect">
            <a:avLst/>
          </a:prstGeom>
        </p:spPr>
      </p:pic>
      <p:sp>
        <p:nvSpPr>
          <p:cNvPr id="19" name="Text 10">
            <a:extLst>
              <a:ext uri="{FF2B5EF4-FFF2-40B4-BE49-F238E27FC236}">
                <a16:creationId xmlns:a16="http://schemas.microsoft.com/office/drawing/2014/main" id="{D7C8986F-1EC8-EF4C-D549-59F65BF4FCF1}"/>
              </a:ext>
            </a:extLst>
          </p:cNvPr>
          <p:cNvSpPr/>
          <p:nvPr/>
        </p:nvSpPr>
        <p:spPr>
          <a:xfrm>
            <a:off x="1234440" y="5678424"/>
            <a:ext cx="4434840" cy="5486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A2B3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View complaint history</a:t>
            </a:r>
            <a:endParaRPr lang="en-US" sz="1300" dirty="0"/>
          </a:p>
        </p:txBody>
      </p:sp>
      <p:sp>
        <p:nvSpPr>
          <p:cNvPr id="21" name="Shape 12">
            <a:extLst>
              <a:ext uri="{FF2B5EF4-FFF2-40B4-BE49-F238E27FC236}">
                <a16:creationId xmlns:a16="http://schemas.microsoft.com/office/drawing/2014/main" id="{873772BD-C9E4-1A40-1B84-8D694D668598}"/>
              </a:ext>
            </a:extLst>
          </p:cNvPr>
          <p:cNvSpPr/>
          <p:nvPr/>
        </p:nvSpPr>
        <p:spPr>
          <a:xfrm>
            <a:off x="6492240" y="1783080"/>
            <a:ext cx="640080" cy="640080"/>
          </a:xfrm>
          <a:prstGeom prst="ellipse">
            <a:avLst/>
          </a:prstGeom>
          <a:solidFill>
            <a:srgbClr val="F2A65A"/>
          </a:solidFill>
        </p:spPr>
      </p:sp>
      <p:pic>
        <p:nvPicPr>
          <p:cNvPr id="22" name="Image 7" descr="/home/claude/civicpulse/icons/userShield_21295C.png">
            <a:extLst>
              <a:ext uri="{FF2B5EF4-FFF2-40B4-BE49-F238E27FC236}">
                <a16:creationId xmlns:a16="http://schemas.microsoft.com/office/drawing/2014/main" id="{9E5FA80F-720A-9A7B-1CC8-A94C28F3AF2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52260" y="1943100"/>
            <a:ext cx="320040" cy="320040"/>
          </a:xfrm>
          <a:prstGeom prst="rect">
            <a:avLst/>
          </a:prstGeom>
        </p:spPr>
      </p:pic>
      <p:sp>
        <p:nvSpPr>
          <p:cNvPr id="23" name="Text 13">
            <a:extLst>
              <a:ext uri="{FF2B5EF4-FFF2-40B4-BE49-F238E27FC236}">
                <a16:creationId xmlns:a16="http://schemas.microsoft.com/office/drawing/2014/main" id="{751715D4-4BB5-F528-AACB-3A1142FE68B5}"/>
              </a:ext>
            </a:extLst>
          </p:cNvPr>
          <p:cNvSpPr/>
          <p:nvPr/>
        </p:nvSpPr>
        <p:spPr>
          <a:xfrm>
            <a:off x="7269480" y="1828800"/>
            <a:ext cx="365760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Admin Module</a:t>
            </a:r>
            <a:endParaRPr lang="en-US" sz="2000" dirty="0"/>
          </a:p>
        </p:txBody>
      </p:sp>
      <p:pic>
        <p:nvPicPr>
          <p:cNvPr id="24" name="Image 8" descr="/home/claude/civicpulse/icons/checkCircle_F2A65A.png">
            <a:extLst>
              <a:ext uri="{FF2B5EF4-FFF2-40B4-BE49-F238E27FC236}">
                <a16:creationId xmlns:a16="http://schemas.microsoft.com/office/drawing/2014/main" id="{CF1EF008-0447-3178-51AD-A4549982CA8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92240" y="2651760"/>
            <a:ext cx="256032" cy="256032"/>
          </a:xfrm>
          <a:prstGeom prst="rect">
            <a:avLst/>
          </a:prstGeom>
        </p:spPr>
      </p:pic>
      <p:sp>
        <p:nvSpPr>
          <p:cNvPr id="25" name="Text 14">
            <a:extLst>
              <a:ext uri="{FF2B5EF4-FFF2-40B4-BE49-F238E27FC236}">
                <a16:creationId xmlns:a16="http://schemas.microsoft.com/office/drawing/2014/main" id="{9D01A20D-76CB-8F53-94C7-ABBD4A633B67}"/>
              </a:ext>
            </a:extLst>
          </p:cNvPr>
          <p:cNvSpPr/>
          <p:nvPr/>
        </p:nvSpPr>
        <p:spPr>
          <a:xfrm>
            <a:off x="6858000" y="2569464"/>
            <a:ext cx="4434840" cy="5486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E4E9F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Department-wise login (Water, Roads, Electricity, etc.)</a:t>
            </a:r>
            <a:endParaRPr lang="en-US" sz="1300" dirty="0"/>
          </a:p>
        </p:txBody>
      </p:sp>
      <p:pic>
        <p:nvPicPr>
          <p:cNvPr id="26" name="Image 9" descr="/home/claude/civicpulse/icons/checkCircle_F2A65A.png">
            <a:extLst>
              <a:ext uri="{FF2B5EF4-FFF2-40B4-BE49-F238E27FC236}">
                <a16:creationId xmlns:a16="http://schemas.microsoft.com/office/drawing/2014/main" id="{26DEAAE5-8BA2-E63D-A9CF-1D7E23A0DAC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92240" y="3273552"/>
            <a:ext cx="256032" cy="256032"/>
          </a:xfrm>
          <a:prstGeom prst="rect">
            <a:avLst/>
          </a:prstGeom>
        </p:spPr>
      </p:pic>
      <p:sp>
        <p:nvSpPr>
          <p:cNvPr id="27" name="Text 15">
            <a:extLst>
              <a:ext uri="{FF2B5EF4-FFF2-40B4-BE49-F238E27FC236}">
                <a16:creationId xmlns:a16="http://schemas.microsoft.com/office/drawing/2014/main" id="{C29D2CB6-0BAA-7D16-31A5-73F7A4B2D292}"/>
              </a:ext>
            </a:extLst>
          </p:cNvPr>
          <p:cNvSpPr/>
          <p:nvPr/>
        </p:nvSpPr>
        <p:spPr>
          <a:xfrm>
            <a:off x="6858000" y="3191256"/>
            <a:ext cx="4434840" cy="5486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E4E9F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View &amp; filter complaints assigned to their department</a:t>
            </a:r>
            <a:endParaRPr lang="en-US" sz="1300" dirty="0"/>
          </a:p>
        </p:txBody>
      </p:sp>
      <p:pic>
        <p:nvPicPr>
          <p:cNvPr id="28" name="Image 10" descr="/home/claude/civicpulse/icons/checkCircle_F2A65A.png">
            <a:extLst>
              <a:ext uri="{FF2B5EF4-FFF2-40B4-BE49-F238E27FC236}">
                <a16:creationId xmlns:a16="http://schemas.microsoft.com/office/drawing/2014/main" id="{6E88DA03-33D5-18E8-2A73-5825946EEE7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92240" y="3895344"/>
            <a:ext cx="256032" cy="256032"/>
          </a:xfrm>
          <a:prstGeom prst="rect">
            <a:avLst/>
          </a:prstGeom>
        </p:spPr>
      </p:pic>
      <p:sp>
        <p:nvSpPr>
          <p:cNvPr id="29" name="Text 16">
            <a:extLst>
              <a:ext uri="{FF2B5EF4-FFF2-40B4-BE49-F238E27FC236}">
                <a16:creationId xmlns:a16="http://schemas.microsoft.com/office/drawing/2014/main" id="{2D3A7B22-8DB0-CCB0-0F3B-E017DDB4429D}"/>
              </a:ext>
            </a:extLst>
          </p:cNvPr>
          <p:cNvSpPr/>
          <p:nvPr/>
        </p:nvSpPr>
        <p:spPr>
          <a:xfrm>
            <a:off x="6858000" y="3813048"/>
            <a:ext cx="4434840" cy="5486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E4E9F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Update status: Assigned → In Progress → Resolved</a:t>
            </a:r>
            <a:endParaRPr lang="en-US" sz="1300" dirty="0"/>
          </a:p>
        </p:txBody>
      </p:sp>
      <p:pic>
        <p:nvPicPr>
          <p:cNvPr id="30" name="Image 11" descr="/home/claude/civicpulse/icons/checkCircle_F2A65A.png">
            <a:extLst>
              <a:ext uri="{FF2B5EF4-FFF2-40B4-BE49-F238E27FC236}">
                <a16:creationId xmlns:a16="http://schemas.microsoft.com/office/drawing/2014/main" id="{E6FD4219-2A5E-459B-1880-D78A96B6A72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92240" y="4517136"/>
            <a:ext cx="256032" cy="256032"/>
          </a:xfrm>
          <a:prstGeom prst="rect">
            <a:avLst/>
          </a:prstGeom>
        </p:spPr>
      </p:pic>
      <p:sp>
        <p:nvSpPr>
          <p:cNvPr id="31" name="Text 17">
            <a:extLst>
              <a:ext uri="{FF2B5EF4-FFF2-40B4-BE49-F238E27FC236}">
                <a16:creationId xmlns:a16="http://schemas.microsoft.com/office/drawing/2014/main" id="{6AED1589-BFEC-EACA-5D4D-4C5CFBE1C318}"/>
              </a:ext>
            </a:extLst>
          </p:cNvPr>
          <p:cNvSpPr/>
          <p:nvPr/>
        </p:nvSpPr>
        <p:spPr>
          <a:xfrm>
            <a:off x="6858000" y="4434840"/>
            <a:ext cx="4434840" cy="5486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E4E9F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Escalate overdue complaints breaching SLA</a:t>
            </a:r>
            <a:endParaRPr lang="en-US" sz="1300" dirty="0"/>
          </a:p>
        </p:txBody>
      </p:sp>
      <p:pic>
        <p:nvPicPr>
          <p:cNvPr id="32" name="Image 12" descr="/home/claude/civicpulse/icons/checkCircle_F2A65A.png">
            <a:extLst>
              <a:ext uri="{FF2B5EF4-FFF2-40B4-BE49-F238E27FC236}">
                <a16:creationId xmlns:a16="http://schemas.microsoft.com/office/drawing/2014/main" id="{0BE4A148-4DB6-DD57-3D7B-C4CC4CB0451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92240" y="5138928"/>
            <a:ext cx="256032" cy="256032"/>
          </a:xfrm>
          <a:prstGeom prst="rect">
            <a:avLst/>
          </a:prstGeom>
        </p:spPr>
      </p:pic>
      <p:sp>
        <p:nvSpPr>
          <p:cNvPr id="33" name="Text 18">
            <a:extLst>
              <a:ext uri="{FF2B5EF4-FFF2-40B4-BE49-F238E27FC236}">
                <a16:creationId xmlns:a16="http://schemas.microsoft.com/office/drawing/2014/main" id="{048FEC35-0573-3433-CC09-36D5DEDABE25}"/>
              </a:ext>
            </a:extLst>
          </p:cNvPr>
          <p:cNvSpPr/>
          <p:nvPr/>
        </p:nvSpPr>
        <p:spPr>
          <a:xfrm>
            <a:off x="6858000" y="5056632"/>
            <a:ext cx="4434840" cy="5486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E4E9F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Access analytics on department performance</a:t>
            </a:r>
            <a:endParaRPr lang="en-US" sz="1300" dirty="0"/>
          </a:p>
        </p:txBody>
      </p:sp>
      <p:pic>
        <p:nvPicPr>
          <p:cNvPr id="34" name="Image 13" descr="/home/claude/civicpulse/icons/checkCircle_F2A65A.png">
            <a:extLst>
              <a:ext uri="{FF2B5EF4-FFF2-40B4-BE49-F238E27FC236}">
                <a16:creationId xmlns:a16="http://schemas.microsoft.com/office/drawing/2014/main" id="{CFD0ECF9-2175-80A2-7257-D7A9F18B845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92240" y="5760720"/>
            <a:ext cx="256032" cy="256032"/>
          </a:xfrm>
          <a:prstGeom prst="rect">
            <a:avLst/>
          </a:prstGeom>
        </p:spPr>
      </p:pic>
      <p:sp>
        <p:nvSpPr>
          <p:cNvPr id="35" name="Text 19">
            <a:extLst>
              <a:ext uri="{FF2B5EF4-FFF2-40B4-BE49-F238E27FC236}">
                <a16:creationId xmlns:a16="http://schemas.microsoft.com/office/drawing/2014/main" id="{5D724E80-4631-2CEA-1531-38AC824918A1}"/>
              </a:ext>
            </a:extLst>
          </p:cNvPr>
          <p:cNvSpPr/>
          <p:nvPr/>
        </p:nvSpPr>
        <p:spPr>
          <a:xfrm>
            <a:off x="6858000" y="5678424"/>
            <a:ext cx="4434840" cy="5486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E4E9F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Super-admin view across all departments</a:t>
            </a:r>
            <a:endParaRPr lang="en-US" sz="1300" dirty="0"/>
          </a:p>
        </p:txBody>
      </p:sp>
      <p:sp>
        <p:nvSpPr>
          <p:cNvPr id="37" name="Shape 2">
            <a:extLst>
              <a:ext uri="{FF2B5EF4-FFF2-40B4-BE49-F238E27FC236}">
                <a16:creationId xmlns:a16="http://schemas.microsoft.com/office/drawing/2014/main" id="{59887B2E-D5AF-3646-8BFB-399BEBA957CE}"/>
              </a:ext>
            </a:extLst>
          </p:cNvPr>
          <p:cNvSpPr/>
          <p:nvPr/>
        </p:nvSpPr>
        <p:spPr>
          <a:xfrm>
            <a:off x="548640" y="1530608"/>
            <a:ext cx="5349240" cy="4754880"/>
          </a:xfrm>
          <a:prstGeom prst="roundRect">
            <a:avLst>
              <a:gd name="adj" fmla="val 1538"/>
            </a:avLst>
          </a:prstGeom>
          <a:solidFill>
            <a:srgbClr val="F4F7F9"/>
          </a:solidFill>
        </p:spPr>
        <p:txBody>
          <a:bodyPr/>
          <a:lstStyle/>
          <a:p>
            <a:r>
              <a:rPr lang="en-US"/>
              <a:t>*1. Auto-Forward if No Action If an officer doesn't respond within 2 days, the complaint automatically escalates to their senior. Keeps complaints from getting silently ignored.*</a:t>
            </a:r>
          </a:p>
          <a:p>
            <a:r>
              <a:rPr lang="en-US"/>
              <a:t>2. Reopen a "Fixed" Complaint Citizens can reopen a resolved complaint within 5 days if the issue reoccurs, instead of filing a new one. Prevents repeat problems from being treated as fresh, unrelated tickets.</a:t>
            </a:r>
          </a:p>
          <a:p>
            <a:endParaRPr lang="en-US"/>
          </a:p>
          <a:p>
            <a:r>
              <a:rPr lang="en-US"/>
              <a:t>3. Group Officer Actions*Officers can select multiple similar complaints in the same area and mark them all resolved in one action. Saves time on repetitive, one-by-one updates.</a:t>
            </a:r>
            <a:endParaRPr lang="en-IN" dirty="0"/>
          </a:p>
        </p:txBody>
      </p:sp>
      <p:sp>
        <p:nvSpPr>
          <p:cNvPr id="43" name="Shape 11">
            <a:extLst>
              <a:ext uri="{FF2B5EF4-FFF2-40B4-BE49-F238E27FC236}">
                <a16:creationId xmlns:a16="http://schemas.microsoft.com/office/drawing/2014/main" id="{08185A20-1197-B325-5947-CC6C9ECB707E}"/>
              </a:ext>
            </a:extLst>
          </p:cNvPr>
          <p:cNvSpPr/>
          <p:nvPr/>
        </p:nvSpPr>
        <p:spPr>
          <a:xfrm>
            <a:off x="548640" y="1530608"/>
            <a:ext cx="10982510" cy="4626864"/>
          </a:xfrm>
          <a:prstGeom prst="roundRect">
            <a:avLst>
              <a:gd name="adj" fmla="val 1538"/>
            </a:avLst>
          </a:prstGeom>
          <a:solidFill>
            <a:srgbClr val="21295C"/>
          </a:solidFill>
        </p:spPr>
        <p:txBody>
          <a:bodyPr/>
          <a:lstStyle/>
          <a:p>
            <a:endParaRPr lang="en-IN" dirty="0">
              <a:solidFill>
                <a:schemeClr val="bg1"/>
              </a:solidFill>
            </a:endParaRP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A0CCDE50-2563-B226-631E-68E5A6DB8FF1}"/>
              </a:ext>
            </a:extLst>
          </p:cNvPr>
          <p:cNvSpPr txBox="1"/>
          <p:nvPr/>
        </p:nvSpPr>
        <p:spPr>
          <a:xfrm>
            <a:off x="906639" y="1719072"/>
            <a:ext cx="10038588" cy="53245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000" b="1" dirty="0">
                <a:solidFill>
                  <a:schemeClr val="bg1"/>
                </a:solidFill>
              </a:rPr>
              <a:t>Field Verification &amp; Resolution Proof</a:t>
            </a:r>
            <a:br>
              <a:rPr lang="en-IN" sz="2000" b="1" dirty="0">
                <a:solidFill>
                  <a:schemeClr val="bg1"/>
                </a:solidFill>
                <a:cs typeface="Times New Roman" panose="02020603050405020304" pitchFamily="18" charset="0"/>
              </a:rPr>
            </a:br>
            <a:br>
              <a:rPr lang="en-IN" sz="2000" b="1" dirty="0">
                <a:solidFill>
                  <a:schemeClr val="bg1"/>
                </a:solidFill>
                <a:cs typeface="Times New Roman" panose="02020603050405020304" pitchFamily="18" charset="0"/>
              </a:rPr>
            </a:br>
            <a:br>
              <a:rPr lang="en-IN" sz="2000" b="1" dirty="0">
                <a:solidFill>
                  <a:schemeClr val="bg1"/>
                </a:solidFill>
                <a:cs typeface="Times New Roman" panose="02020603050405020304" pitchFamily="18" charset="0"/>
              </a:rPr>
            </a:br>
            <a:br>
              <a:rPr lang="en-IN" sz="2000" b="1" dirty="0">
                <a:solidFill>
                  <a:schemeClr val="bg1"/>
                </a:solidFill>
                <a:cs typeface="Times New Roman" panose="02020603050405020304" pitchFamily="18" charset="0"/>
              </a:rPr>
            </a:br>
            <a:br>
              <a:rPr lang="en-IN" sz="2000" b="1" dirty="0">
                <a:solidFill>
                  <a:schemeClr val="bg1"/>
                </a:solidFill>
                <a:cs typeface="Times New Roman" panose="02020603050405020304" pitchFamily="18" charset="0"/>
              </a:rPr>
            </a:br>
            <a:br>
              <a:rPr lang="en-IN" sz="2000" b="1" dirty="0">
                <a:solidFill>
                  <a:schemeClr val="bg1"/>
                </a:solidFill>
                <a:cs typeface="Times New Roman" panose="02020603050405020304" pitchFamily="18" charset="0"/>
              </a:rPr>
            </a:br>
            <a:br>
              <a:rPr lang="en-IN" sz="2000" b="1" dirty="0">
                <a:solidFill>
                  <a:schemeClr val="bg1"/>
                </a:solidFill>
                <a:cs typeface="Times New Roman" panose="02020603050405020304" pitchFamily="18" charset="0"/>
              </a:rPr>
            </a:br>
            <a:br>
              <a:rPr lang="en-IN" sz="2000" b="1" dirty="0">
                <a:solidFill>
                  <a:schemeClr val="bg1"/>
                </a:solidFill>
                <a:cs typeface="Times New Roman" panose="02020603050405020304" pitchFamily="18" charset="0"/>
              </a:rPr>
            </a:br>
            <a:br>
              <a:rPr lang="en-IN" sz="2000" b="1" dirty="0">
                <a:solidFill>
                  <a:schemeClr val="bg1"/>
                </a:solidFill>
                <a:cs typeface="Times New Roman" panose="02020603050405020304" pitchFamily="18" charset="0"/>
              </a:rPr>
            </a:br>
            <a:br>
              <a:rPr lang="en-IN" sz="2000" b="1" dirty="0">
                <a:solidFill>
                  <a:schemeClr val="bg1"/>
                </a:solidFill>
                <a:cs typeface="Times New Roman" panose="02020603050405020304" pitchFamily="18" charset="0"/>
              </a:rPr>
            </a:br>
            <a:br>
              <a:rPr lang="en-IN" sz="2000" b="1" dirty="0">
                <a:solidFill>
                  <a:schemeClr val="bg1"/>
                </a:solidFill>
                <a:cs typeface="Times New Roman" panose="02020603050405020304" pitchFamily="18" charset="0"/>
              </a:rPr>
            </a:br>
            <a:br>
              <a:rPr lang="en-IN" sz="2000" b="1" dirty="0">
                <a:solidFill>
                  <a:schemeClr val="bg1"/>
                </a:solidFill>
                <a:cs typeface="Times New Roman" panose="02020603050405020304" pitchFamily="18" charset="0"/>
              </a:rPr>
            </a:br>
            <a:br>
              <a:rPr lang="en-IN" sz="2000" b="1" dirty="0">
                <a:solidFill>
                  <a:schemeClr val="bg1"/>
                </a:solidFill>
                <a:cs typeface="Times New Roman" panose="02020603050405020304" pitchFamily="18" charset="0"/>
              </a:rPr>
            </a:br>
            <a:br>
              <a:rPr lang="en-IN" sz="2000" b="1" dirty="0">
                <a:solidFill>
                  <a:schemeClr val="bg1"/>
                </a:solidFill>
                <a:cs typeface="Times New Roman" panose="02020603050405020304" pitchFamily="18" charset="0"/>
              </a:rPr>
            </a:br>
            <a:br>
              <a:rPr lang="en-IN" sz="2000" b="1" dirty="0">
                <a:solidFill>
                  <a:schemeClr val="bg1"/>
                </a:solidFill>
                <a:cs typeface="Times New Roman" panose="02020603050405020304" pitchFamily="18" charset="0"/>
              </a:rPr>
            </a:br>
            <a:br>
              <a:rPr lang="en-IN" sz="2000" b="1" dirty="0">
                <a:solidFill>
                  <a:schemeClr val="bg1"/>
                </a:solidFill>
                <a:cs typeface="Times New Roman" panose="02020603050405020304" pitchFamily="18" charset="0"/>
              </a:rPr>
            </a:br>
            <a:endParaRPr lang="en-IN" sz="2000" b="1" dirty="0">
              <a:solidFill>
                <a:schemeClr val="bg1"/>
              </a:solidFill>
              <a:cs typeface="Times New Roman" panose="02020603050405020304" pitchFamily="18" charset="0"/>
            </a:endParaRPr>
          </a:p>
        </p:txBody>
      </p:sp>
      <p:pic>
        <p:nvPicPr>
          <p:cNvPr id="40" name="Picture 39">
            <a:extLst>
              <a:ext uri="{FF2B5EF4-FFF2-40B4-BE49-F238E27FC236}">
                <a16:creationId xmlns:a16="http://schemas.microsoft.com/office/drawing/2014/main" id="{59306E6D-BDA7-A3DC-CFFE-14028795FB4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47166" y="2470637"/>
            <a:ext cx="3680779" cy="3177815"/>
          </a:xfrm>
          <a:prstGeom prst="rect">
            <a:avLst/>
          </a:prstGeom>
        </p:spPr>
      </p:pic>
      <p:pic>
        <p:nvPicPr>
          <p:cNvPr id="44" name="Picture 43">
            <a:extLst>
              <a:ext uri="{FF2B5EF4-FFF2-40B4-BE49-F238E27FC236}">
                <a16:creationId xmlns:a16="http://schemas.microsoft.com/office/drawing/2014/main" id="{D6B88455-78F4-5F2C-72BD-3627761FBE83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263640" y="2279396"/>
            <a:ext cx="4434840" cy="30906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061690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123C21-FB46-F75E-41B1-EE1E8F19A4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32A4F40C-E809-D361-F6FA-FEC87EDF1630}"/>
              </a:ext>
            </a:extLst>
          </p:cNvPr>
          <p:cNvSpPr/>
          <p:nvPr/>
        </p:nvSpPr>
        <p:spPr>
          <a:xfrm>
            <a:off x="548640" y="411480"/>
            <a:ext cx="731520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21295C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Core Modules</a:t>
            </a:r>
            <a:endParaRPr lang="en-US" sz="3400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C7D0E504-9824-F295-EB00-A92AB3684CB3}"/>
              </a:ext>
            </a:extLst>
          </p:cNvPr>
          <p:cNvSpPr/>
          <p:nvPr/>
        </p:nvSpPr>
        <p:spPr>
          <a:xfrm>
            <a:off x="548640" y="960120"/>
            <a:ext cx="73152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C70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Two focused experiences on one platform</a:t>
            </a:r>
            <a:endParaRPr lang="en-US" sz="1400" dirty="0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B54A0059-696E-82BB-D1E4-380FBFAC1CA8}"/>
              </a:ext>
            </a:extLst>
          </p:cNvPr>
          <p:cNvSpPr/>
          <p:nvPr/>
        </p:nvSpPr>
        <p:spPr>
          <a:xfrm>
            <a:off x="548640" y="1508760"/>
            <a:ext cx="5349240" cy="4754880"/>
          </a:xfrm>
          <a:prstGeom prst="roundRect">
            <a:avLst>
              <a:gd name="adj" fmla="val 1538"/>
            </a:avLst>
          </a:prstGeom>
          <a:solidFill>
            <a:srgbClr val="F4F7F9"/>
          </a:solidFill>
        </p:spPr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844F4183-E604-FF29-0C22-875C303FB839}"/>
              </a:ext>
            </a:extLst>
          </p:cNvPr>
          <p:cNvSpPr/>
          <p:nvPr/>
        </p:nvSpPr>
        <p:spPr>
          <a:xfrm>
            <a:off x="868680" y="1783080"/>
            <a:ext cx="640080" cy="640080"/>
          </a:xfrm>
          <a:prstGeom prst="ellipse">
            <a:avLst/>
          </a:prstGeom>
          <a:solidFill>
            <a:srgbClr val="065A82"/>
          </a:solidFill>
        </p:spPr>
      </p:sp>
      <p:pic>
        <p:nvPicPr>
          <p:cNvPr id="6" name="Image 0" descr="/home/claude/civicpulse/icons/user_FFFFFF.png">
            <a:extLst>
              <a:ext uri="{FF2B5EF4-FFF2-40B4-BE49-F238E27FC236}">
                <a16:creationId xmlns:a16="http://schemas.microsoft.com/office/drawing/2014/main" id="{DA9A9551-CBF9-9184-0F42-9156626755D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8700" y="1943100"/>
            <a:ext cx="320040" cy="320040"/>
          </a:xfrm>
          <a:prstGeom prst="rect">
            <a:avLst/>
          </a:prstGeom>
        </p:spPr>
      </p:pic>
      <p:sp>
        <p:nvSpPr>
          <p:cNvPr id="7" name="Text 4">
            <a:extLst>
              <a:ext uri="{FF2B5EF4-FFF2-40B4-BE49-F238E27FC236}">
                <a16:creationId xmlns:a16="http://schemas.microsoft.com/office/drawing/2014/main" id="{230B84F5-F9DE-E5D0-BC6E-11AC194E5E3E}"/>
              </a:ext>
            </a:extLst>
          </p:cNvPr>
          <p:cNvSpPr/>
          <p:nvPr/>
        </p:nvSpPr>
        <p:spPr>
          <a:xfrm>
            <a:off x="1645920" y="1828800"/>
            <a:ext cx="365760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21295C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User Module</a:t>
            </a:r>
            <a:endParaRPr lang="en-US" sz="2000" dirty="0"/>
          </a:p>
        </p:txBody>
      </p:sp>
      <p:pic>
        <p:nvPicPr>
          <p:cNvPr id="8" name="Image 1" descr="/home/claude/civicpulse/icons/checkCircle_1C7293.png">
            <a:extLst>
              <a:ext uri="{FF2B5EF4-FFF2-40B4-BE49-F238E27FC236}">
                <a16:creationId xmlns:a16="http://schemas.microsoft.com/office/drawing/2014/main" id="{79A1FA29-6F09-3326-968F-BFF01232592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8680" y="2651760"/>
            <a:ext cx="256032" cy="256032"/>
          </a:xfrm>
          <a:prstGeom prst="rect">
            <a:avLst/>
          </a:prstGeom>
        </p:spPr>
      </p:pic>
      <p:sp>
        <p:nvSpPr>
          <p:cNvPr id="9" name="Text 5">
            <a:extLst>
              <a:ext uri="{FF2B5EF4-FFF2-40B4-BE49-F238E27FC236}">
                <a16:creationId xmlns:a16="http://schemas.microsoft.com/office/drawing/2014/main" id="{39CE5C3B-6E4B-5227-0216-FC7C600075B8}"/>
              </a:ext>
            </a:extLst>
          </p:cNvPr>
          <p:cNvSpPr/>
          <p:nvPr/>
        </p:nvSpPr>
        <p:spPr>
          <a:xfrm>
            <a:off x="1234440" y="2569464"/>
            <a:ext cx="4434840" cy="5486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A2B3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Register / login with secure credentials</a:t>
            </a:r>
            <a:endParaRPr lang="en-US" sz="1300" dirty="0"/>
          </a:p>
        </p:txBody>
      </p:sp>
      <p:pic>
        <p:nvPicPr>
          <p:cNvPr id="10" name="Image 2" descr="/home/claude/civicpulse/icons/checkCircle_1C7293.png">
            <a:extLst>
              <a:ext uri="{FF2B5EF4-FFF2-40B4-BE49-F238E27FC236}">
                <a16:creationId xmlns:a16="http://schemas.microsoft.com/office/drawing/2014/main" id="{E08D26A3-323E-337F-4D52-67BD155F3FD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8680" y="3273552"/>
            <a:ext cx="256032" cy="256032"/>
          </a:xfrm>
          <a:prstGeom prst="rect">
            <a:avLst/>
          </a:prstGeom>
        </p:spPr>
      </p:pic>
      <p:sp>
        <p:nvSpPr>
          <p:cNvPr id="11" name="Text 6">
            <a:extLst>
              <a:ext uri="{FF2B5EF4-FFF2-40B4-BE49-F238E27FC236}">
                <a16:creationId xmlns:a16="http://schemas.microsoft.com/office/drawing/2014/main" id="{728272BA-253C-1EC9-C6D1-F57F2F76517F}"/>
              </a:ext>
            </a:extLst>
          </p:cNvPr>
          <p:cNvSpPr/>
          <p:nvPr/>
        </p:nvSpPr>
        <p:spPr>
          <a:xfrm>
            <a:off x="1234440" y="3191256"/>
            <a:ext cx="4434840" cy="5486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A2B3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File complaints with category, location &amp; photo evidence</a:t>
            </a:r>
            <a:endParaRPr lang="en-US" sz="1300" dirty="0"/>
          </a:p>
        </p:txBody>
      </p:sp>
      <p:pic>
        <p:nvPicPr>
          <p:cNvPr id="12" name="Image 3" descr="/home/claude/civicpulse/icons/checkCircle_1C7293.png">
            <a:extLst>
              <a:ext uri="{FF2B5EF4-FFF2-40B4-BE49-F238E27FC236}">
                <a16:creationId xmlns:a16="http://schemas.microsoft.com/office/drawing/2014/main" id="{43051257-9472-D66B-7264-17703101122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8680" y="3895344"/>
            <a:ext cx="256032" cy="256032"/>
          </a:xfrm>
          <a:prstGeom prst="rect">
            <a:avLst/>
          </a:prstGeom>
        </p:spPr>
      </p:pic>
      <p:sp>
        <p:nvSpPr>
          <p:cNvPr id="13" name="Text 7">
            <a:extLst>
              <a:ext uri="{FF2B5EF4-FFF2-40B4-BE49-F238E27FC236}">
                <a16:creationId xmlns:a16="http://schemas.microsoft.com/office/drawing/2014/main" id="{E8C01888-E936-21F2-3475-584B4B9CAE12}"/>
              </a:ext>
            </a:extLst>
          </p:cNvPr>
          <p:cNvSpPr/>
          <p:nvPr/>
        </p:nvSpPr>
        <p:spPr>
          <a:xfrm>
            <a:off x="1234440" y="3813048"/>
            <a:ext cx="4434840" cy="5486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A2B3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Track real-time status with a unique complaint ID</a:t>
            </a:r>
            <a:endParaRPr lang="en-US" sz="1300" dirty="0"/>
          </a:p>
        </p:txBody>
      </p:sp>
      <p:pic>
        <p:nvPicPr>
          <p:cNvPr id="14" name="Image 4" descr="/home/claude/civicpulse/icons/checkCircle_1C7293.png">
            <a:extLst>
              <a:ext uri="{FF2B5EF4-FFF2-40B4-BE49-F238E27FC236}">
                <a16:creationId xmlns:a16="http://schemas.microsoft.com/office/drawing/2014/main" id="{ABE127C7-70BA-E3A9-40AB-D291BF01496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8680" y="4517136"/>
            <a:ext cx="256032" cy="256032"/>
          </a:xfrm>
          <a:prstGeom prst="rect">
            <a:avLst/>
          </a:prstGeom>
        </p:spPr>
      </p:pic>
      <p:sp>
        <p:nvSpPr>
          <p:cNvPr id="15" name="Text 8">
            <a:extLst>
              <a:ext uri="{FF2B5EF4-FFF2-40B4-BE49-F238E27FC236}">
                <a16:creationId xmlns:a16="http://schemas.microsoft.com/office/drawing/2014/main" id="{5710E992-B395-67B1-263B-AF07B39DE2C1}"/>
              </a:ext>
            </a:extLst>
          </p:cNvPr>
          <p:cNvSpPr/>
          <p:nvPr/>
        </p:nvSpPr>
        <p:spPr>
          <a:xfrm>
            <a:off x="1234440" y="4434840"/>
            <a:ext cx="4434840" cy="5486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A2B3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Receive SMS / email notifications on updates</a:t>
            </a:r>
            <a:endParaRPr lang="en-US" sz="1300" dirty="0"/>
          </a:p>
        </p:txBody>
      </p:sp>
      <p:pic>
        <p:nvPicPr>
          <p:cNvPr id="16" name="Image 5" descr="/home/claude/civicpulse/icons/checkCircle_1C7293.png">
            <a:extLst>
              <a:ext uri="{FF2B5EF4-FFF2-40B4-BE49-F238E27FC236}">
                <a16:creationId xmlns:a16="http://schemas.microsoft.com/office/drawing/2014/main" id="{ED915FE5-F8C3-DBBE-55FC-2F94380C90A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8680" y="5138928"/>
            <a:ext cx="256032" cy="256032"/>
          </a:xfrm>
          <a:prstGeom prst="rect">
            <a:avLst/>
          </a:prstGeom>
        </p:spPr>
      </p:pic>
      <p:sp>
        <p:nvSpPr>
          <p:cNvPr id="17" name="Text 9">
            <a:extLst>
              <a:ext uri="{FF2B5EF4-FFF2-40B4-BE49-F238E27FC236}">
                <a16:creationId xmlns:a16="http://schemas.microsoft.com/office/drawing/2014/main" id="{415648BF-C37C-FF93-A764-A6517C950DCB}"/>
              </a:ext>
            </a:extLst>
          </p:cNvPr>
          <p:cNvSpPr/>
          <p:nvPr/>
        </p:nvSpPr>
        <p:spPr>
          <a:xfrm>
            <a:off x="1234440" y="5056632"/>
            <a:ext cx="4434840" cy="5486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A2B3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Rate resolution &amp; give feedback</a:t>
            </a:r>
            <a:endParaRPr lang="en-US" sz="1300" dirty="0"/>
          </a:p>
        </p:txBody>
      </p:sp>
      <p:pic>
        <p:nvPicPr>
          <p:cNvPr id="18" name="Image 6" descr="/home/claude/civicpulse/icons/checkCircle_1C7293.png">
            <a:extLst>
              <a:ext uri="{FF2B5EF4-FFF2-40B4-BE49-F238E27FC236}">
                <a16:creationId xmlns:a16="http://schemas.microsoft.com/office/drawing/2014/main" id="{1F1C4DED-2409-59BD-CECE-0F229F259A6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8680" y="5760720"/>
            <a:ext cx="256032" cy="256032"/>
          </a:xfrm>
          <a:prstGeom prst="rect">
            <a:avLst/>
          </a:prstGeom>
        </p:spPr>
      </p:pic>
      <p:sp>
        <p:nvSpPr>
          <p:cNvPr id="19" name="Text 10">
            <a:extLst>
              <a:ext uri="{FF2B5EF4-FFF2-40B4-BE49-F238E27FC236}">
                <a16:creationId xmlns:a16="http://schemas.microsoft.com/office/drawing/2014/main" id="{9C8FA7BF-3BEB-E635-C4A1-1B86D2D63D12}"/>
              </a:ext>
            </a:extLst>
          </p:cNvPr>
          <p:cNvSpPr/>
          <p:nvPr/>
        </p:nvSpPr>
        <p:spPr>
          <a:xfrm>
            <a:off x="1234440" y="5678424"/>
            <a:ext cx="4434840" cy="5486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A2B3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View complaint history</a:t>
            </a:r>
            <a:endParaRPr lang="en-US" sz="1300" dirty="0"/>
          </a:p>
        </p:txBody>
      </p:sp>
      <p:sp>
        <p:nvSpPr>
          <p:cNvPr id="20" name="Shape 11">
            <a:extLst>
              <a:ext uri="{FF2B5EF4-FFF2-40B4-BE49-F238E27FC236}">
                <a16:creationId xmlns:a16="http://schemas.microsoft.com/office/drawing/2014/main" id="{408522E1-41D4-1B9F-8E17-6A0220ACEDC0}"/>
              </a:ext>
            </a:extLst>
          </p:cNvPr>
          <p:cNvSpPr/>
          <p:nvPr/>
        </p:nvSpPr>
        <p:spPr>
          <a:xfrm>
            <a:off x="6172200" y="1508760"/>
            <a:ext cx="5349240" cy="4754880"/>
          </a:xfrm>
          <a:prstGeom prst="roundRect">
            <a:avLst>
              <a:gd name="adj" fmla="val 1538"/>
            </a:avLst>
          </a:prstGeom>
          <a:solidFill>
            <a:srgbClr val="21295C"/>
          </a:solidFill>
        </p:spPr>
      </p:sp>
      <p:sp>
        <p:nvSpPr>
          <p:cNvPr id="21" name="Shape 12">
            <a:extLst>
              <a:ext uri="{FF2B5EF4-FFF2-40B4-BE49-F238E27FC236}">
                <a16:creationId xmlns:a16="http://schemas.microsoft.com/office/drawing/2014/main" id="{0AE49D9E-F9BC-5894-21F0-EECD74F52C1D}"/>
              </a:ext>
            </a:extLst>
          </p:cNvPr>
          <p:cNvSpPr/>
          <p:nvPr/>
        </p:nvSpPr>
        <p:spPr>
          <a:xfrm>
            <a:off x="6492240" y="1783080"/>
            <a:ext cx="640080" cy="640080"/>
          </a:xfrm>
          <a:prstGeom prst="ellipse">
            <a:avLst/>
          </a:prstGeom>
          <a:solidFill>
            <a:srgbClr val="F2A65A"/>
          </a:solidFill>
        </p:spPr>
      </p:sp>
      <p:pic>
        <p:nvPicPr>
          <p:cNvPr id="22" name="Image 7" descr="/home/claude/civicpulse/icons/userShield_21295C.png">
            <a:extLst>
              <a:ext uri="{FF2B5EF4-FFF2-40B4-BE49-F238E27FC236}">
                <a16:creationId xmlns:a16="http://schemas.microsoft.com/office/drawing/2014/main" id="{CF566B0D-0A75-0437-73DB-C916F3E7532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52260" y="1943100"/>
            <a:ext cx="320040" cy="320040"/>
          </a:xfrm>
          <a:prstGeom prst="rect">
            <a:avLst/>
          </a:prstGeom>
        </p:spPr>
      </p:pic>
      <p:sp>
        <p:nvSpPr>
          <p:cNvPr id="23" name="Text 13">
            <a:extLst>
              <a:ext uri="{FF2B5EF4-FFF2-40B4-BE49-F238E27FC236}">
                <a16:creationId xmlns:a16="http://schemas.microsoft.com/office/drawing/2014/main" id="{18BF785F-EC51-753A-A479-6A5F5981AFE1}"/>
              </a:ext>
            </a:extLst>
          </p:cNvPr>
          <p:cNvSpPr/>
          <p:nvPr/>
        </p:nvSpPr>
        <p:spPr>
          <a:xfrm>
            <a:off x="7269480" y="1828800"/>
            <a:ext cx="365760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Admin Module</a:t>
            </a:r>
            <a:endParaRPr lang="en-US" sz="2000" dirty="0"/>
          </a:p>
        </p:txBody>
      </p:sp>
      <p:pic>
        <p:nvPicPr>
          <p:cNvPr id="24" name="Image 8" descr="/home/claude/civicpulse/icons/checkCircle_F2A65A.png">
            <a:extLst>
              <a:ext uri="{FF2B5EF4-FFF2-40B4-BE49-F238E27FC236}">
                <a16:creationId xmlns:a16="http://schemas.microsoft.com/office/drawing/2014/main" id="{05E7D8F2-B172-6AF4-5AEE-15A95D907B0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92240" y="2651760"/>
            <a:ext cx="256032" cy="256032"/>
          </a:xfrm>
          <a:prstGeom prst="rect">
            <a:avLst/>
          </a:prstGeom>
        </p:spPr>
      </p:pic>
      <p:sp>
        <p:nvSpPr>
          <p:cNvPr id="25" name="Text 14">
            <a:extLst>
              <a:ext uri="{FF2B5EF4-FFF2-40B4-BE49-F238E27FC236}">
                <a16:creationId xmlns:a16="http://schemas.microsoft.com/office/drawing/2014/main" id="{807984B4-A340-4DA2-DFCE-E00D9AF5D1E0}"/>
              </a:ext>
            </a:extLst>
          </p:cNvPr>
          <p:cNvSpPr/>
          <p:nvPr/>
        </p:nvSpPr>
        <p:spPr>
          <a:xfrm>
            <a:off x="6858000" y="2569464"/>
            <a:ext cx="4434840" cy="5486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E4E9F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Department-wise login (Water, Roads, Electricity, etc.)</a:t>
            </a:r>
            <a:endParaRPr lang="en-US" sz="1300" dirty="0"/>
          </a:p>
        </p:txBody>
      </p:sp>
      <p:pic>
        <p:nvPicPr>
          <p:cNvPr id="26" name="Image 9" descr="/home/claude/civicpulse/icons/checkCircle_F2A65A.png">
            <a:extLst>
              <a:ext uri="{FF2B5EF4-FFF2-40B4-BE49-F238E27FC236}">
                <a16:creationId xmlns:a16="http://schemas.microsoft.com/office/drawing/2014/main" id="{2A1636A3-4A3A-C2E4-0941-E79D56BB6C7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92240" y="3273552"/>
            <a:ext cx="256032" cy="256032"/>
          </a:xfrm>
          <a:prstGeom prst="rect">
            <a:avLst/>
          </a:prstGeom>
        </p:spPr>
      </p:pic>
      <p:sp>
        <p:nvSpPr>
          <p:cNvPr id="27" name="Text 15">
            <a:extLst>
              <a:ext uri="{FF2B5EF4-FFF2-40B4-BE49-F238E27FC236}">
                <a16:creationId xmlns:a16="http://schemas.microsoft.com/office/drawing/2014/main" id="{832D8795-AD9A-D6FF-E783-30D61920833D}"/>
              </a:ext>
            </a:extLst>
          </p:cNvPr>
          <p:cNvSpPr/>
          <p:nvPr/>
        </p:nvSpPr>
        <p:spPr>
          <a:xfrm>
            <a:off x="6858000" y="3191256"/>
            <a:ext cx="4434840" cy="5486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E4E9F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View &amp; filter complaints assigned to their department</a:t>
            </a:r>
            <a:endParaRPr lang="en-US" sz="1300" dirty="0"/>
          </a:p>
        </p:txBody>
      </p:sp>
      <p:pic>
        <p:nvPicPr>
          <p:cNvPr id="28" name="Image 10" descr="/home/claude/civicpulse/icons/checkCircle_F2A65A.png">
            <a:extLst>
              <a:ext uri="{FF2B5EF4-FFF2-40B4-BE49-F238E27FC236}">
                <a16:creationId xmlns:a16="http://schemas.microsoft.com/office/drawing/2014/main" id="{B661062A-E1CD-BB3D-AAAA-B155D719537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92240" y="3895344"/>
            <a:ext cx="256032" cy="256032"/>
          </a:xfrm>
          <a:prstGeom prst="rect">
            <a:avLst/>
          </a:prstGeom>
        </p:spPr>
      </p:pic>
      <p:sp>
        <p:nvSpPr>
          <p:cNvPr id="29" name="Text 16">
            <a:extLst>
              <a:ext uri="{FF2B5EF4-FFF2-40B4-BE49-F238E27FC236}">
                <a16:creationId xmlns:a16="http://schemas.microsoft.com/office/drawing/2014/main" id="{6FA82EEF-04B9-E5FF-50D9-AAD3662186FF}"/>
              </a:ext>
            </a:extLst>
          </p:cNvPr>
          <p:cNvSpPr/>
          <p:nvPr/>
        </p:nvSpPr>
        <p:spPr>
          <a:xfrm>
            <a:off x="6858000" y="3813048"/>
            <a:ext cx="4434840" cy="5486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E4E9F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Update status: Assigned → In Progress → Resolved</a:t>
            </a:r>
            <a:endParaRPr lang="en-US" sz="1300" dirty="0"/>
          </a:p>
        </p:txBody>
      </p:sp>
      <p:pic>
        <p:nvPicPr>
          <p:cNvPr id="30" name="Image 11" descr="/home/claude/civicpulse/icons/checkCircle_F2A65A.png">
            <a:extLst>
              <a:ext uri="{FF2B5EF4-FFF2-40B4-BE49-F238E27FC236}">
                <a16:creationId xmlns:a16="http://schemas.microsoft.com/office/drawing/2014/main" id="{E5B9BA5A-917E-5381-AE62-0236E17F9C0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92240" y="4517136"/>
            <a:ext cx="256032" cy="256032"/>
          </a:xfrm>
          <a:prstGeom prst="rect">
            <a:avLst/>
          </a:prstGeom>
        </p:spPr>
      </p:pic>
      <p:sp>
        <p:nvSpPr>
          <p:cNvPr id="31" name="Text 17">
            <a:extLst>
              <a:ext uri="{FF2B5EF4-FFF2-40B4-BE49-F238E27FC236}">
                <a16:creationId xmlns:a16="http://schemas.microsoft.com/office/drawing/2014/main" id="{A95E1B12-C0D8-9148-D499-CFA3CE684402}"/>
              </a:ext>
            </a:extLst>
          </p:cNvPr>
          <p:cNvSpPr/>
          <p:nvPr/>
        </p:nvSpPr>
        <p:spPr>
          <a:xfrm>
            <a:off x="6858000" y="4434840"/>
            <a:ext cx="4434840" cy="5486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E4E9F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Escalate overdue complaints breaching SLA</a:t>
            </a:r>
            <a:endParaRPr lang="en-US" sz="1300" dirty="0"/>
          </a:p>
        </p:txBody>
      </p:sp>
      <p:pic>
        <p:nvPicPr>
          <p:cNvPr id="32" name="Image 12" descr="/home/claude/civicpulse/icons/checkCircle_F2A65A.png">
            <a:extLst>
              <a:ext uri="{FF2B5EF4-FFF2-40B4-BE49-F238E27FC236}">
                <a16:creationId xmlns:a16="http://schemas.microsoft.com/office/drawing/2014/main" id="{1BA04D93-463D-7812-BF48-C20740AAF57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92240" y="5138928"/>
            <a:ext cx="256032" cy="256032"/>
          </a:xfrm>
          <a:prstGeom prst="rect">
            <a:avLst/>
          </a:prstGeom>
        </p:spPr>
      </p:pic>
      <p:sp>
        <p:nvSpPr>
          <p:cNvPr id="33" name="Text 18">
            <a:extLst>
              <a:ext uri="{FF2B5EF4-FFF2-40B4-BE49-F238E27FC236}">
                <a16:creationId xmlns:a16="http://schemas.microsoft.com/office/drawing/2014/main" id="{69C9E1E5-68A3-6C7F-7A71-6415D976CB6A}"/>
              </a:ext>
            </a:extLst>
          </p:cNvPr>
          <p:cNvSpPr/>
          <p:nvPr/>
        </p:nvSpPr>
        <p:spPr>
          <a:xfrm>
            <a:off x="6858000" y="5056632"/>
            <a:ext cx="4434840" cy="5486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E4E9F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Access analytics on department performance</a:t>
            </a:r>
            <a:endParaRPr lang="en-US" sz="1300" dirty="0"/>
          </a:p>
        </p:txBody>
      </p:sp>
      <p:pic>
        <p:nvPicPr>
          <p:cNvPr id="34" name="Image 13" descr="/home/claude/civicpulse/icons/checkCircle_F2A65A.png">
            <a:extLst>
              <a:ext uri="{FF2B5EF4-FFF2-40B4-BE49-F238E27FC236}">
                <a16:creationId xmlns:a16="http://schemas.microsoft.com/office/drawing/2014/main" id="{EA3E4B8A-E16F-DE9F-5AB2-3F8C02FF934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92240" y="5760720"/>
            <a:ext cx="256032" cy="256032"/>
          </a:xfrm>
          <a:prstGeom prst="rect">
            <a:avLst/>
          </a:prstGeom>
        </p:spPr>
      </p:pic>
      <p:sp>
        <p:nvSpPr>
          <p:cNvPr id="35" name="Text 19">
            <a:extLst>
              <a:ext uri="{FF2B5EF4-FFF2-40B4-BE49-F238E27FC236}">
                <a16:creationId xmlns:a16="http://schemas.microsoft.com/office/drawing/2014/main" id="{3672E473-3C0A-6D6D-B7F6-B55E9CCE4315}"/>
              </a:ext>
            </a:extLst>
          </p:cNvPr>
          <p:cNvSpPr/>
          <p:nvPr/>
        </p:nvSpPr>
        <p:spPr>
          <a:xfrm>
            <a:off x="6858000" y="5678424"/>
            <a:ext cx="4434840" cy="5486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E4E9F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Super-admin view across all departments</a:t>
            </a:r>
            <a:endParaRPr lang="en-US" sz="1300" dirty="0"/>
          </a:p>
        </p:txBody>
      </p:sp>
    </p:spTree>
    <p:extLst>
      <p:ext uri="{BB962C8B-B14F-4D97-AF65-F5344CB8AC3E}">
        <p14:creationId xmlns:p14="http://schemas.microsoft.com/office/powerpoint/2010/main" val="281437462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822960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21295C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Complaint Lifecycle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82296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C70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From submission to resolution — fully tracked at every step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914400" y="2468880"/>
            <a:ext cx="960120" cy="960120"/>
          </a:xfrm>
          <a:prstGeom prst="ellipse">
            <a:avLst/>
          </a:prstGeom>
          <a:solidFill>
            <a:srgbClr val="065A82"/>
          </a:solidFill>
        </p:spPr>
      </p:sp>
      <p:pic>
        <p:nvPicPr>
          <p:cNvPr id="5" name="Image 0" descr="/home/claude/civicpulse/icons/clipboard_FFFF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54430" y="2708910"/>
            <a:ext cx="480060" cy="48006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1563624" y="2377440"/>
            <a:ext cx="365760" cy="365760"/>
          </a:xfrm>
          <a:prstGeom prst="ellipse">
            <a:avLst/>
          </a:prstGeom>
          <a:solidFill>
            <a:srgbClr val="F2A65A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563624" y="2377440"/>
            <a:ext cx="36576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1295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548640" y="3566160"/>
            <a:ext cx="169164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21295C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Submit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411480" y="3931920"/>
            <a:ext cx="1965960" cy="10058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C70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Citizen files complaint with category &amp; location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2240280" y="2930652"/>
            <a:ext cx="182880" cy="36576"/>
          </a:xfrm>
          <a:prstGeom prst="rect">
            <a:avLst/>
          </a:prstGeom>
          <a:solidFill>
            <a:srgbClr val="C7D2DB"/>
          </a:solidFill>
        </p:spPr>
      </p:sp>
      <p:sp>
        <p:nvSpPr>
          <p:cNvPr id="11" name="Shape 8"/>
          <p:cNvSpPr/>
          <p:nvPr/>
        </p:nvSpPr>
        <p:spPr>
          <a:xfrm>
            <a:off x="2788920" y="2468880"/>
            <a:ext cx="960120" cy="960120"/>
          </a:xfrm>
          <a:prstGeom prst="ellipse">
            <a:avLst/>
          </a:prstGeom>
          <a:solidFill>
            <a:srgbClr val="1C7293"/>
          </a:solidFill>
        </p:spPr>
      </p:sp>
      <p:pic>
        <p:nvPicPr>
          <p:cNvPr id="12" name="Image 1" descr="/home/claude/civicpulse/icons/cogs_FFFFF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28950" y="2708910"/>
            <a:ext cx="480060" cy="480060"/>
          </a:xfrm>
          <a:prstGeom prst="rect">
            <a:avLst/>
          </a:prstGeom>
        </p:spPr>
      </p:pic>
      <p:sp>
        <p:nvSpPr>
          <p:cNvPr id="13" name="Shape 9"/>
          <p:cNvSpPr/>
          <p:nvPr/>
        </p:nvSpPr>
        <p:spPr>
          <a:xfrm>
            <a:off x="3438144" y="2377440"/>
            <a:ext cx="365760" cy="365760"/>
          </a:xfrm>
          <a:prstGeom prst="ellipse">
            <a:avLst/>
          </a:prstGeom>
          <a:solidFill>
            <a:srgbClr val="F2A65A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3438144" y="2377440"/>
            <a:ext cx="36576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1295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</a:t>
            </a:r>
            <a:endParaRPr lang="en-US" sz="1200" dirty="0"/>
          </a:p>
        </p:txBody>
      </p:sp>
      <p:sp>
        <p:nvSpPr>
          <p:cNvPr id="15" name="Text 11"/>
          <p:cNvSpPr/>
          <p:nvPr/>
        </p:nvSpPr>
        <p:spPr>
          <a:xfrm>
            <a:off x="2423160" y="3566160"/>
            <a:ext cx="169164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21295C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Auto-Route</a:t>
            </a:r>
            <a:endParaRPr lang="en-US" sz="1500" dirty="0"/>
          </a:p>
        </p:txBody>
      </p:sp>
      <p:sp>
        <p:nvSpPr>
          <p:cNvPr id="16" name="Text 12"/>
          <p:cNvSpPr/>
          <p:nvPr/>
        </p:nvSpPr>
        <p:spPr>
          <a:xfrm>
            <a:off x="2286000" y="3931920"/>
            <a:ext cx="1965960" cy="10058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C70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System assigns to the correct department</a:t>
            </a:r>
            <a:endParaRPr lang="en-US" sz="1100" dirty="0"/>
          </a:p>
        </p:txBody>
      </p:sp>
      <p:sp>
        <p:nvSpPr>
          <p:cNvPr id="17" name="Shape 13"/>
          <p:cNvSpPr/>
          <p:nvPr/>
        </p:nvSpPr>
        <p:spPr>
          <a:xfrm>
            <a:off x="4114800" y="2930652"/>
            <a:ext cx="182880" cy="36576"/>
          </a:xfrm>
          <a:prstGeom prst="rect">
            <a:avLst/>
          </a:prstGeom>
          <a:solidFill>
            <a:srgbClr val="C7D2DB"/>
          </a:solidFill>
        </p:spPr>
      </p:sp>
      <p:sp>
        <p:nvSpPr>
          <p:cNvPr id="18" name="Shape 14"/>
          <p:cNvSpPr/>
          <p:nvPr/>
        </p:nvSpPr>
        <p:spPr>
          <a:xfrm>
            <a:off x="4663440" y="2468880"/>
            <a:ext cx="960120" cy="960120"/>
          </a:xfrm>
          <a:prstGeom prst="ellipse">
            <a:avLst/>
          </a:prstGeom>
          <a:solidFill>
            <a:srgbClr val="065A82"/>
          </a:solidFill>
        </p:spPr>
      </p:sp>
      <p:pic>
        <p:nvPicPr>
          <p:cNvPr id="19" name="Image 2" descr="/home/claude/civicpulse/icons/building_FFFFFF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03470" y="2708910"/>
            <a:ext cx="480060" cy="480060"/>
          </a:xfrm>
          <a:prstGeom prst="rect">
            <a:avLst/>
          </a:prstGeom>
        </p:spPr>
      </p:pic>
      <p:sp>
        <p:nvSpPr>
          <p:cNvPr id="20" name="Shape 15"/>
          <p:cNvSpPr/>
          <p:nvPr/>
        </p:nvSpPr>
        <p:spPr>
          <a:xfrm>
            <a:off x="5312664" y="2377440"/>
            <a:ext cx="365760" cy="365760"/>
          </a:xfrm>
          <a:prstGeom prst="ellipse">
            <a:avLst/>
          </a:prstGeom>
          <a:solidFill>
            <a:srgbClr val="F2A65A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1" name="Text 16"/>
          <p:cNvSpPr/>
          <p:nvPr/>
        </p:nvSpPr>
        <p:spPr>
          <a:xfrm>
            <a:off x="5312664" y="2377440"/>
            <a:ext cx="36576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1295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</a:t>
            </a:r>
            <a:endParaRPr lang="en-US" sz="1200" dirty="0"/>
          </a:p>
        </p:txBody>
      </p:sp>
      <p:sp>
        <p:nvSpPr>
          <p:cNvPr id="22" name="Text 17"/>
          <p:cNvSpPr/>
          <p:nvPr/>
        </p:nvSpPr>
        <p:spPr>
          <a:xfrm>
            <a:off x="4297680" y="3566160"/>
            <a:ext cx="169164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21295C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Review</a:t>
            </a:r>
            <a:endParaRPr lang="en-US" sz="1500" dirty="0"/>
          </a:p>
        </p:txBody>
      </p:sp>
      <p:sp>
        <p:nvSpPr>
          <p:cNvPr id="23" name="Text 18"/>
          <p:cNvSpPr/>
          <p:nvPr/>
        </p:nvSpPr>
        <p:spPr>
          <a:xfrm>
            <a:off x="4160520" y="3931920"/>
            <a:ext cx="1965960" cy="10058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C70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Department admin reviews &amp; assigns priority</a:t>
            </a:r>
            <a:endParaRPr lang="en-US" sz="1100" dirty="0"/>
          </a:p>
        </p:txBody>
      </p:sp>
      <p:sp>
        <p:nvSpPr>
          <p:cNvPr id="24" name="Shape 19"/>
          <p:cNvSpPr/>
          <p:nvPr/>
        </p:nvSpPr>
        <p:spPr>
          <a:xfrm>
            <a:off x="5989320" y="2930652"/>
            <a:ext cx="182880" cy="36576"/>
          </a:xfrm>
          <a:prstGeom prst="rect">
            <a:avLst/>
          </a:prstGeom>
          <a:solidFill>
            <a:srgbClr val="C7D2DB"/>
          </a:solidFill>
        </p:spPr>
      </p:sp>
      <p:sp>
        <p:nvSpPr>
          <p:cNvPr id="25" name="Shape 20"/>
          <p:cNvSpPr/>
          <p:nvPr/>
        </p:nvSpPr>
        <p:spPr>
          <a:xfrm>
            <a:off x="6537960" y="2468880"/>
            <a:ext cx="960120" cy="960120"/>
          </a:xfrm>
          <a:prstGeom prst="ellipse">
            <a:avLst/>
          </a:prstGeom>
          <a:solidFill>
            <a:srgbClr val="1C7293"/>
          </a:solidFill>
        </p:spPr>
      </p:sp>
      <p:pic>
        <p:nvPicPr>
          <p:cNvPr id="26" name="Image 3" descr="/home/claude/civicpulse/icons/tools_FFFFFF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777990" y="2708910"/>
            <a:ext cx="480060" cy="480060"/>
          </a:xfrm>
          <a:prstGeom prst="rect">
            <a:avLst/>
          </a:prstGeom>
        </p:spPr>
      </p:pic>
      <p:sp>
        <p:nvSpPr>
          <p:cNvPr id="27" name="Shape 21"/>
          <p:cNvSpPr/>
          <p:nvPr/>
        </p:nvSpPr>
        <p:spPr>
          <a:xfrm>
            <a:off x="7187184" y="2377440"/>
            <a:ext cx="365760" cy="365760"/>
          </a:xfrm>
          <a:prstGeom prst="ellipse">
            <a:avLst/>
          </a:prstGeom>
          <a:solidFill>
            <a:srgbClr val="F2A65A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8" name="Text 22"/>
          <p:cNvSpPr/>
          <p:nvPr/>
        </p:nvSpPr>
        <p:spPr>
          <a:xfrm>
            <a:off x="7187184" y="2377440"/>
            <a:ext cx="36576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1295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</a:t>
            </a:r>
            <a:endParaRPr lang="en-US" sz="1200" dirty="0"/>
          </a:p>
        </p:txBody>
      </p:sp>
      <p:sp>
        <p:nvSpPr>
          <p:cNvPr id="29" name="Text 23"/>
          <p:cNvSpPr/>
          <p:nvPr/>
        </p:nvSpPr>
        <p:spPr>
          <a:xfrm>
            <a:off x="6172200" y="3566160"/>
            <a:ext cx="169164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21295C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Action</a:t>
            </a:r>
            <a:endParaRPr lang="en-US" sz="1500" dirty="0"/>
          </a:p>
        </p:txBody>
      </p:sp>
      <p:sp>
        <p:nvSpPr>
          <p:cNvPr id="30" name="Text 24"/>
          <p:cNvSpPr/>
          <p:nvPr/>
        </p:nvSpPr>
        <p:spPr>
          <a:xfrm>
            <a:off x="6035040" y="3931920"/>
            <a:ext cx="1965960" cy="10058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C70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Field team resolves the reported issue</a:t>
            </a:r>
            <a:endParaRPr lang="en-US" sz="1100" dirty="0"/>
          </a:p>
        </p:txBody>
      </p:sp>
      <p:sp>
        <p:nvSpPr>
          <p:cNvPr id="31" name="Shape 25"/>
          <p:cNvSpPr/>
          <p:nvPr/>
        </p:nvSpPr>
        <p:spPr>
          <a:xfrm>
            <a:off x="7863840" y="2930652"/>
            <a:ext cx="182880" cy="36576"/>
          </a:xfrm>
          <a:prstGeom prst="rect">
            <a:avLst/>
          </a:prstGeom>
          <a:solidFill>
            <a:srgbClr val="C7D2DB"/>
          </a:solidFill>
        </p:spPr>
      </p:sp>
      <p:sp>
        <p:nvSpPr>
          <p:cNvPr id="32" name="Shape 26"/>
          <p:cNvSpPr/>
          <p:nvPr/>
        </p:nvSpPr>
        <p:spPr>
          <a:xfrm>
            <a:off x="8412480" y="2468880"/>
            <a:ext cx="960120" cy="960120"/>
          </a:xfrm>
          <a:prstGeom prst="ellipse">
            <a:avLst/>
          </a:prstGeom>
          <a:solidFill>
            <a:srgbClr val="065A82"/>
          </a:solidFill>
        </p:spPr>
      </p:sp>
      <p:pic>
        <p:nvPicPr>
          <p:cNvPr id="33" name="Image 4" descr="/home/claude/civicpulse/icons/checkCircle_FFFFFF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652510" y="2708910"/>
            <a:ext cx="480060" cy="480060"/>
          </a:xfrm>
          <a:prstGeom prst="rect">
            <a:avLst/>
          </a:prstGeom>
        </p:spPr>
      </p:pic>
      <p:sp>
        <p:nvSpPr>
          <p:cNvPr id="34" name="Shape 27"/>
          <p:cNvSpPr/>
          <p:nvPr/>
        </p:nvSpPr>
        <p:spPr>
          <a:xfrm>
            <a:off x="9061704" y="2377440"/>
            <a:ext cx="365760" cy="365760"/>
          </a:xfrm>
          <a:prstGeom prst="ellipse">
            <a:avLst/>
          </a:prstGeom>
          <a:solidFill>
            <a:srgbClr val="F2A65A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35" name="Text 28"/>
          <p:cNvSpPr/>
          <p:nvPr/>
        </p:nvSpPr>
        <p:spPr>
          <a:xfrm>
            <a:off x="9061704" y="2377440"/>
            <a:ext cx="36576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1295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5</a:t>
            </a:r>
            <a:endParaRPr lang="en-US" sz="1200" dirty="0"/>
          </a:p>
        </p:txBody>
      </p:sp>
      <p:sp>
        <p:nvSpPr>
          <p:cNvPr id="36" name="Text 29"/>
          <p:cNvSpPr/>
          <p:nvPr/>
        </p:nvSpPr>
        <p:spPr>
          <a:xfrm>
            <a:off x="8046720" y="3566160"/>
            <a:ext cx="169164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21295C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Resolve</a:t>
            </a:r>
            <a:endParaRPr lang="en-US" sz="1500" dirty="0"/>
          </a:p>
        </p:txBody>
      </p:sp>
      <p:sp>
        <p:nvSpPr>
          <p:cNvPr id="37" name="Text 30"/>
          <p:cNvSpPr/>
          <p:nvPr/>
        </p:nvSpPr>
        <p:spPr>
          <a:xfrm>
            <a:off x="7909560" y="3931920"/>
            <a:ext cx="1965960" cy="10058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C70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Status marked resolved with proof/update</a:t>
            </a:r>
            <a:endParaRPr lang="en-US" sz="1100" dirty="0"/>
          </a:p>
        </p:txBody>
      </p:sp>
      <p:sp>
        <p:nvSpPr>
          <p:cNvPr id="38" name="Shape 31"/>
          <p:cNvSpPr/>
          <p:nvPr/>
        </p:nvSpPr>
        <p:spPr>
          <a:xfrm>
            <a:off x="9738360" y="2930652"/>
            <a:ext cx="182880" cy="36576"/>
          </a:xfrm>
          <a:prstGeom prst="rect">
            <a:avLst/>
          </a:prstGeom>
          <a:solidFill>
            <a:srgbClr val="C7D2DB"/>
          </a:solidFill>
        </p:spPr>
      </p:sp>
      <p:sp>
        <p:nvSpPr>
          <p:cNvPr id="39" name="Shape 32"/>
          <p:cNvSpPr/>
          <p:nvPr/>
        </p:nvSpPr>
        <p:spPr>
          <a:xfrm>
            <a:off x="10287000" y="2468880"/>
            <a:ext cx="960120" cy="960120"/>
          </a:xfrm>
          <a:prstGeom prst="ellipse">
            <a:avLst/>
          </a:prstGeom>
          <a:solidFill>
            <a:srgbClr val="1C7293"/>
          </a:solidFill>
        </p:spPr>
      </p:sp>
      <p:pic>
        <p:nvPicPr>
          <p:cNvPr id="40" name="Image 5" descr="/home/claude/civicpulse/icons/comments_FFFFFF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527030" y="2708910"/>
            <a:ext cx="480060" cy="480060"/>
          </a:xfrm>
          <a:prstGeom prst="rect">
            <a:avLst/>
          </a:prstGeom>
        </p:spPr>
      </p:pic>
      <p:sp>
        <p:nvSpPr>
          <p:cNvPr id="41" name="Shape 33"/>
          <p:cNvSpPr/>
          <p:nvPr/>
        </p:nvSpPr>
        <p:spPr>
          <a:xfrm>
            <a:off x="10936224" y="2377440"/>
            <a:ext cx="365760" cy="365760"/>
          </a:xfrm>
          <a:prstGeom prst="ellipse">
            <a:avLst/>
          </a:prstGeom>
          <a:solidFill>
            <a:srgbClr val="F2A65A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42" name="Text 34"/>
          <p:cNvSpPr/>
          <p:nvPr/>
        </p:nvSpPr>
        <p:spPr>
          <a:xfrm>
            <a:off x="10936224" y="2377440"/>
            <a:ext cx="36576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1295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6</a:t>
            </a:r>
            <a:endParaRPr lang="en-US" sz="1200" dirty="0"/>
          </a:p>
        </p:txBody>
      </p:sp>
      <p:sp>
        <p:nvSpPr>
          <p:cNvPr id="43" name="Text 35"/>
          <p:cNvSpPr/>
          <p:nvPr/>
        </p:nvSpPr>
        <p:spPr>
          <a:xfrm>
            <a:off x="9921240" y="3566160"/>
            <a:ext cx="169164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21295C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Feedback</a:t>
            </a:r>
            <a:endParaRPr lang="en-US" sz="1500" dirty="0"/>
          </a:p>
        </p:txBody>
      </p:sp>
      <p:sp>
        <p:nvSpPr>
          <p:cNvPr id="44" name="Text 36"/>
          <p:cNvSpPr/>
          <p:nvPr/>
        </p:nvSpPr>
        <p:spPr>
          <a:xfrm>
            <a:off x="9784080" y="3931920"/>
            <a:ext cx="1965960" cy="10058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C70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Citizen rates the resolution &amp; closes ticket</a:t>
            </a:r>
            <a:endParaRPr lang="en-US" sz="1100" dirty="0"/>
          </a:p>
        </p:txBody>
      </p:sp>
      <p:sp>
        <p:nvSpPr>
          <p:cNvPr id="45" name="Shape 37"/>
          <p:cNvSpPr/>
          <p:nvPr/>
        </p:nvSpPr>
        <p:spPr>
          <a:xfrm>
            <a:off x="548640" y="5669280"/>
            <a:ext cx="11064240" cy="685800"/>
          </a:xfrm>
          <a:prstGeom prst="roundRect">
            <a:avLst>
              <a:gd name="adj" fmla="val 8000"/>
            </a:avLst>
          </a:prstGeom>
          <a:solidFill>
            <a:srgbClr val="21295C"/>
          </a:solidFill>
        </p:spPr>
      </p:sp>
      <p:pic>
        <p:nvPicPr>
          <p:cNvPr id="46" name="Image 6" descr="/home/claude/civicpulse/icons/tachometer_F2A65A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77240" y="5833872"/>
            <a:ext cx="365760" cy="365760"/>
          </a:xfrm>
          <a:prstGeom prst="rect">
            <a:avLst/>
          </a:prstGeom>
        </p:spPr>
      </p:pic>
      <p:sp>
        <p:nvSpPr>
          <p:cNvPr id="47" name="Text 38"/>
          <p:cNvSpPr/>
          <p:nvPr/>
        </p:nvSpPr>
        <p:spPr>
          <a:xfrm>
            <a:off x="1280160" y="5669280"/>
            <a:ext cx="10058400" cy="685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Every complaint carries an SLA timer — overdue tickets are auto-escalated to senior officials.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21295C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Technology Stack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82296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C70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 modern, scalable stack for a citizen-facing government platform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2606040" cy="4480560"/>
          </a:xfrm>
          <a:prstGeom prst="roundRect">
            <a:avLst>
              <a:gd name="adj" fmla="val 2807"/>
            </a:avLst>
          </a:prstGeom>
          <a:solidFill>
            <a:srgbClr val="F4F7F9"/>
          </a:solidFill>
        </p:spPr>
      </p:sp>
      <p:sp>
        <p:nvSpPr>
          <p:cNvPr id="5" name="Shape 3"/>
          <p:cNvSpPr/>
          <p:nvPr/>
        </p:nvSpPr>
        <p:spPr>
          <a:xfrm>
            <a:off x="548640" y="1645920"/>
            <a:ext cx="2606040" cy="914400"/>
          </a:xfrm>
          <a:prstGeom prst="roundRect">
            <a:avLst>
              <a:gd name="adj" fmla="val 8000"/>
            </a:avLst>
          </a:prstGeom>
          <a:solidFill>
            <a:srgbClr val="065A82"/>
          </a:solidFill>
        </p:spPr>
      </p:sp>
      <p:sp>
        <p:nvSpPr>
          <p:cNvPr id="6" name="Shape 4"/>
          <p:cNvSpPr/>
          <p:nvPr/>
        </p:nvSpPr>
        <p:spPr>
          <a:xfrm>
            <a:off x="548640" y="2103120"/>
            <a:ext cx="2606040" cy="457200"/>
          </a:xfrm>
          <a:prstGeom prst="rect">
            <a:avLst/>
          </a:prstGeom>
          <a:solidFill>
            <a:srgbClr val="065A82"/>
          </a:solidFill>
        </p:spPr>
      </p:sp>
      <p:sp>
        <p:nvSpPr>
          <p:cNvPr id="7" name="Shape 5"/>
          <p:cNvSpPr/>
          <p:nvPr/>
        </p:nvSpPr>
        <p:spPr>
          <a:xfrm>
            <a:off x="1554480" y="1810512"/>
            <a:ext cx="594360" cy="594360"/>
          </a:xfrm>
          <a:prstGeom prst="ellipse">
            <a:avLst/>
          </a:prstGeom>
          <a:solidFill>
            <a:srgbClr val="FFFFFF"/>
          </a:solidFill>
        </p:spPr>
      </p:sp>
      <p:pic>
        <p:nvPicPr>
          <p:cNvPr id="8" name="Image 0" descr="/home/claude/civicpulse/icons/mobile_065A8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03070" y="1959102"/>
            <a:ext cx="297180" cy="29718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548640" y="2606040"/>
            <a:ext cx="260604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65A82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FRONTEND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1796796" y="3108960"/>
            <a:ext cx="109728" cy="109728"/>
          </a:xfrm>
          <a:prstGeom prst="ellipse">
            <a:avLst/>
          </a:prstGeom>
          <a:solidFill>
            <a:srgbClr val="065A82"/>
          </a:solidFill>
        </p:spPr>
      </p:sp>
      <p:sp>
        <p:nvSpPr>
          <p:cNvPr id="11" name="Text 8"/>
          <p:cNvSpPr/>
          <p:nvPr/>
        </p:nvSpPr>
        <p:spPr>
          <a:xfrm>
            <a:off x="640080" y="3273552"/>
            <a:ext cx="242316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1A2B3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React.js</a:t>
            </a:r>
            <a:endParaRPr lang="en-US" sz="1250" dirty="0"/>
          </a:p>
        </p:txBody>
      </p:sp>
      <p:sp>
        <p:nvSpPr>
          <p:cNvPr id="12" name="Shape 9"/>
          <p:cNvSpPr/>
          <p:nvPr/>
        </p:nvSpPr>
        <p:spPr>
          <a:xfrm>
            <a:off x="1796796" y="3794760"/>
            <a:ext cx="109728" cy="109728"/>
          </a:xfrm>
          <a:prstGeom prst="ellipse">
            <a:avLst/>
          </a:prstGeom>
          <a:solidFill>
            <a:srgbClr val="065A82"/>
          </a:solidFill>
        </p:spPr>
      </p:sp>
      <p:sp>
        <p:nvSpPr>
          <p:cNvPr id="13" name="Text 10"/>
          <p:cNvSpPr/>
          <p:nvPr/>
        </p:nvSpPr>
        <p:spPr>
          <a:xfrm>
            <a:off x="640080" y="3959352"/>
            <a:ext cx="242316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1A2B3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HTML5 / CSS3</a:t>
            </a:r>
            <a:endParaRPr lang="en-US" sz="1250" dirty="0"/>
          </a:p>
        </p:txBody>
      </p:sp>
      <p:sp>
        <p:nvSpPr>
          <p:cNvPr id="14" name="Shape 11"/>
          <p:cNvSpPr/>
          <p:nvPr/>
        </p:nvSpPr>
        <p:spPr>
          <a:xfrm>
            <a:off x="1796796" y="4480560"/>
            <a:ext cx="109728" cy="109728"/>
          </a:xfrm>
          <a:prstGeom prst="ellipse">
            <a:avLst/>
          </a:prstGeom>
          <a:solidFill>
            <a:srgbClr val="065A82"/>
          </a:solidFill>
        </p:spPr>
      </p:sp>
      <p:sp>
        <p:nvSpPr>
          <p:cNvPr id="15" name="Text 12"/>
          <p:cNvSpPr/>
          <p:nvPr/>
        </p:nvSpPr>
        <p:spPr>
          <a:xfrm>
            <a:off x="640080" y="4645152"/>
            <a:ext cx="242316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1A2B3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Responsive UI</a:t>
            </a:r>
            <a:endParaRPr lang="en-US" sz="1250" dirty="0"/>
          </a:p>
        </p:txBody>
      </p:sp>
      <p:sp>
        <p:nvSpPr>
          <p:cNvPr id="16" name="Shape 13"/>
          <p:cNvSpPr/>
          <p:nvPr/>
        </p:nvSpPr>
        <p:spPr>
          <a:xfrm>
            <a:off x="3383280" y="1667510"/>
            <a:ext cx="2606040" cy="4480560"/>
          </a:xfrm>
          <a:prstGeom prst="roundRect">
            <a:avLst>
              <a:gd name="adj" fmla="val 2807"/>
            </a:avLst>
          </a:prstGeom>
          <a:solidFill>
            <a:srgbClr val="F4F7F9"/>
          </a:solidFill>
        </p:spPr>
      </p:sp>
      <p:sp>
        <p:nvSpPr>
          <p:cNvPr id="17" name="Shape 14"/>
          <p:cNvSpPr/>
          <p:nvPr/>
        </p:nvSpPr>
        <p:spPr>
          <a:xfrm>
            <a:off x="3383280" y="1645920"/>
            <a:ext cx="2606040" cy="914400"/>
          </a:xfrm>
          <a:prstGeom prst="roundRect">
            <a:avLst>
              <a:gd name="adj" fmla="val 8000"/>
            </a:avLst>
          </a:prstGeom>
          <a:solidFill>
            <a:srgbClr val="1C7293"/>
          </a:solidFill>
        </p:spPr>
      </p:sp>
      <p:sp>
        <p:nvSpPr>
          <p:cNvPr id="18" name="Shape 15"/>
          <p:cNvSpPr/>
          <p:nvPr/>
        </p:nvSpPr>
        <p:spPr>
          <a:xfrm>
            <a:off x="3383280" y="2103120"/>
            <a:ext cx="2606040" cy="457200"/>
          </a:xfrm>
          <a:prstGeom prst="rect">
            <a:avLst/>
          </a:prstGeom>
          <a:solidFill>
            <a:srgbClr val="1C7293"/>
          </a:solidFill>
        </p:spPr>
      </p:sp>
      <p:sp>
        <p:nvSpPr>
          <p:cNvPr id="19" name="Shape 16"/>
          <p:cNvSpPr/>
          <p:nvPr/>
        </p:nvSpPr>
        <p:spPr>
          <a:xfrm>
            <a:off x="4389120" y="1810512"/>
            <a:ext cx="594360" cy="594360"/>
          </a:xfrm>
          <a:prstGeom prst="ellipse">
            <a:avLst/>
          </a:prstGeom>
          <a:solidFill>
            <a:srgbClr val="FFFFFF"/>
          </a:solidFill>
        </p:spPr>
      </p:sp>
      <p:pic>
        <p:nvPicPr>
          <p:cNvPr id="20" name="Image 1" descr="/home/claude/civicpulse/icons/server_1C729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37710" y="1959102"/>
            <a:ext cx="297180" cy="297180"/>
          </a:xfrm>
          <a:prstGeom prst="rect">
            <a:avLst/>
          </a:prstGeom>
        </p:spPr>
      </p:pic>
      <p:sp>
        <p:nvSpPr>
          <p:cNvPr id="21" name="Text 17"/>
          <p:cNvSpPr/>
          <p:nvPr/>
        </p:nvSpPr>
        <p:spPr>
          <a:xfrm>
            <a:off x="3383280" y="2606040"/>
            <a:ext cx="260604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C7293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BACKEND</a:t>
            </a:r>
            <a:endParaRPr lang="en-US" sz="1300" dirty="0"/>
          </a:p>
        </p:txBody>
      </p:sp>
      <p:sp>
        <p:nvSpPr>
          <p:cNvPr id="22" name="Shape 18"/>
          <p:cNvSpPr/>
          <p:nvPr/>
        </p:nvSpPr>
        <p:spPr>
          <a:xfrm>
            <a:off x="4631436" y="3108960"/>
            <a:ext cx="109728" cy="109728"/>
          </a:xfrm>
          <a:prstGeom prst="ellipse">
            <a:avLst/>
          </a:prstGeom>
          <a:solidFill>
            <a:srgbClr val="1C7293"/>
          </a:solidFill>
        </p:spPr>
      </p:sp>
      <p:sp>
        <p:nvSpPr>
          <p:cNvPr id="23" name="Text 19"/>
          <p:cNvSpPr/>
          <p:nvPr/>
        </p:nvSpPr>
        <p:spPr>
          <a:xfrm>
            <a:off x="3474720" y="3273552"/>
            <a:ext cx="242316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1A2B3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Node.js</a:t>
            </a:r>
            <a:endParaRPr lang="en-US" sz="1250" dirty="0"/>
          </a:p>
        </p:txBody>
      </p:sp>
      <p:sp>
        <p:nvSpPr>
          <p:cNvPr id="24" name="Shape 20"/>
          <p:cNvSpPr/>
          <p:nvPr/>
        </p:nvSpPr>
        <p:spPr>
          <a:xfrm>
            <a:off x="4631436" y="3794760"/>
            <a:ext cx="109728" cy="109728"/>
          </a:xfrm>
          <a:prstGeom prst="ellipse">
            <a:avLst/>
          </a:prstGeom>
          <a:solidFill>
            <a:srgbClr val="1C7293"/>
          </a:solidFill>
        </p:spPr>
      </p:sp>
      <p:sp>
        <p:nvSpPr>
          <p:cNvPr id="25" name="Text 21"/>
          <p:cNvSpPr/>
          <p:nvPr/>
        </p:nvSpPr>
        <p:spPr>
          <a:xfrm>
            <a:off x="3474720" y="3959352"/>
            <a:ext cx="242316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1A2B3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Express.js</a:t>
            </a:r>
            <a:endParaRPr lang="en-US" sz="1250" dirty="0"/>
          </a:p>
        </p:txBody>
      </p:sp>
      <p:sp>
        <p:nvSpPr>
          <p:cNvPr id="26" name="Shape 22"/>
          <p:cNvSpPr/>
          <p:nvPr/>
        </p:nvSpPr>
        <p:spPr>
          <a:xfrm>
            <a:off x="4631436" y="4480560"/>
            <a:ext cx="109728" cy="109728"/>
          </a:xfrm>
          <a:prstGeom prst="ellipse">
            <a:avLst/>
          </a:prstGeom>
          <a:solidFill>
            <a:srgbClr val="1C7293"/>
          </a:solidFill>
        </p:spPr>
      </p:sp>
      <p:sp>
        <p:nvSpPr>
          <p:cNvPr id="27" name="Text 23"/>
          <p:cNvSpPr/>
          <p:nvPr/>
        </p:nvSpPr>
        <p:spPr>
          <a:xfrm>
            <a:off x="3474720" y="4645152"/>
            <a:ext cx="242316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1A2B3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REST APIs</a:t>
            </a:r>
            <a:endParaRPr lang="en-US" sz="1250" dirty="0"/>
          </a:p>
        </p:txBody>
      </p:sp>
      <p:sp>
        <p:nvSpPr>
          <p:cNvPr id="28" name="Shape 24"/>
          <p:cNvSpPr/>
          <p:nvPr/>
        </p:nvSpPr>
        <p:spPr>
          <a:xfrm>
            <a:off x="6217920" y="1645920"/>
            <a:ext cx="2606040" cy="4480560"/>
          </a:xfrm>
          <a:prstGeom prst="roundRect">
            <a:avLst>
              <a:gd name="adj" fmla="val 2807"/>
            </a:avLst>
          </a:prstGeom>
          <a:solidFill>
            <a:srgbClr val="F4F7F9"/>
          </a:solidFill>
        </p:spPr>
      </p:sp>
      <p:sp>
        <p:nvSpPr>
          <p:cNvPr id="29" name="Shape 25"/>
          <p:cNvSpPr/>
          <p:nvPr/>
        </p:nvSpPr>
        <p:spPr>
          <a:xfrm>
            <a:off x="6217920" y="1645920"/>
            <a:ext cx="2606040" cy="914400"/>
          </a:xfrm>
          <a:prstGeom prst="roundRect">
            <a:avLst>
              <a:gd name="adj" fmla="val 8000"/>
            </a:avLst>
          </a:prstGeom>
          <a:solidFill>
            <a:srgbClr val="21295C"/>
          </a:solidFill>
        </p:spPr>
      </p:sp>
      <p:sp>
        <p:nvSpPr>
          <p:cNvPr id="30" name="Shape 26"/>
          <p:cNvSpPr/>
          <p:nvPr/>
        </p:nvSpPr>
        <p:spPr>
          <a:xfrm>
            <a:off x="6217920" y="2103120"/>
            <a:ext cx="2606040" cy="457200"/>
          </a:xfrm>
          <a:prstGeom prst="rect">
            <a:avLst/>
          </a:prstGeom>
          <a:solidFill>
            <a:srgbClr val="21295C"/>
          </a:solidFill>
        </p:spPr>
      </p:sp>
      <p:sp>
        <p:nvSpPr>
          <p:cNvPr id="31" name="Shape 27"/>
          <p:cNvSpPr/>
          <p:nvPr/>
        </p:nvSpPr>
        <p:spPr>
          <a:xfrm>
            <a:off x="7223760" y="1810512"/>
            <a:ext cx="594360" cy="594360"/>
          </a:xfrm>
          <a:prstGeom prst="ellipse">
            <a:avLst/>
          </a:prstGeom>
          <a:solidFill>
            <a:srgbClr val="FFFFFF"/>
          </a:solidFill>
        </p:spPr>
      </p:sp>
      <p:pic>
        <p:nvPicPr>
          <p:cNvPr id="32" name="Image 2" descr="/home/claude/civicpulse/icons/database_21295C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72350" y="1959102"/>
            <a:ext cx="297180" cy="297180"/>
          </a:xfrm>
          <a:prstGeom prst="rect">
            <a:avLst/>
          </a:prstGeom>
        </p:spPr>
      </p:pic>
      <p:sp>
        <p:nvSpPr>
          <p:cNvPr id="33" name="Text 28"/>
          <p:cNvSpPr/>
          <p:nvPr/>
        </p:nvSpPr>
        <p:spPr>
          <a:xfrm>
            <a:off x="6217920" y="2606040"/>
            <a:ext cx="260604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1295C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DATABASE</a:t>
            </a:r>
            <a:endParaRPr lang="en-US" sz="1300" dirty="0"/>
          </a:p>
        </p:txBody>
      </p:sp>
      <p:sp>
        <p:nvSpPr>
          <p:cNvPr id="34" name="Shape 29"/>
          <p:cNvSpPr/>
          <p:nvPr/>
        </p:nvSpPr>
        <p:spPr>
          <a:xfrm>
            <a:off x="7466076" y="3108960"/>
            <a:ext cx="109728" cy="109728"/>
          </a:xfrm>
          <a:prstGeom prst="ellipse">
            <a:avLst/>
          </a:prstGeom>
          <a:solidFill>
            <a:srgbClr val="21295C"/>
          </a:solidFill>
        </p:spPr>
      </p:sp>
      <p:sp>
        <p:nvSpPr>
          <p:cNvPr id="35" name="Text 30"/>
          <p:cNvSpPr/>
          <p:nvPr/>
        </p:nvSpPr>
        <p:spPr>
          <a:xfrm>
            <a:off x="6309360" y="3273552"/>
            <a:ext cx="242316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1A2B3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MySQL / MongoDB</a:t>
            </a:r>
            <a:endParaRPr lang="en-US" sz="1250" dirty="0"/>
          </a:p>
        </p:txBody>
      </p:sp>
      <p:sp>
        <p:nvSpPr>
          <p:cNvPr id="36" name="Shape 31"/>
          <p:cNvSpPr/>
          <p:nvPr/>
        </p:nvSpPr>
        <p:spPr>
          <a:xfrm>
            <a:off x="7466076" y="3794760"/>
            <a:ext cx="109728" cy="109728"/>
          </a:xfrm>
          <a:prstGeom prst="ellipse">
            <a:avLst/>
          </a:prstGeom>
          <a:solidFill>
            <a:srgbClr val="21295C"/>
          </a:solidFill>
        </p:spPr>
      </p:sp>
      <p:sp>
        <p:nvSpPr>
          <p:cNvPr id="37" name="Text 32"/>
          <p:cNvSpPr/>
          <p:nvPr/>
        </p:nvSpPr>
        <p:spPr>
          <a:xfrm>
            <a:off x="6309360" y="3959352"/>
            <a:ext cx="242316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1A2B3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Cloud Storage</a:t>
            </a:r>
            <a:endParaRPr lang="en-US" sz="1250" dirty="0"/>
          </a:p>
        </p:txBody>
      </p:sp>
      <p:sp>
        <p:nvSpPr>
          <p:cNvPr id="38" name="Shape 33"/>
          <p:cNvSpPr/>
          <p:nvPr/>
        </p:nvSpPr>
        <p:spPr>
          <a:xfrm>
            <a:off x="7466076" y="4480560"/>
            <a:ext cx="109728" cy="109728"/>
          </a:xfrm>
          <a:prstGeom prst="ellipse">
            <a:avLst/>
          </a:prstGeom>
          <a:solidFill>
            <a:srgbClr val="21295C"/>
          </a:solidFill>
        </p:spPr>
      </p:sp>
      <p:sp>
        <p:nvSpPr>
          <p:cNvPr id="39" name="Text 34"/>
          <p:cNvSpPr/>
          <p:nvPr/>
        </p:nvSpPr>
        <p:spPr>
          <a:xfrm>
            <a:off x="6309360" y="4645152"/>
            <a:ext cx="242316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1A2B3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Automated Backups</a:t>
            </a:r>
            <a:endParaRPr lang="en-US" sz="1250" dirty="0"/>
          </a:p>
        </p:txBody>
      </p:sp>
      <p:sp>
        <p:nvSpPr>
          <p:cNvPr id="40" name="Shape 35"/>
          <p:cNvSpPr/>
          <p:nvPr/>
        </p:nvSpPr>
        <p:spPr>
          <a:xfrm>
            <a:off x="9052560" y="1645920"/>
            <a:ext cx="2606040" cy="4480560"/>
          </a:xfrm>
          <a:prstGeom prst="roundRect">
            <a:avLst>
              <a:gd name="adj" fmla="val 2807"/>
            </a:avLst>
          </a:prstGeom>
          <a:solidFill>
            <a:srgbClr val="F4F7F9"/>
          </a:solidFill>
        </p:spPr>
      </p:sp>
      <p:sp>
        <p:nvSpPr>
          <p:cNvPr id="41" name="Shape 36"/>
          <p:cNvSpPr/>
          <p:nvPr/>
        </p:nvSpPr>
        <p:spPr>
          <a:xfrm>
            <a:off x="9052560" y="1645920"/>
            <a:ext cx="2606040" cy="914400"/>
          </a:xfrm>
          <a:prstGeom prst="roundRect">
            <a:avLst>
              <a:gd name="adj" fmla="val 8000"/>
            </a:avLst>
          </a:prstGeom>
          <a:solidFill>
            <a:srgbClr val="065A82"/>
          </a:solidFill>
        </p:spPr>
      </p:sp>
      <p:sp>
        <p:nvSpPr>
          <p:cNvPr id="42" name="Shape 37"/>
          <p:cNvSpPr/>
          <p:nvPr/>
        </p:nvSpPr>
        <p:spPr>
          <a:xfrm>
            <a:off x="9052560" y="2103120"/>
            <a:ext cx="2606040" cy="457200"/>
          </a:xfrm>
          <a:prstGeom prst="rect">
            <a:avLst/>
          </a:prstGeom>
          <a:solidFill>
            <a:srgbClr val="065A82"/>
          </a:solidFill>
        </p:spPr>
      </p:sp>
      <p:sp>
        <p:nvSpPr>
          <p:cNvPr id="43" name="Shape 38"/>
          <p:cNvSpPr/>
          <p:nvPr/>
        </p:nvSpPr>
        <p:spPr>
          <a:xfrm>
            <a:off x="10058400" y="1810512"/>
            <a:ext cx="594360" cy="594360"/>
          </a:xfrm>
          <a:prstGeom prst="ellipse">
            <a:avLst/>
          </a:prstGeom>
          <a:solidFill>
            <a:srgbClr val="FFFFFF"/>
          </a:solidFill>
        </p:spPr>
      </p:sp>
      <p:pic>
        <p:nvPicPr>
          <p:cNvPr id="44" name="Image 3" descr="/home/claude/civicpulse/icons/lock_065A82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206990" y="1959102"/>
            <a:ext cx="297180" cy="297180"/>
          </a:xfrm>
          <a:prstGeom prst="rect">
            <a:avLst/>
          </a:prstGeom>
        </p:spPr>
      </p:pic>
      <p:sp>
        <p:nvSpPr>
          <p:cNvPr id="45" name="Text 39"/>
          <p:cNvSpPr/>
          <p:nvPr/>
        </p:nvSpPr>
        <p:spPr>
          <a:xfrm>
            <a:off x="9052560" y="2606040"/>
            <a:ext cx="260604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65A82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SECURITY</a:t>
            </a:r>
            <a:endParaRPr lang="en-US" sz="1300" dirty="0"/>
          </a:p>
        </p:txBody>
      </p:sp>
      <p:sp>
        <p:nvSpPr>
          <p:cNvPr id="46" name="Shape 40"/>
          <p:cNvSpPr/>
          <p:nvPr/>
        </p:nvSpPr>
        <p:spPr>
          <a:xfrm>
            <a:off x="10300716" y="3108960"/>
            <a:ext cx="109728" cy="109728"/>
          </a:xfrm>
          <a:prstGeom prst="ellipse">
            <a:avLst/>
          </a:prstGeom>
          <a:solidFill>
            <a:srgbClr val="065A82"/>
          </a:solidFill>
        </p:spPr>
      </p:sp>
      <p:sp>
        <p:nvSpPr>
          <p:cNvPr id="47" name="Text 41"/>
          <p:cNvSpPr/>
          <p:nvPr/>
        </p:nvSpPr>
        <p:spPr>
          <a:xfrm>
            <a:off x="9144000" y="3273552"/>
            <a:ext cx="242316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1A2B3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JWT Authentication</a:t>
            </a:r>
            <a:endParaRPr lang="en-US" sz="1250" dirty="0"/>
          </a:p>
        </p:txBody>
      </p:sp>
      <p:sp>
        <p:nvSpPr>
          <p:cNvPr id="48" name="Shape 42"/>
          <p:cNvSpPr/>
          <p:nvPr/>
        </p:nvSpPr>
        <p:spPr>
          <a:xfrm>
            <a:off x="10300716" y="3794760"/>
            <a:ext cx="109728" cy="109728"/>
          </a:xfrm>
          <a:prstGeom prst="ellipse">
            <a:avLst/>
          </a:prstGeom>
          <a:solidFill>
            <a:srgbClr val="065A82"/>
          </a:solidFill>
        </p:spPr>
      </p:sp>
      <p:sp>
        <p:nvSpPr>
          <p:cNvPr id="49" name="Text 43"/>
          <p:cNvSpPr/>
          <p:nvPr/>
        </p:nvSpPr>
        <p:spPr>
          <a:xfrm>
            <a:off x="9144000" y="3959352"/>
            <a:ext cx="242316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1A2B3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Role-Based Access</a:t>
            </a:r>
            <a:endParaRPr lang="en-US" sz="1250" dirty="0"/>
          </a:p>
        </p:txBody>
      </p:sp>
      <p:sp>
        <p:nvSpPr>
          <p:cNvPr id="50" name="Shape 44"/>
          <p:cNvSpPr/>
          <p:nvPr/>
        </p:nvSpPr>
        <p:spPr>
          <a:xfrm>
            <a:off x="10300716" y="4480560"/>
            <a:ext cx="109728" cy="109728"/>
          </a:xfrm>
          <a:prstGeom prst="ellipse">
            <a:avLst/>
          </a:prstGeom>
          <a:solidFill>
            <a:srgbClr val="065A82"/>
          </a:solidFill>
        </p:spPr>
      </p:sp>
      <p:sp>
        <p:nvSpPr>
          <p:cNvPr id="51" name="Text 45"/>
          <p:cNvSpPr/>
          <p:nvPr/>
        </p:nvSpPr>
        <p:spPr>
          <a:xfrm>
            <a:off x="9144000" y="4645152"/>
            <a:ext cx="242316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1A2B3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Data Encryption</a:t>
            </a:r>
            <a:endParaRPr lang="en-US" sz="12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21295C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Database Design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73152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C70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Core entities that power CivicPulse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3611880" cy="2240280"/>
          </a:xfrm>
          <a:prstGeom prst="roundRect">
            <a:avLst>
              <a:gd name="adj" fmla="val 3265"/>
            </a:avLst>
          </a:prstGeom>
          <a:solidFill>
            <a:srgbClr val="FFFFFF"/>
          </a:solidFill>
          <a:ln w="12700">
            <a:solidFill>
              <a:srgbClr val="DCE3E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77240" y="1828800"/>
            <a:ext cx="548640" cy="548640"/>
          </a:xfrm>
          <a:prstGeom prst="ellipse">
            <a:avLst/>
          </a:prstGeom>
          <a:solidFill>
            <a:srgbClr val="065A82"/>
          </a:solidFill>
        </p:spPr>
      </p:sp>
      <p:pic>
        <p:nvPicPr>
          <p:cNvPr id="6" name="Image 0" descr="/home/claude/civicpulse/icons/user_FFFF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1965960"/>
            <a:ext cx="274320" cy="2743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63040" y="1828800"/>
            <a:ext cx="251460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1295C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Users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777240" y="2560320"/>
            <a:ext cx="3154680" cy="0"/>
          </a:xfrm>
          <a:prstGeom prst="line">
            <a:avLst/>
          </a:prstGeom>
          <a:noFill/>
          <a:ln w="12700">
            <a:solidFill>
              <a:srgbClr val="E2E8ED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777240" y="2697480"/>
            <a:ext cx="3154680" cy="9601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5C70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user_id, name, email, phone, password_hash, address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4389120" y="1600200"/>
            <a:ext cx="3611880" cy="2240280"/>
          </a:xfrm>
          <a:prstGeom prst="roundRect">
            <a:avLst>
              <a:gd name="adj" fmla="val 3265"/>
            </a:avLst>
          </a:prstGeom>
          <a:solidFill>
            <a:srgbClr val="FFFFFF"/>
          </a:solidFill>
          <a:ln w="12700">
            <a:solidFill>
              <a:srgbClr val="DCE3E8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4617720" y="1828800"/>
            <a:ext cx="548640" cy="548640"/>
          </a:xfrm>
          <a:prstGeom prst="ellipse">
            <a:avLst/>
          </a:prstGeom>
          <a:solidFill>
            <a:srgbClr val="065A82"/>
          </a:solidFill>
        </p:spPr>
      </p:sp>
      <p:pic>
        <p:nvPicPr>
          <p:cNvPr id="12" name="Image 1" descr="/home/claude/civicpulse/icons/clipboard_FFFFF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54880" y="1965960"/>
            <a:ext cx="274320" cy="27432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303520" y="1828800"/>
            <a:ext cx="251460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1295C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Complaints</a:t>
            </a:r>
            <a:endParaRPr lang="en-US" sz="1600" dirty="0"/>
          </a:p>
        </p:txBody>
      </p:sp>
      <p:sp>
        <p:nvSpPr>
          <p:cNvPr id="14" name="Shape 10"/>
          <p:cNvSpPr/>
          <p:nvPr/>
        </p:nvSpPr>
        <p:spPr>
          <a:xfrm>
            <a:off x="4617720" y="2560320"/>
            <a:ext cx="3154680" cy="0"/>
          </a:xfrm>
          <a:prstGeom prst="line">
            <a:avLst/>
          </a:prstGeom>
          <a:noFill/>
          <a:ln w="12700">
            <a:solidFill>
              <a:srgbClr val="E2E8ED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4617720" y="2697480"/>
            <a:ext cx="3154680" cy="9601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5C70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complaint_id, user_id, category, description, location, status, sla_deadline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8229600" y="1600200"/>
            <a:ext cx="3611880" cy="2240280"/>
          </a:xfrm>
          <a:prstGeom prst="roundRect">
            <a:avLst>
              <a:gd name="adj" fmla="val 3265"/>
            </a:avLst>
          </a:prstGeom>
          <a:solidFill>
            <a:srgbClr val="FFFFFF"/>
          </a:solidFill>
          <a:ln w="12700">
            <a:solidFill>
              <a:srgbClr val="DCE3E8"/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8458200" y="1828800"/>
            <a:ext cx="548640" cy="548640"/>
          </a:xfrm>
          <a:prstGeom prst="ellipse">
            <a:avLst/>
          </a:prstGeom>
          <a:solidFill>
            <a:srgbClr val="065A82"/>
          </a:solidFill>
        </p:spPr>
      </p:sp>
      <p:pic>
        <p:nvPicPr>
          <p:cNvPr id="18" name="Image 2" descr="/home/claude/civicpulse/icons/building_FFFFFF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95360" y="1965960"/>
            <a:ext cx="274320" cy="274320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9144000" y="1828800"/>
            <a:ext cx="251460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1295C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Departments</a:t>
            </a:r>
            <a:endParaRPr lang="en-US" sz="1600" dirty="0"/>
          </a:p>
        </p:txBody>
      </p:sp>
      <p:sp>
        <p:nvSpPr>
          <p:cNvPr id="20" name="Shape 15"/>
          <p:cNvSpPr/>
          <p:nvPr/>
        </p:nvSpPr>
        <p:spPr>
          <a:xfrm>
            <a:off x="8458200" y="2560320"/>
            <a:ext cx="3154680" cy="0"/>
          </a:xfrm>
          <a:prstGeom prst="line">
            <a:avLst/>
          </a:prstGeom>
          <a:noFill/>
          <a:ln w="12700">
            <a:solidFill>
              <a:srgbClr val="E2E8ED"/>
            </a:solidFill>
            <a:prstDash val="solid"/>
          </a:ln>
        </p:spPr>
      </p:sp>
      <p:sp>
        <p:nvSpPr>
          <p:cNvPr id="21" name="Text 16"/>
          <p:cNvSpPr/>
          <p:nvPr/>
        </p:nvSpPr>
        <p:spPr>
          <a:xfrm>
            <a:off x="8458200" y="2697480"/>
            <a:ext cx="3154680" cy="9601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5C70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dept_id, name, category, contact_info</a:t>
            </a:r>
            <a:endParaRPr lang="en-US" sz="1100" dirty="0"/>
          </a:p>
        </p:txBody>
      </p:sp>
      <p:sp>
        <p:nvSpPr>
          <p:cNvPr id="22" name="Shape 17"/>
          <p:cNvSpPr/>
          <p:nvPr/>
        </p:nvSpPr>
        <p:spPr>
          <a:xfrm>
            <a:off x="548640" y="4069080"/>
            <a:ext cx="3611880" cy="2240280"/>
          </a:xfrm>
          <a:prstGeom prst="roundRect">
            <a:avLst>
              <a:gd name="adj" fmla="val 3265"/>
            </a:avLst>
          </a:prstGeom>
          <a:solidFill>
            <a:srgbClr val="FFFFFF"/>
          </a:solidFill>
          <a:ln w="12700">
            <a:solidFill>
              <a:srgbClr val="DCE3E8"/>
            </a:solidFill>
            <a:prstDash val="solid"/>
          </a:ln>
        </p:spPr>
      </p:sp>
      <p:sp>
        <p:nvSpPr>
          <p:cNvPr id="23" name="Shape 18"/>
          <p:cNvSpPr/>
          <p:nvPr/>
        </p:nvSpPr>
        <p:spPr>
          <a:xfrm>
            <a:off x="777240" y="4297680"/>
            <a:ext cx="548640" cy="548640"/>
          </a:xfrm>
          <a:prstGeom prst="ellipse">
            <a:avLst/>
          </a:prstGeom>
          <a:solidFill>
            <a:srgbClr val="065A82"/>
          </a:solidFill>
        </p:spPr>
      </p:sp>
      <p:pic>
        <p:nvPicPr>
          <p:cNvPr id="24" name="Image 3" descr="/home/claude/civicpulse/icons/userShield_FFFFFF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14400" y="4434840"/>
            <a:ext cx="274320" cy="274320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1463040" y="4297680"/>
            <a:ext cx="251460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1295C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Admins</a:t>
            </a:r>
            <a:endParaRPr lang="en-US" sz="1600" dirty="0"/>
          </a:p>
        </p:txBody>
      </p:sp>
      <p:sp>
        <p:nvSpPr>
          <p:cNvPr id="26" name="Shape 20"/>
          <p:cNvSpPr/>
          <p:nvPr/>
        </p:nvSpPr>
        <p:spPr>
          <a:xfrm>
            <a:off x="777240" y="5029200"/>
            <a:ext cx="3154680" cy="0"/>
          </a:xfrm>
          <a:prstGeom prst="line">
            <a:avLst/>
          </a:prstGeom>
          <a:noFill/>
          <a:ln w="12700">
            <a:solidFill>
              <a:srgbClr val="E2E8ED"/>
            </a:solidFill>
            <a:prstDash val="solid"/>
          </a:ln>
        </p:spPr>
      </p:sp>
      <p:sp>
        <p:nvSpPr>
          <p:cNvPr id="27" name="Text 21"/>
          <p:cNvSpPr/>
          <p:nvPr/>
        </p:nvSpPr>
        <p:spPr>
          <a:xfrm>
            <a:off x="777240" y="5166360"/>
            <a:ext cx="3154680" cy="9601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5C70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admin_id, dept_id, name, role, email</a:t>
            </a:r>
            <a:endParaRPr lang="en-US" sz="1100" dirty="0"/>
          </a:p>
        </p:txBody>
      </p:sp>
      <p:sp>
        <p:nvSpPr>
          <p:cNvPr id="28" name="Shape 22"/>
          <p:cNvSpPr/>
          <p:nvPr/>
        </p:nvSpPr>
        <p:spPr>
          <a:xfrm>
            <a:off x="4389120" y="4069080"/>
            <a:ext cx="3611880" cy="2240280"/>
          </a:xfrm>
          <a:prstGeom prst="roundRect">
            <a:avLst>
              <a:gd name="adj" fmla="val 3265"/>
            </a:avLst>
          </a:prstGeom>
          <a:solidFill>
            <a:srgbClr val="FFFFFF"/>
          </a:solidFill>
          <a:ln w="12700">
            <a:solidFill>
              <a:srgbClr val="DCE3E8"/>
            </a:solidFill>
            <a:prstDash val="solid"/>
          </a:ln>
        </p:spPr>
      </p:sp>
      <p:sp>
        <p:nvSpPr>
          <p:cNvPr id="29" name="Shape 23"/>
          <p:cNvSpPr/>
          <p:nvPr/>
        </p:nvSpPr>
        <p:spPr>
          <a:xfrm>
            <a:off x="4617720" y="4297680"/>
            <a:ext cx="548640" cy="548640"/>
          </a:xfrm>
          <a:prstGeom prst="ellipse">
            <a:avLst/>
          </a:prstGeom>
          <a:solidFill>
            <a:srgbClr val="065A82"/>
          </a:solidFill>
        </p:spPr>
      </p:sp>
      <p:pic>
        <p:nvPicPr>
          <p:cNvPr id="30" name="Image 4" descr="/home/claude/civicpulse/icons/history_FFFFFF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754880" y="4434840"/>
            <a:ext cx="274320" cy="274320"/>
          </a:xfrm>
          <a:prstGeom prst="rect">
            <a:avLst/>
          </a:prstGeom>
        </p:spPr>
      </p:pic>
      <p:sp>
        <p:nvSpPr>
          <p:cNvPr id="31" name="Text 24"/>
          <p:cNvSpPr/>
          <p:nvPr/>
        </p:nvSpPr>
        <p:spPr>
          <a:xfrm>
            <a:off x="5303520" y="4297680"/>
            <a:ext cx="251460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1295C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Status Logs</a:t>
            </a:r>
            <a:endParaRPr lang="en-US" sz="1600" dirty="0"/>
          </a:p>
        </p:txBody>
      </p:sp>
      <p:sp>
        <p:nvSpPr>
          <p:cNvPr id="32" name="Shape 25"/>
          <p:cNvSpPr/>
          <p:nvPr/>
        </p:nvSpPr>
        <p:spPr>
          <a:xfrm>
            <a:off x="4617720" y="5029200"/>
            <a:ext cx="3154680" cy="0"/>
          </a:xfrm>
          <a:prstGeom prst="line">
            <a:avLst/>
          </a:prstGeom>
          <a:noFill/>
          <a:ln w="12700">
            <a:solidFill>
              <a:srgbClr val="E2E8ED"/>
            </a:solidFill>
            <a:prstDash val="solid"/>
          </a:ln>
        </p:spPr>
      </p:sp>
      <p:sp>
        <p:nvSpPr>
          <p:cNvPr id="33" name="Text 26"/>
          <p:cNvSpPr/>
          <p:nvPr/>
        </p:nvSpPr>
        <p:spPr>
          <a:xfrm>
            <a:off x="4617720" y="5166360"/>
            <a:ext cx="3154680" cy="9601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5C70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log_id, complaint_id, status, updated_by, timestamp</a:t>
            </a:r>
            <a:endParaRPr lang="en-US" sz="1100" dirty="0"/>
          </a:p>
        </p:txBody>
      </p:sp>
      <p:sp>
        <p:nvSpPr>
          <p:cNvPr id="34" name="Shape 27"/>
          <p:cNvSpPr/>
          <p:nvPr/>
        </p:nvSpPr>
        <p:spPr>
          <a:xfrm>
            <a:off x="8229600" y="4069080"/>
            <a:ext cx="3611880" cy="2240280"/>
          </a:xfrm>
          <a:prstGeom prst="roundRect">
            <a:avLst>
              <a:gd name="adj" fmla="val 3265"/>
            </a:avLst>
          </a:prstGeom>
          <a:solidFill>
            <a:srgbClr val="FFFFFF"/>
          </a:solidFill>
          <a:ln w="12700">
            <a:solidFill>
              <a:srgbClr val="DCE3E8"/>
            </a:solidFill>
            <a:prstDash val="solid"/>
          </a:ln>
        </p:spPr>
      </p:sp>
      <p:sp>
        <p:nvSpPr>
          <p:cNvPr id="35" name="Shape 28"/>
          <p:cNvSpPr/>
          <p:nvPr/>
        </p:nvSpPr>
        <p:spPr>
          <a:xfrm>
            <a:off x="8458200" y="4297680"/>
            <a:ext cx="548640" cy="548640"/>
          </a:xfrm>
          <a:prstGeom prst="ellipse">
            <a:avLst/>
          </a:prstGeom>
          <a:solidFill>
            <a:srgbClr val="065A82"/>
          </a:solidFill>
        </p:spPr>
      </p:sp>
      <p:pic>
        <p:nvPicPr>
          <p:cNvPr id="36" name="Image 5" descr="/home/claude/civicpulse/icons/comments_FFFFFF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595360" y="4434840"/>
            <a:ext cx="274320" cy="274320"/>
          </a:xfrm>
          <a:prstGeom prst="rect">
            <a:avLst/>
          </a:prstGeom>
        </p:spPr>
      </p:pic>
      <p:sp>
        <p:nvSpPr>
          <p:cNvPr id="37" name="Text 29"/>
          <p:cNvSpPr/>
          <p:nvPr/>
        </p:nvSpPr>
        <p:spPr>
          <a:xfrm>
            <a:off x="9144000" y="4297680"/>
            <a:ext cx="251460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1295C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Feedback</a:t>
            </a:r>
            <a:endParaRPr lang="en-US" sz="1600" dirty="0"/>
          </a:p>
        </p:txBody>
      </p:sp>
      <p:sp>
        <p:nvSpPr>
          <p:cNvPr id="38" name="Shape 30"/>
          <p:cNvSpPr/>
          <p:nvPr/>
        </p:nvSpPr>
        <p:spPr>
          <a:xfrm>
            <a:off x="8458200" y="5029200"/>
            <a:ext cx="3154680" cy="0"/>
          </a:xfrm>
          <a:prstGeom prst="line">
            <a:avLst/>
          </a:prstGeom>
          <a:noFill/>
          <a:ln w="12700">
            <a:solidFill>
              <a:srgbClr val="E2E8ED"/>
            </a:solidFill>
            <a:prstDash val="solid"/>
          </a:ln>
        </p:spPr>
      </p:sp>
      <p:sp>
        <p:nvSpPr>
          <p:cNvPr id="39" name="Text 31"/>
          <p:cNvSpPr/>
          <p:nvPr/>
        </p:nvSpPr>
        <p:spPr>
          <a:xfrm>
            <a:off x="8458200" y="5166360"/>
            <a:ext cx="3154680" cy="9601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5C70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feedback_id, complaint_id, rating, comments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21295C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Key Features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73152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C70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What makes CivicPulse stand out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3611880" cy="2240280"/>
          </a:xfrm>
          <a:prstGeom prst="roundRect">
            <a:avLst>
              <a:gd name="adj" fmla="val 3265"/>
            </a:avLst>
          </a:prstGeom>
          <a:solidFill>
            <a:srgbClr val="065A82"/>
          </a:solidFill>
        </p:spPr>
      </p:sp>
      <p:sp>
        <p:nvSpPr>
          <p:cNvPr id="5" name="Shape 3"/>
          <p:cNvSpPr/>
          <p:nvPr/>
        </p:nvSpPr>
        <p:spPr>
          <a:xfrm>
            <a:off x="2011680" y="1856232"/>
            <a:ext cx="685800" cy="685800"/>
          </a:xfrm>
          <a:prstGeom prst="ellipse">
            <a:avLst/>
          </a:prstGeom>
          <a:solidFill>
            <a:srgbClr val="FFFFFF"/>
          </a:solidFill>
        </p:spPr>
      </p:sp>
      <p:pic>
        <p:nvPicPr>
          <p:cNvPr id="6" name="Image 0" descr="/home/claude/civicpulse/icons/mapMarker_065A8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83130" y="2027682"/>
            <a:ext cx="342900" cy="3429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31520" y="2697480"/>
            <a:ext cx="324612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Location-Based Routing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822960" y="3200400"/>
            <a:ext cx="306324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EAF1F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Complaints auto-assigned to the right ward / department.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4389120" y="1600200"/>
            <a:ext cx="3611880" cy="2240280"/>
          </a:xfrm>
          <a:prstGeom prst="roundRect">
            <a:avLst>
              <a:gd name="adj" fmla="val 3265"/>
            </a:avLst>
          </a:prstGeom>
          <a:solidFill>
            <a:srgbClr val="1C7293"/>
          </a:solidFill>
        </p:spPr>
      </p:sp>
      <p:sp>
        <p:nvSpPr>
          <p:cNvPr id="10" name="Shape 7"/>
          <p:cNvSpPr/>
          <p:nvPr/>
        </p:nvSpPr>
        <p:spPr>
          <a:xfrm>
            <a:off x="5852160" y="1856232"/>
            <a:ext cx="685800" cy="685800"/>
          </a:xfrm>
          <a:prstGeom prst="ellipse">
            <a:avLst/>
          </a:prstGeom>
          <a:solidFill>
            <a:srgbClr val="FFFFFF"/>
          </a:solidFill>
        </p:spPr>
      </p:sp>
      <p:pic>
        <p:nvPicPr>
          <p:cNvPr id="11" name="Image 1" descr="/home/claude/civicpulse/icons/bell_1C729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23610" y="2027682"/>
            <a:ext cx="342900" cy="34290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572000" y="2697480"/>
            <a:ext cx="324612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Real-Time Notifications</a:t>
            </a:r>
            <a:endParaRPr lang="en-US" sz="1500" dirty="0"/>
          </a:p>
        </p:txBody>
      </p:sp>
      <p:sp>
        <p:nvSpPr>
          <p:cNvPr id="13" name="Text 9"/>
          <p:cNvSpPr/>
          <p:nvPr/>
        </p:nvSpPr>
        <p:spPr>
          <a:xfrm>
            <a:off x="4663440" y="3200400"/>
            <a:ext cx="306324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EAF1F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SMS &amp; email alerts on every status change.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8229600" y="1600200"/>
            <a:ext cx="3611880" cy="2240280"/>
          </a:xfrm>
          <a:prstGeom prst="roundRect">
            <a:avLst>
              <a:gd name="adj" fmla="val 3265"/>
            </a:avLst>
          </a:prstGeom>
          <a:solidFill>
            <a:srgbClr val="065A82"/>
          </a:solidFill>
        </p:spPr>
      </p:sp>
      <p:sp>
        <p:nvSpPr>
          <p:cNvPr id="15" name="Shape 11"/>
          <p:cNvSpPr/>
          <p:nvPr/>
        </p:nvSpPr>
        <p:spPr>
          <a:xfrm>
            <a:off x="9692640" y="1856232"/>
            <a:ext cx="685800" cy="685800"/>
          </a:xfrm>
          <a:prstGeom prst="ellipse">
            <a:avLst/>
          </a:prstGeom>
          <a:solidFill>
            <a:srgbClr val="FFFFFF"/>
          </a:solidFill>
        </p:spPr>
      </p:sp>
      <p:pic>
        <p:nvPicPr>
          <p:cNvPr id="16" name="Image 2" descr="/home/claude/civicpulse/icons/tachometer_065A82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864090" y="2027682"/>
            <a:ext cx="342900" cy="34290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412480" y="2697480"/>
            <a:ext cx="324612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SLA &amp; Escalation</a:t>
            </a:r>
            <a:endParaRPr lang="en-US" sz="1500" dirty="0"/>
          </a:p>
        </p:txBody>
      </p:sp>
      <p:sp>
        <p:nvSpPr>
          <p:cNvPr id="18" name="Text 13"/>
          <p:cNvSpPr/>
          <p:nvPr/>
        </p:nvSpPr>
        <p:spPr>
          <a:xfrm>
            <a:off x="8503920" y="3200400"/>
            <a:ext cx="306324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EAF1F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Automatic escalation when deadlines are missed.</a:t>
            </a:r>
            <a:endParaRPr lang="en-US" sz="1150" dirty="0"/>
          </a:p>
        </p:txBody>
      </p:sp>
      <p:sp>
        <p:nvSpPr>
          <p:cNvPr id="19" name="Shape 14"/>
          <p:cNvSpPr/>
          <p:nvPr/>
        </p:nvSpPr>
        <p:spPr>
          <a:xfrm>
            <a:off x="548640" y="4069080"/>
            <a:ext cx="3611880" cy="2240280"/>
          </a:xfrm>
          <a:prstGeom prst="roundRect">
            <a:avLst>
              <a:gd name="adj" fmla="val 3265"/>
            </a:avLst>
          </a:prstGeom>
          <a:solidFill>
            <a:srgbClr val="1C7293"/>
          </a:solidFill>
        </p:spPr>
      </p:sp>
      <p:sp>
        <p:nvSpPr>
          <p:cNvPr id="20" name="Shape 15"/>
          <p:cNvSpPr/>
          <p:nvPr/>
        </p:nvSpPr>
        <p:spPr>
          <a:xfrm>
            <a:off x="2011680" y="4325112"/>
            <a:ext cx="685800" cy="685800"/>
          </a:xfrm>
          <a:prstGeom prst="ellipse">
            <a:avLst/>
          </a:prstGeom>
          <a:solidFill>
            <a:srgbClr val="FFFFFF"/>
          </a:solidFill>
        </p:spPr>
      </p:sp>
      <p:pic>
        <p:nvPicPr>
          <p:cNvPr id="21" name="Image 3" descr="/home/claude/civicpulse/icons/chartLine_1C7293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183130" y="4496562"/>
            <a:ext cx="342900" cy="34290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31520" y="5166360"/>
            <a:ext cx="324612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Analytics Dashboard</a:t>
            </a:r>
            <a:endParaRPr lang="en-US" sz="1500" dirty="0"/>
          </a:p>
        </p:txBody>
      </p:sp>
      <p:sp>
        <p:nvSpPr>
          <p:cNvPr id="23" name="Text 17"/>
          <p:cNvSpPr/>
          <p:nvPr/>
        </p:nvSpPr>
        <p:spPr>
          <a:xfrm>
            <a:off x="822960" y="5669280"/>
            <a:ext cx="306324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EAF1F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Visual insights into complaint volume &amp; resolution time.</a:t>
            </a:r>
            <a:endParaRPr lang="en-US" sz="1150" dirty="0"/>
          </a:p>
        </p:txBody>
      </p:sp>
      <p:sp>
        <p:nvSpPr>
          <p:cNvPr id="24" name="Shape 18"/>
          <p:cNvSpPr/>
          <p:nvPr/>
        </p:nvSpPr>
        <p:spPr>
          <a:xfrm>
            <a:off x="4389120" y="4069080"/>
            <a:ext cx="3611880" cy="2240280"/>
          </a:xfrm>
          <a:prstGeom prst="roundRect">
            <a:avLst>
              <a:gd name="adj" fmla="val 3265"/>
            </a:avLst>
          </a:prstGeom>
          <a:solidFill>
            <a:srgbClr val="065A82"/>
          </a:solidFill>
        </p:spPr>
      </p:sp>
      <p:sp>
        <p:nvSpPr>
          <p:cNvPr id="25" name="Shape 19"/>
          <p:cNvSpPr/>
          <p:nvPr/>
        </p:nvSpPr>
        <p:spPr>
          <a:xfrm>
            <a:off x="5852160" y="4325112"/>
            <a:ext cx="685800" cy="685800"/>
          </a:xfrm>
          <a:prstGeom prst="ellipse">
            <a:avLst/>
          </a:prstGeom>
          <a:solidFill>
            <a:srgbClr val="FFFFFF"/>
          </a:solidFill>
        </p:spPr>
      </p:sp>
      <p:pic>
        <p:nvPicPr>
          <p:cNvPr id="26" name="Image 4" descr="/home/claude/civicpulse/icons/comments_065A82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023610" y="4496562"/>
            <a:ext cx="342900" cy="342900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4572000" y="5166360"/>
            <a:ext cx="324612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Citizen Feedback</a:t>
            </a:r>
            <a:endParaRPr lang="en-US" sz="1500" dirty="0"/>
          </a:p>
        </p:txBody>
      </p:sp>
      <p:sp>
        <p:nvSpPr>
          <p:cNvPr id="28" name="Text 21"/>
          <p:cNvSpPr/>
          <p:nvPr/>
        </p:nvSpPr>
        <p:spPr>
          <a:xfrm>
            <a:off x="4663440" y="5669280"/>
            <a:ext cx="306324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EAF1F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Star ratings &amp; comments after resolution.</a:t>
            </a:r>
            <a:endParaRPr lang="en-US" sz="1150" dirty="0"/>
          </a:p>
        </p:txBody>
      </p:sp>
      <p:sp>
        <p:nvSpPr>
          <p:cNvPr id="29" name="Shape 22"/>
          <p:cNvSpPr/>
          <p:nvPr/>
        </p:nvSpPr>
        <p:spPr>
          <a:xfrm>
            <a:off x="8229600" y="4069080"/>
            <a:ext cx="3611880" cy="2240280"/>
          </a:xfrm>
          <a:prstGeom prst="roundRect">
            <a:avLst>
              <a:gd name="adj" fmla="val 3265"/>
            </a:avLst>
          </a:prstGeom>
          <a:solidFill>
            <a:srgbClr val="1C7293"/>
          </a:solidFill>
        </p:spPr>
      </p:sp>
      <p:sp>
        <p:nvSpPr>
          <p:cNvPr id="30" name="Shape 23"/>
          <p:cNvSpPr/>
          <p:nvPr/>
        </p:nvSpPr>
        <p:spPr>
          <a:xfrm>
            <a:off x="9692640" y="4325112"/>
            <a:ext cx="685800" cy="685800"/>
          </a:xfrm>
          <a:prstGeom prst="ellipse">
            <a:avLst/>
          </a:prstGeom>
          <a:solidFill>
            <a:srgbClr val="FFFFFF"/>
          </a:solidFill>
        </p:spPr>
      </p:sp>
      <p:pic>
        <p:nvPicPr>
          <p:cNvPr id="31" name="Image 5" descr="/home/claude/civicpulse/icons/shieldAlt_1C7293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864090" y="4496562"/>
            <a:ext cx="342900" cy="342900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8412480" y="5166360"/>
            <a:ext cx="324612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Secure Role-Based Access</a:t>
            </a:r>
            <a:endParaRPr lang="en-US" sz="1500" dirty="0"/>
          </a:p>
        </p:txBody>
      </p:sp>
      <p:sp>
        <p:nvSpPr>
          <p:cNvPr id="33" name="Text 25"/>
          <p:cNvSpPr/>
          <p:nvPr/>
        </p:nvSpPr>
        <p:spPr>
          <a:xfrm>
            <a:off x="8503920" y="5669280"/>
            <a:ext cx="306324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EAF1F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Separate, protected logins for citizens &amp; officials.</a:t>
            </a:r>
            <a:endParaRPr lang="en-US" sz="11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1295C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Benefits &amp; Future Scope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5349240" cy="4846320"/>
          </a:xfrm>
          <a:prstGeom prst="roundRect">
            <a:avLst>
              <a:gd name="adj" fmla="val 1509"/>
            </a:avLst>
          </a:prstGeom>
          <a:solidFill>
            <a:srgbClr val="FFFFFF"/>
          </a:solidFill>
          <a:ln w="12700">
            <a:solidFill>
              <a:srgbClr val="DCE3E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68680" y="1645920"/>
            <a:ext cx="594360" cy="594360"/>
          </a:xfrm>
          <a:prstGeom prst="ellipse">
            <a:avLst/>
          </a:prstGeom>
          <a:solidFill>
            <a:srgbClr val="065A82"/>
          </a:solidFill>
        </p:spPr>
      </p:sp>
      <p:pic>
        <p:nvPicPr>
          <p:cNvPr id="5" name="Image 0" descr="/home/claude/civicpulse/icons/checkCircle_FFFF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7270" y="1794510"/>
            <a:ext cx="297180" cy="29718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600200" y="1691640"/>
            <a:ext cx="274320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21295C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Benefits</a:t>
            </a:r>
            <a:endParaRPr lang="en-US" sz="2000" dirty="0"/>
          </a:p>
        </p:txBody>
      </p:sp>
      <p:sp>
        <p:nvSpPr>
          <p:cNvPr id="7" name="Shape 4"/>
          <p:cNvSpPr/>
          <p:nvPr/>
        </p:nvSpPr>
        <p:spPr>
          <a:xfrm>
            <a:off x="868680" y="2496312"/>
            <a:ext cx="128016" cy="128016"/>
          </a:xfrm>
          <a:prstGeom prst="ellipse">
            <a:avLst/>
          </a:prstGeom>
          <a:solidFill>
            <a:srgbClr val="065A82"/>
          </a:solidFill>
        </p:spPr>
      </p:sp>
      <p:sp>
        <p:nvSpPr>
          <p:cNvPr id="8" name="Text 5"/>
          <p:cNvSpPr/>
          <p:nvPr/>
        </p:nvSpPr>
        <p:spPr>
          <a:xfrm>
            <a:off x="1143000" y="2350008"/>
            <a:ext cx="4526280" cy="6858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A2B3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Faster complaint resolution through automated routing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868680" y="3273552"/>
            <a:ext cx="128016" cy="128016"/>
          </a:xfrm>
          <a:prstGeom prst="ellipse">
            <a:avLst/>
          </a:prstGeom>
          <a:solidFill>
            <a:srgbClr val="065A82"/>
          </a:solidFill>
        </p:spPr>
      </p:sp>
      <p:sp>
        <p:nvSpPr>
          <p:cNvPr id="10" name="Text 7"/>
          <p:cNvSpPr/>
          <p:nvPr/>
        </p:nvSpPr>
        <p:spPr>
          <a:xfrm>
            <a:off x="1143000" y="3127248"/>
            <a:ext cx="4526280" cy="6858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A2B3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Greater transparency &amp; trust between citizens and government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868680" y="4050792"/>
            <a:ext cx="128016" cy="128016"/>
          </a:xfrm>
          <a:prstGeom prst="ellipse">
            <a:avLst/>
          </a:prstGeom>
          <a:solidFill>
            <a:srgbClr val="065A82"/>
          </a:solidFill>
        </p:spPr>
      </p:sp>
      <p:sp>
        <p:nvSpPr>
          <p:cNvPr id="12" name="Text 9"/>
          <p:cNvSpPr/>
          <p:nvPr/>
        </p:nvSpPr>
        <p:spPr>
          <a:xfrm>
            <a:off x="1143000" y="3904488"/>
            <a:ext cx="4526280" cy="6858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A2B3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Reduced administrative overhead for departments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868680" y="4828032"/>
            <a:ext cx="128016" cy="128016"/>
          </a:xfrm>
          <a:prstGeom prst="ellipse">
            <a:avLst/>
          </a:prstGeom>
          <a:solidFill>
            <a:srgbClr val="065A82"/>
          </a:solidFill>
        </p:spPr>
      </p:sp>
      <p:sp>
        <p:nvSpPr>
          <p:cNvPr id="14" name="Text 11"/>
          <p:cNvSpPr/>
          <p:nvPr/>
        </p:nvSpPr>
        <p:spPr>
          <a:xfrm>
            <a:off x="1143000" y="4681728"/>
            <a:ext cx="4526280" cy="6858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A2B3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Data-backed decisions using analytics dashboards</a:t>
            </a:r>
            <a:endParaRPr lang="en-US" sz="1300" dirty="0"/>
          </a:p>
        </p:txBody>
      </p:sp>
      <p:sp>
        <p:nvSpPr>
          <p:cNvPr id="15" name="Shape 12"/>
          <p:cNvSpPr/>
          <p:nvPr/>
        </p:nvSpPr>
        <p:spPr>
          <a:xfrm>
            <a:off x="868680" y="5605272"/>
            <a:ext cx="128016" cy="128016"/>
          </a:xfrm>
          <a:prstGeom prst="ellipse">
            <a:avLst/>
          </a:prstGeom>
          <a:solidFill>
            <a:srgbClr val="065A82"/>
          </a:solidFill>
        </p:spPr>
      </p:sp>
      <p:sp>
        <p:nvSpPr>
          <p:cNvPr id="16" name="Text 13"/>
          <p:cNvSpPr/>
          <p:nvPr/>
        </p:nvSpPr>
        <p:spPr>
          <a:xfrm>
            <a:off x="1143000" y="5458968"/>
            <a:ext cx="4526280" cy="6858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A2B3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Improved citizen satisfaction and civic engagement</a:t>
            </a:r>
            <a:endParaRPr lang="en-US" sz="1300" dirty="0"/>
          </a:p>
        </p:txBody>
      </p:sp>
      <p:sp>
        <p:nvSpPr>
          <p:cNvPr id="17" name="Shape 14"/>
          <p:cNvSpPr/>
          <p:nvPr/>
        </p:nvSpPr>
        <p:spPr>
          <a:xfrm>
            <a:off x="6172200" y="1371600"/>
            <a:ext cx="5349240" cy="4846320"/>
          </a:xfrm>
          <a:prstGeom prst="roundRect">
            <a:avLst>
              <a:gd name="adj" fmla="val 1509"/>
            </a:avLst>
          </a:prstGeom>
          <a:solidFill>
            <a:srgbClr val="FFFFFF"/>
          </a:solidFill>
          <a:ln w="12700">
            <a:solidFill>
              <a:srgbClr val="DCE3E8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6492240" y="1645920"/>
            <a:ext cx="594360" cy="594360"/>
          </a:xfrm>
          <a:prstGeom prst="ellipse">
            <a:avLst/>
          </a:prstGeom>
          <a:solidFill>
            <a:srgbClr val="F2A65A"/>
          </a:solidFill>
        </p:spPr>
      </p:sp>
      <p:pic>
        <p:nvPicPr>
          <p:cNvPr id="19" name="Image 1" descr="/home/claude/civicpulse/icons/cloud_21295C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40830" y="1794510"/>
            <a:ext cx="297180" cy="297180"/>
          </a:xfrm>
          <a:prstGeom prst="rect">
            <a:avLst/>
          </a:prstGeom>
        </p:spPr>
      </p:pic>
      <p:sp>
        <p:nvSpPr>
          <p:cNvPr id="20" name="Text 16"/>
          <p:cNvSpPr/>
          <p:nvPr/>
        </p:nvSpPr>
        <p:spPr>
          <a:xfrm>
            <a:off x="7223760" y="1691640"/>
            <a:ext cx="320040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21295C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Future Scope</a:t>
            </a:r>
            <a:endParaRPr lang="en-US" sz="2000" dirty="0"/>
          </a:p>
        </p:txBody>
      </p:sp>
      <p:sp>
        <p:nvSpPr>
          <p:cNvPr id="21" name="Shape 17"/>
          <p:cNvSpPr/>
          <p:nvPr/>
        </p:nvSpPr>
        <p:spPr>
          <a:xfrm>
            <a:off x="6492240" y="2496312"/>
            <a:ext cx="128016" cy="128016"/>
          </a:xfrm>
          <a:prstGeom prst="ellipse">
            <a:avLst/>
          </a:prstGeom>
          <a:solidFill>
            <a:srgbClr val="F2A65A"/>
          </a:solidFill>
        </p:spPr>
      </p:sp>
      <p:sp>
        <p:nvSpPr>
          <p:cNvPr id="22" name="Text 18"/>
          <p:cNvSpPr/>
          <p:nvPr/>
        </p:nvSpPr>
        <p:spPr>
          <a:xfrm>
            <a:off x="6766560" y="2350008"/>
            <a:ext cx="4526280" cy="6858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A2B3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AI-based auto-categorization &amp; priority prediction</a:t>
            </a:r>
            <a:endParaRPr lang="en-US" sz="1300" dirty="0"/>
          </a:p>
        </p:txBody>
      </p:sp>
      <p:sp>
        <p:nvSpPr>
          <p:cNvPr id="23" name="Shape 19"/>
          <p:cNvSpPr/>
          <p:nvPr/>
        </p:nvSpPr>
        <p:spPr>
          <a:xfrm>
            <a:off x="6492240" y="3273552"/>
            <a:ext cx="128016" cy="128016"/>
          </a:xfrm>
          <a:prstGeom prst="ellipse">
            <a:avLst/>
          </a:prstGeom>
          <a:solidFill>
            <a:srgbClr val="F2A65A"/>
          </a:solidFill>
        </p:spPr>
      </p:sp>
      <p:sp>
        <p:nvSpPr>
          <p:cNvPr id="24" name="Text 20"/>
          <p:cNvSpPr/>
          <p:nvPr/>
        </p:nvSpPr>
        <p:spPr>
          <a:xfrm>
            <a:off x="6766560" y="3127248"/>
            <a:ext cx="4526280" cy="6858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A2B3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GIS heat-maps of complaint density by area</a:t>
            </a:r>
            <a:endParaRPr lang="en-US" sz="1300" dirty="0"/>
          </a:p>
        </p:txBody>
      </p:sp>
      <p:sp>
        <p:nvSpPr>
          <p:cNvPr id="25" name="Shape 21"/>
          <p:cNvSpPr/>
          <p:nvPr/>
        </p:nvSpPr>
        <p:spPr>
          <a:xfrm>
            <a:off x="6492240" y="4050792"/>
            <a:ext cx="128016" cy="128016"/>
          </a:xfrm>
          <a:prstGeom prst="ellipse">
            <a:avLst/>
          </a:prstGeom>
          <a:solidFill>
            <a:srgbClr val="F2A65A"/>
          </a:solidFill>
        </p:spPr>
      </p:sp>
      <p:sp>
        <p:nvSpPr>
          <p:cNvPr id="26" name="Text 22"/>
          <p:cNvSpPr/>
          <p:nvPr/>
        </p:nvSpPr>
        <p:spPr>
          <a:xfrm>
            <a:off x="6766560" y="3904488"/>
            <a:ext cx="4526280" cy="6858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A2B3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Chatbot for instant citizen query resolution</a:t>
            </a:r>
            <a:endParaRPr lang="en-US" sz="1300" dirty="0"/>
          </a:p>
        </p:txBody>
      </p:sp>
      <p:sp>
        <p:nvSpPr>
          <p:cNvPr id="27" name="Shape 23"/>
          <p:cNvSpPr/>
          <p:nvPr/>
        </p:nvSpPr>
        <p:spPr>
          <a:xfrm>
            <a:off x="6492240" y="4828032"/>
            <a:ext cx="128016" cy="128016"/>
          </a:xfrm>
          <a:prstGeom prst="ellipse">
            <a:avLst/>
          </a:prstGeom>
          <a:solidFill>
            <a:srgbClr val="F2A65A"/>
          </a:solidFill>
        </p:spPr>
      </p:sp>
      <p:sp>
        <p:nvSpPr>
          <p:cNvPr id="28" name="Text 24"/>
          <p:cNvSpPr/>
          <p:nvPr/>
        </p:nvSpPr>
        <p:spPr>
          <a:xfrm>
            <a:off x="6766560" y="4681728"/>
            <a:ext cx="4526280" cy="6858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A2B3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Integration with municipal payment &amp; billing systems</a:t>
            </a:r>
            <a:endParaRPr lang="en-US" sz="1300" dirty="0"/>
          </a:p>
        </p:txBody>
      </p:sp>
      <p:sp>
        <p:nvSpPr>
          <p:cNvPr id="29" name="Shape 25"/>
          <p:cNvSpPr/>
          <p:nvPr/>
        </p:nvSpPr>
        <p:spPr>
          <a:xfrm>
            <a:off x="6492240" y="5605272"/>
            <a:ext cx="128016" cy="128016"/>
          </a:xfrm>
          <a:prstGeom prst="ellipse">
            <a:avLst/>
          </a:prstGeom>
          <a:solidFill>
            <a:srgbClr val="F2A65A"/>
          </a:solidFill>
        </p:spPr>
      </p:sp>
      <p:sp>
        <p:nvSpPr>
          <p:cNvPr id="30" name="Text 26"/>
          <p:cNvSpPr/>
          <p:nvPr/>
        </p:nvSpPr>
        <p:spPr>
          <a:xfrm>
            <a:off x="6766560" y="5458968"/>
            <a:ext cx="4526280" cy="6858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A2B3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Multi-language support for wider accessibility</a:t>
            </a:r>
            <a:endParaRPr lang="en-US" sz="13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129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-2286000"/>
            <a:ext cx="5486400" cy="5486400"/>
          </a:xfrm>
          <a:prstGeom prst="ellipse">
            <a:avLst/>
          </a:prstGeom>
          <a:solidFill>
            <a:srgbClr val="065A82">
              <a:alpha val="30000"/>
            </a:srgbClr>
          </a:solidFill>
        </p:spPr>
      </p:sp>
      <p:sp>
        <p:nvSpPr>
          <p:cNvPr id="3" name="Shape 1"/>
          <p:cNvSpPr/>
          <p:nvPr/>
        </p:nvSpPr>
        <p:spPr>
          <a:xfrm>
            <a:off x="9601200" y="3657600"/>
            <a:ext cx="4572000" cy="4572000"/>
          </a:xfrm>
          <a:prstGeom prst="ellipse">
            <a:avLst/>
          </a:prstGeom>
          <a:solidFill>
            <a:srgbClr val="1C7293">
              <a:alpha val="30000"/>
            </a:srgbClr>
          </a:solidFill>
        </p:spPr>
      </p:sp>
      <p:sp>
        <p:nvSpPr>
          <p:cNvPr id="4" name="Shape 2"/>
          <p:cNvSpPr/>
          <p:nvPr/>
        </p:nvSpPr>
        <p:spPr>
          <a:xfrm>
            <a:off x="5532120" y="1005840"/>
            <a:ext cx="1097280" cy="1097280"/>
          </a:xfrm>
          <a:prstGeom prst="ellipse">
            <a:avLst/>
          </a:prstGeom>
          <a:solidFill>
            <a:srgbClr val="065A82"/>
          </a:solidFill>
        </p:spPr>
      </p:sp>
      <p:pic>
        <p:nvPicPr>
          <p:cNvPr id="5" name="Image 0" descr="/home/claude/civicpulse/icons/checkCircle_FFFF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79008" y="1252728"/>
            <a:ext cx="603504" cy="60350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371600" y="2377440"/>
            <a:ext cx="941832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CivicPulse bridges the gap between citizens and government —</a:t>
            </a:r>
            <a:endParaRPr lang="en-US" sz="2000" dirty="0"/>
          </a:p>
        </p:txBody>
      </p:sp>
      <p:sp>
        <p:nvSpPr>
          <p:cNvPr id="7" name="Text 4"/>
          <p:cNvSpPr/>
          <p:nvPr/>
        </p:nvSpPr>
        <p:spPr>
          <a:xfrm>
            <a:off x="1371600" y="2880360"/>
            <a:ext cx="941832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making complaint resolution faster, transparent, and accountable.</a:t>
            </a:r>
            <a:endParaRPr lang="en-US" sz="2000" dirty="0"/>
          </a:p>
        </p:txBody>
      </p:sp>
      <p:sp>
        <p:nvSpPr>
          <p:cNvPr id="8" name="Shape 5"/>
          <p:cNvSpPr/>
          <p:nvPr/>
        </p:nvSpPr>
        <p:spPr>
          <a:xfrm>
            <a:off x="5760720" y="3703320"/>
            <a:ext cx="640080" cy="45720"/>
          </a:xfrm>
          <a:prstGeom prst="rect">
            <a:avLst/>
          </a:prstGeom>
          <a:solidFill>
            <a:srgbClr val="F2A65A"/>
          </a:solidFill>
        </p:spPr>
      </p:sp>
      <p:sp>
        <p:nvSpPr>
          <p:cNvPr id="9" name="Text 6"/>
          <p:cNvSpPr/>
          <p:nvPr/>
        </p:nvSpPr>
        <p:spPr>
          <a:xfrm>
            <a:off x="1371600" y="4114800"/>
            <a:ext cx="9418320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Thank You</a:t>
            </a:r>
            <a:endParaRPr lang="en-US" sz="3600" dirty="0"/>
          </a:p>
        </p:txBody>
      </p:sp>
      <p:sp>
        <p:nvSpPr>
          <p:cNvPr id="10" name="Text 7"/>
          <p:cNvSpPr/>
          <p:nvPr/>
        </p:nvSpPr>
        <p:spPr>
          <a:xfrm>
            <a:off x="1371600" y="4892040"/>
            <a:ext cx="941832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i="1" dirty="0">
                <a:solidFill>
                  <a:srgbClr val="9FB3C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Questions &amp; Discussion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56</TotalTime>
  <Words>1563</Words>
  <Application>Microsoft Office PowerPoint</Application>
  <PresentationFormat>Widescreen</PresentationFormat>
  <Paragraphs>244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0" baseType="lpstr">
      <vt:lpstr>Arial</vt:lpstr>
      <vt:lpstr>Calibri</vt:lpstr>
      <vt:lpstr>Cambria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MOHANA DOKARA</cp:lastModifiedBy>
  <cp:revision>4</cp:revision>
  <dcterms:created xsi:type="dcterms:W3CDTF">2026-07-23T09:10:00Z</dcterms:created>
  <dcterms:modified xsi:type="dcterms:W3CDTF">2026-09-07T00:59:27Z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1639C6D3A67A4F7981D9B2E4D2439C7F_12</vt:lpwstr>
  </property>
  <property fmtid="{D5CDD505-2E9C-101B-9397-08002B2CF9AE}" pid="3" name="KSOProductBuildVer">
    <vt:lpwstr>1033-12.1.0.27458</vt:lpwstr>
  </property>
</Properties>
</file>